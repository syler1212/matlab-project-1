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presProps.xml" ContentType="application/vnd.openxmlformats-officedocument.presentationml.presProps+xml"/>
  <Override PartName="/ppt/media/image1.jpeg" ContentType="image/jpeg"/>
  <Override PartName="/ppt/media/image3.png" ContentType="image/png"/>
  <Override PartName="/ppt/media/image2.jpeg" ContentType="image/jpe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80AEFAB-4B32-41FA-AB2B-3E964E039B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AE98C01-BBBE-4493-B40C-90D53A675D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E027E64-33DA-4E69-83C3-A4B2CA248E61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California Condor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Largest North American Vulture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~9.9ft wingspan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Soars at ~15,000 ft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Native to western California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Wild population in 1987: 22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" descr=""/>
          <p:cNvPicPr/>
          <p:nvPr/>
        </p:nvPicPr>
        <p:blipFill>
          <a:blip r:embed="rId1"/>
          <a:stretch/>
        </p:blipFill>
        <p:spPr>
          <a:xfrm>
            <a:off x="6269760" y="1326600"/>
            <a:ext cx="2192040" cy="3288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Condor Conservation Effort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47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Starting in 1987, all 22 wild Condors were captured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Condor pairs will only naturally produce 1 chick every ~3 years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 captivity, ~ 1 chick per year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“Double Clutching” effectively doubles this rate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Juveniles are periodically released to the wild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2022 wild population:  347</a:t>
            </a:r>
            <a:r>
              <a:rPr b="0" lang="en-US" sz="2000" strike="noStrike" u="none" baseline="33000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6281640" y="1326600"/>
            <a:ext cx="2168640" cy="3288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Project: Mortality Rates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With a captive breeding program that periodically releases juveniles to the wild, how do mortality rates affect the overall population?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Which age group’s mortality rates have the greatest overall impact?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Assumptions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Reproductive maturity: </a:t>
            </a: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(captive) or </a:t>
            </a: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(wild) years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Captive productivity rate: </a:t>
            </a: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0.9/yr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Wild productivity rate: </a:t>
            </a: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0.3729/yr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Equal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male/female population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Captive population capacity: </a:t>
            </a: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150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Wild population carrying capacity: </a:t>
            </a: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400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Assumptions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80% of year 1 juveniles are released each year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If captive capacity exceeds 150, release all juveniles to the wild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Assumptions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Initial conditions used: 2022 captive Condor population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44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hatchlings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39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1y/o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45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2-7y/o, distributed evenly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86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adults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214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total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wild Condors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Methods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Two groups of stock variables: wild and captive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Within each group, separate stock variables for each year of pre-adult life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Within each group, a stock variable representing all adults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Time step of 1 year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Methods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457200" y="1744200"/>
            <a:ext cx="685800" cy="685800"/>
          </a:xfrm>
          <a:prstGeom prst="rect">
            <a:avLst/>
          </a:prstGeom>
          <a:solidFill>
            <a:srgbClr val="ffffff"/>
          </a:solidFill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b">
            <a:noAutofit/>
          </a:bodyPr>
          <a:p>
            <a:pPr algn="ctr">
              <a:spcAft>
                <a:spcPts val="14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0 y/o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2584800" y="1744200"/>
            <a:ext cx="685800" cy="685800"/>
          </a:xfrm>
          <a:prstGeom prst="rect">
            <a:avLst/>
          </a:prstGeom>
          <a:solidFill>
            <a:srgbClr val="ffffff"/>
          </a:solidFill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b">
            <a:noAutofit/>
          </a:bodyPr>
          <a:p>
            <a:pPr algn="ctr">
              <a:spcAft>
                <a:spcPts val="14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 y/o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4623120" y="1744200"/>
            <a:ext cx="685800" cy="685800"/>
          </a:xfrm>
          <a:prstGeom prst="rect">
            <a:avLst/>
          </a:prstGeom>
          <a:solidFill>
            <a:srgbClr val="ffffff"/>
          </a:solidFill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b">
            <a:noAutofit/>
          </a:bodyPr>
          <a:p>
            <a:pPr algn="ctr">
              <a:spcAft>
                <a:spcPts val="14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 y/o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6364800" y="1744200"/>
            <a:ext cx="685800" cy="685800"/>
          </a:xfrm>
          <a:prstGeom prst="rect">
            <a:avLst/>
          </a:prstGeom>
          <a:solidFill>
            <a:srgbClr val="ffffff"/>
          </a:solidFill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b">
            <a:noAutofit/>
          </a:bodyPr>
          <a:p>
            <a:pPr algn="ctr">
              <a:spcAft>
                <a:spcPts val="14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 y/o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8403120" y="1744200"/>
            <a:ext cx="685800" cy="685800"/>
          </a:xfrm>
          <a:prstGeom prst="rect">
            <a:avLst/>
          </a:prstGeom>
          <a:solidFill>
            <a:srgbClr val="ffffff"/>
          </a:solidFill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 algn="ctr">
              <a:spcAft>
                <a:spcPts val="145"/>
              </a:spcAft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Adult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1600200" y="1950120"/>
            <a:ext cx="457200" cy="228600"/>
          </a:xfrm>
          <a:prstGeom prst="ellipse">
            <a:avLst/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3688560" y="1950120"/>
            <a:ext cx="457200" cy="228600"/>
          </a:xfrm>
          <a:prstGeom prst="ellipse">
            <a:avLst/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7468560" y="1950120"/>
            <a:ext cx="457200" cy="228600"/>
          </a:xfrm>
          <a:prstGeom prst="ellipse">
            <a:avLst/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2694600" y="914400"/>
            <a:ext cx="457200" cy="457200"/>
          </a:xfrm>
          <a:prstGeom prst="ellipse">
            <a:avLst/>
          </a:prstGeom>
          <a:solidFill>
            <a:srgbClr val="ffffff"/>
          </a:solidFill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rIns="104760" tIns="59760" bIns="597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971800" y="3539880"/>
            <a:ext cx="29840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TODO make a real diagram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Methods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 each 1-year time step, use the appropriate mortality rate to determine how many X-year-old condors from the last year survived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That number becomes the population for the current year’s X+1 age group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Methods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Then, subtract 80% of our 1 y/o captive condors from the captive population and add them to our wild population’s corresponding age stock.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Use half the adult population (the female population) and the wild and captive productivity rates, respectively, to determine this year’s hatchling populating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4678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= 8.6%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8.6%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8.6%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Total population more than </a:t>
            </a:r>
            <a:r>
              <a:rPr b="0" lang="en-US" sz="20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triples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by year 50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Note initial release of juveniles due to captive capacity cap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3200400" y="1207800"/>
            <a:ext cx="6606000" cy="430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4678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= 13.8%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13.8%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6.9%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Total population more than </a:t>
            </a:r>
            <a:r>
              <a:rPr b="0" lang="en-US" sz="20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triples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by year 50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Note initial release of juveniles due to captive capacity cap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3200400" y="1191600"/>
            <a:ext cx="6623280" cy="431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4678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= 65.9%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8.6%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8.6%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Total population has declined by year 50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Birth rates are unable to keep up with early mortality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" descr=""/>
          <p:cNvPicPr/>
          <p:nvPr/>
        </p:nvPicPr>
        <p:blipFill>
          <a:blip r:embed="rId1"/>
          <a:stretch/>
        </p:blipFill>
        <p:spPr>
          <a:xfrm>
            <a:off x="3049200" y="1162080"/>
            <a:ext cx="6834600" cy="445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4678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= 65.9%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13.8%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6.9%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Similar results to previous simulation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Decreased adult death rate makes up for increased juvenile death rate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" descr=""/>
          <p:cNvPicPr/>
          <p:nvPr/>
        </p:nvPicPr>
        <p:blipFill>
          <a:blip r:embed="rId1"/>
          <a:stretch/>
        </p:blipFill>
        <p:spPr>
          <a:xfrm>
            <a:off x="3260520" y="1162080"/>
            <a:ext cx="6623280" cy="431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4678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= 65.9%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9.9%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9.9%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Total population has declined by year 32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Increased mortality rate nearly halves total population by year 50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3162600" y="1162080"/>
            <a:ext cx="6640560" cy="432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Simulation Results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4678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y1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= 65.9%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13.8%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= 6.9%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Captive program ends after 5 years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Decreased adult death rate makes up for increased juvenile death rate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" descr=""/>
          <p:cNvPicPr/>
          <p:nvPr/>
        </p:nvPicPr>
        <p:blipFill>
          <a:blip r:embed="rId1"/>
          <a:stretch/>
        </p:blipFill>
        <p:spPr>
          <a:xfrm>
            <a:off x="3260520" y="1162080"/>
            <a:ext cx="6623280" cy="431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2026-09-12T13:06:47Z</dcterms:created>
  <dc:creator/>
  <dc:description/>
  <dc:language>en-US</dc:language>
  <cp:lastModifiedBy/>
  <dcterms:modified xsi:type="dcterms:W3CDTF">2026-09-12T20:02:45Z</dcterms:modified>
  <cp:revision>1</cp:revision>
  <dc:subject/>
  <dc:title/>
</cp:coreProperties>
</file>