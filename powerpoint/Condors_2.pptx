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72" r:id="rId9"/>
    <p:sldId id="264" r:id="rId10"/>
    <p:sldId id="266" r:id="rId11"/>
    <p:sldId id="267" r:id="rId12"/>
    <p:sldId id="268" r:id="rId13"/>
    <p:sldId id="274" r:id="rId14"/>
    <p:sldId id="269" r:id="rId15"/>
    <p:sldId id="270" r:id="rId16"/>
    <p:sldId id="271" r:id="rId17"/>
    <p:sldId id="275" r:id="rId18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635"/>
  </p:normalViewPr>
  <p:slideViewPr>
    <p:cSldViewPr snapToGrid="0">
      <p:cViewPr varScale="1">
        <p:scale>
          <a:sx n="133" d="100"/>
          <a:sy n="133" d="100"/>
        </p:scale>
        <p:origin x="48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4753A6-9F0E-46B9-AC38-FA6420150EDA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3CB1EC-2789-4A4C-8C66-73DCA98F20C6}">
      <dgm:prSet/>
      <dgm:spPr/>
      <dgm:t>
        <a:bodyPr/>
        <a:lstStyle/>
        <a:p>
          <a:r>
            <a:rPr lang="en-US" b="0"/>
            <a:t>At each 1-year time step, use the appropriate mortality rate to determine how many X-year-old condors from the last year survived</a:t>
          </a:r>
          <a:endParaRPr lang="en-US"/>
        </a:p>
      </dgm:t>
    </dgm:pt>
    <dgm:pt modelId="{787A74CA-8BC7-4800-9E3C-346B59B616C4}" type="parTrans" cxnId="{3F003EA4-2F19-48F3-870C-3081DC836B28}">
      <dgm:prSet/>
      <dgm:spPr/>
      <dgm:t>
        <a:bodyPr/>
        <a:lstStyle/>
        <a:p>
          <a:endParaRPr lang="en-US"/>
        </a:p>
      </dgm:t>
    </dgm:pt>
    <dgm:pt modelId="{67C02529-8115-4B15-AE02-6A6AC3BBA6BD}" type="sibTrans" cxnId="{3F003EA4-2F19-48F3-870C-3081DC836B28}">
      <dgm:prSet/>
      <dgm:spPr/>
      <dgm:t>
        <a:bodyPr/>
        <a:lstStyle/>
        <a:p>
          <a:endParaRPr lang="en-US"/>
        </a:p>
      </dgm:t>
    </dgm:pt>
    <dgm:pt modelId="{C0089539-F78D-4937-8162-904A3C19B69A}">
      <dgm:prSet/>
      <dgm:spPr/>
      <dgm:t>
        <a:bodyPr/>
        <a:lstStyle/>
        <a:p>
          <a:r>
            <a:rPr lang="en-US" b="0"/>
            <a:t>That number becomes the population for the current year’s X+1 age group</a:t>
          </a:r>
          <a:endParaRPr lang="en-US"/>
        </a:p>
      </dgm:t>
    </dgm:pt>
    <dgm:pt modelId="{561AB489-F8F4-4AD3-8930-EFD11324207C}" type="parTrans" cxnId="{1E37A8E4-97EB-4063-A401-71F5215E44C5}">
      <dgm:prSet/>
      <dgm:spPr/>
      <dgm:t>
        <a:bodyPr/>
        <a:lstStyle/>
        <a:p>
          <a:endParaRPr lang="en-US"/>
        </a:p>
      </dgm:t>
    </dgm:pt>
    <dgm:pt modelId="{0DD17E10-9BB3-4DF1-8EAE-1E027F60124E}" type="sibTrans" cxnId="{1E37A8E4-97EB-4063-A401-71F5215E44C5}">
      <dgm:prSet/>
      <dgm:spPr/>
      <dgm:t>
        <a:bodyPr/>
        <a:lstStyle/>
        <a:p>
          <a:endParaRPr lang="en-US"/>
        </a:p>
      </dgm:t>
    </dgm:pt>
    <dgm:pt modelId="{40BA1092-02A5-4A6B-98E7-43AA116F3609}">
      <dgm:prSet/>
      <dgm:spPr/>
      <dgm:t>
        <a:bodyPr/>
        <a:lstStyle/>
        <a:p>
          <a:r>
            <a:rPr lang="en-US"/>
            <a:t>Then, subtract 80% of our 1 y/o captive condors from the captive population and add them to our wild population’s corresponding age stock.</a:t>
          </a:r>
        </a:p>
      </dgm:t>
    </dgm:pt>
    <dgm:pt modelId="{FD55DDD1-83DA-4E46-8F9A-14C378528A32}" type="parTrans" cxnId="{0B342E70-C980-423C-8161-7C68DAF815F2}">
      <dgm:prSet/>
      <dgm:spPr/>
      <dgm:t>
        <a:bodyPr/>
        <a:lstStyle/>
        <a:p>
          <a:endParaRPr lang="en-US"/>
        </a:p>
      </dgm:t>
    </dgm:pt>
    <dgm:pt modelId="{20231875-3D44-4A21-B564-205E0E139E01}" type="sibTrans" cxnId="{0B342E70-C980-423C-8161-7C68DAF815F2}">
      <dgm:prSet/>
      <dgm:spPr/>
      <dgm:t>
        <a:bodyPr/>
        <a:lstStyle/>
        <a:p>
          <a:endParaRPr lang="en-US"/>
        </a:p>
      </dgm:t>
    </dgm:pt>
    <dgm:pt modelId="{35DA436C-6C7C-4D17-BF84-8BD2AD752E98}">
      <dgm:prSet/>
      <dgm:spPr/>
      <dgm:t>
        <a:bodyPr/>
        <a:lstStyle/>
        <a:p>
          <a:r>
            <a:rPr lang="en-US"/>
            <a:t>Use half the adult population (the female population) and the wild and captive productivity rates, respectively, to determine this year’s hatchling populating</a:t>
          </a:r>
        </a:p>
      </dgm:t>
    </dgm:pt>
    <dgm:pt modelId="{5CC522DB-E9CA-4E9B-B650-F66172F79AF3}" type="parTrans" cxnId="{F22EFE00-A327-4F8A-929C-E854E89746DD}">
      <dgm:prSet/>
      <dgm:spPr/>
      <dgm:t>
        <a:bodyPr/>
        <a:lstStyle/>
        <a:p>
          <a:endParaRPr lang="en-US"/>
        </a:p>
      </dgm:t>
    </dgm:pt>
    <dgm:pt modelId="{1A8FBB12-3F32-474A-ADDA-C5A47A87E2EC}" type="sibTrans" cxnId="{F22EFE00-A327-4F8A-929C-E854E89746DD}">
      <dgm:prSet/>
      <dgm:spPr/>
      <dgm:t>
        <a:bodyPr/>
        <a:lstStyle/>
        <a:p>
          <a:endParaRPr lang="en-US"/>
        </a:p>
      </dgm:t>
    </dgm:pt>
    <dgm:pt modelId="{3EC2E495-1BB6-3C49-BEB5-15381AB67471}" type="pres">
      <dgm:prSet presAssocID="{D54753A6-9F0E-46B9-AC38-FA6420150EDA}" presName="Name0" presStyleCnt="0">
        <dgm:presLayoutVars>
          <dgm:dir/>
          <dgm:animLvl val="lvl"/>
          <dgm:resizeHandles val="exact"/>
        </dgm:presLayoutVars>
      </dgm:prSet>
      <dgm:spPr/>
    </dgm:pt>
    <dgm:pt modelId="{9533D6BA-D6AE-1A4E-8E66-2F4DE6765BBA}" type="pres">
      <dgm:prSet presAssocID="{35DA436C-6C7C-4D17-BF84-8BD2AD752E98}" presName="boxAndChildren" presStyleCnt="0"/>
      <dgm:spPr/>
    </dgm:pt>
    <dgm:pt modelId="{43B15256-B591-4F4C-A3ED-147186A1FEDE}" type="pres">
      <dgm:prSet presAssocID="{35DA436C-6C7C-4D17-BF84-8BD2AD752E98}" presName="parentTextBox" presStyleLbl="node1" presStyleIdx="0" presStyleCnt="4"/>
      <dgm:spPr/>
    </dgm:pt>
    <dgm:pt modelId="{249372B9-E9AD-6B45-A709-3DED2F9C9703}" type="pres">
      <dgm:prSet presAssocID="{20231875-3D44-4A21-B564-205E0E139E01}" presName="sp" presStyleCnt="0"/>
      <dgm:spPr/>
    </dgm:pt>
    <dgm:pt modelId="{ED717D7A-04D5-404E-997D-447DAD807094}" type="pres">
      <dgm:prSet presAssocID="{40BA1092-02A5-4A6B-98E7-43AA116F3609}" presName="arrowAndChildren" presStyleCnt="0"/>
      <dgm:spPr/>
    </dgm:pt>
    <dgm:pt modelId="{C855899C-3359-BC42-B702-7B19BFD7775F}" type="pres">
      <dgm:prSet presAssocID="{40BA1092-02A5-4A6B-98E7-43AA116F3609}" presName="parentTextArrow" presStyleLbl="node1" presStyleIdx="1" presStyleCnt="4"/>
      <dgm:spPr/>
    </dgm:pt>
    <dgm:pt modelId="{27D8B6CE-2BE0-7C4E-BF72-3C02BC957C82}" type="pres">
      <dgm:prSet presAssocID="{0DD17E10-9BB3-4DF1-8EAE-1E027F60124E}" presName="sp" presStyleCnt="0"/>
      <dgm:spPr/>
    </dgm:pt>
    <dgm:pt modelId="{40E9725D-CB50-A04B-BF11-FA2848D78B88}" type="pres">
      <dgm:prSet presAssocID="{C0089539-F78D-4937-8162-904A3C19B69A}" presName="arrowAndChildren" presStyleCnt="0"/>
      <dgm:spPr/>
    </dgm:pt>
    <dgm:pt modelId="{C2FDEF33-5707-A54B-8838-F2A93974E259}" type="pres">
      <dgm:prSet presAssocID="{C0089539-F78D-4937-8162-904A3C19B69A}" presName="parentTextArrow" presStyleLbl="node1" presStyleIdx="2" presStyleCnt="4"/>
      <dgm:spPr/>
    </dgm:pt>
    <dgm:pt modelId="{630406B5-6183-FB4B-862E-4F1B1C45FA7F}" type="pres">
      <dgm:prSet presAssocID="{67C02529-8115-4B15-AE02-6A6AC3BBA6BD}" presName="sp" presStyleCnt="0"/>
      <dgm:spPr/>
    </dgm:pt>
    <dgm:pt modelId="{58DA30C0-16B9-4B48-8967-93FFD3787F53}" type="pres">
      <dgm:prSet presAssocID="{D43CB1EC-2789-4A4C-8C66-73DCA98F20C6}" presName="arrowAndChildren" presStyleCnt="0"/>
      <dgm:spPr/>
    </dgm:pt>
    <dgm:pt modelId="{14F70437-8E80-CB41-85FC-BB60B7BDF93F}" type="pres">
      <dgm:prSet presAssocID="{D43CB1EC-2789-4A4C-8C66-73DCA98F20C6}" presName="parentTextArrow" presStyleLbl="node1" presStyleIdx="3" presStyleCnt="4"/>
      <dgm:spPr/>
    </dgm:pt>
  </dgm:ptLst>
  <dgm:cxnLst>
    <dgm:cxn modelId="{F22EFE00-A327-4F8A-929C-E854E89746DD}" srcId="{D54753A6-9F0E-46B9-AC38-FA6420150EDA}" destId="{35DA436C-6C7C-4D17-BF84-8BD2AD752E98}" srcOrd="3" destOrd="0" parTransId="{5CC522DB-E9CA-4E9B-B650-F66172F79AF3}" sibTransId="{1A8FBB12-3F32-474A-ADDA-C5A47A87E2EC}"/>
    <dgm:cxn modelId="{CE75344C-2D33-6B42-B4C0-2E37CBFCB2E2}" type="presOf" srcId="{40BA1092-02A5-4A6B-98E7-43AA116F3609}" destId="{C855899C-3359-BC42-B702-7B19BFD7775F}" srcOrd="0" destOrd="0" presId="urn:microsoft.com/office/officeart/2005/8/layout/process4"/>
    <dgm:cxn modelId="{7A599460-FF69-D740-81D8-955C392B2A36}" type="presOf" srcId="{C0089539-F78D-4937-8162-904A3C19B69A}" destId="{C2FDEF33-5707-A54B-8838-F2A93974E259}" srcOrd="0" destOrd="0" presId="urn:microsoft.com/office/officeart/2005/8/layout/process4"/>
    <dgm:cxn modelId="{0B342E70-C980-423C-8161-7C68DAF815F2}" srcId="{D54753A6-9F0E-46B9-AC38-FA6420150EDA}" destId="{40BA1092-02A5-4A6B-98E7-43AA116F3609}" srcOrd="2" destOrd="0" parTransId="{FD55DDD1-83DA-4E46-8F9A-14C378528A32}" sibTransId="{20231875-3D44-4A21-B564-205E0E139E01}"/>
    <dgm:cxn modelId="{3F003EA4-2F19-48F3-870C-3081DC836B28}" srcId="{D54753A6-9F0E-46B9-AC38-FA6420150EDA}" destId="{D43CB1EC-2789-4A4C-8C66-73DCA98F20C6}" srcOrd="0" destOrd="0" parTransId="{787A74CA-8BC7-4800-9E3C-346B59B616C4}" sibTransId="{67C02529-8115-4B15-AE02-6A6AC3BBA6BD}"/>
    <dgm:cxn modelId="{DB3D63D5-739E-1C40-8E5B-FE4AA08BE413}" type="presOf" srcId="{D54753A6-9F0E-46B9-AC38-FA6420150EDA}" destId="{3EC2E495-1BB6-3C49-BEB5-15381AB67471}" srcOrd="0" destOrd="0" presId="urn:microsoft.com/office/officeart/2005/8/layout/process4"/>
    <dgm:cxn modelId="{6A5975D9-870F-EB47-B352-7313B427868E}" type="presOf" srcId="{D43CB1EC-2789-4A4C-8C66-73DCA98F20C6}" destId="{14F70437-8E80-CB41-85FC-BB60B7BDF93F}" srcOrd="0" destOrd="0" presId="urn:microsoft.com/office/officeart/2005/8/layout/process4"/>
    <dgm:cxn modelId="{684180DD-5C1E-5B40-A4B0-51F7088AD1C7}" type="presOf" srcId="{35DA436C-6C7C-4D17-BF84-8BD2AD752E98}" destId="{43B15256-B591-4F4C-A3ED-147186A1FEDE}" srcOrd="0" destOrd="0" presId="urn:microsoft.com/office/officeart/2005/8/layout/process4"/>
    <dgm:cxn modelId="{1E37A8E4-97EB-4063-A401-71F5215E44C5}" srcId="{D54753A6-9F0E-46B9-AC38-FA6420150EDA}" destId="{C0089539-F78D-4937-8162-904A3C19B69A}" srcOrd="1" destOrd="0" parTransId="{561AB489-F8F4-4AD3-8930-EFD11324207C}" sibTransId="{0DD17E10-9BB3-4DF1-8EAE-1E027F60124E}"/>
    <dgm:cxn modelId="{AD8F5521-16B2-7A45-AD55-8984184F071F}" type="presParOf" srcId="{3EC2E495-1BB6-3C49-BEB5-15381AB67471}" destId="{9533D6BA-D6AE-1A4E-8E66-2F4DE6765BBA}" srcOrd="0" destOrd="0" presId="urn:microsoft.com/office/officeart/2005/8/layout/process4"/>
    <dgm:cxn modelId="{B5E2E037-7AF7-2B40-B4CB-0070F6DBB012}" type="presParOf" srcId="{9533D6BA-D6AE-1A4E-8E66-2F4DE6765BBA}" destId="{43B15256-B591-4F4C-A3ED-147186A1FEDE}" srcOrd="0" destOrd="0" presId="urn:microsoft.com/office/officeart/2005/8/layout/process4"/>
    <dgm:cxn modelId="{71191EA5-9985-0246-B348-64879EFAFBD2}" type="presParOf" srcId="{3EC2E495-1BB6-3C49-BEB5-15381AB67471}" destId="{249372B9-E9AD-6B45-A709-3DED2F9C9703}" srcOrd="1" destOrd="0" presId="urn:microsoft.com/office/officeart/2005/8/layout/process4"/>
    <dgm:cxn modelId="{7ED73BD7-525B-7244-930E-1402422BC914}" type="presParOf" srcId="{3EC2E495-1BB6-3C49-BEB5-15381AB67471}" destId="{ED717D7A-04D5-404E-997D-447DAD807094}" srcOrd="2" destOrd="0" presId="urn:microsoft.com/office/officeart/2005/8/layout/process4"/>
    <dgm:cxn modelId="{61B1D40E-F8CF-F747-9D29-3FEF1F7DBD2B}" type="presParOf" srcId="{ED717D7A-04D5-404E-997D-447DAD807094}" destId="{C855899C-3359-BC42-B702-7B19BFD7775F}" srcOrd="0" destOrd="0" presId="urn:microsoft.com/office/officeart/2005/8/layout/process4"/>
    <dgm:cxn modelId="{96A80757-BE63-2A43-9228-08E9D82EF3E1}" type="presParOf" srcId="{3EC2E495-1BB6-3C49-BEB5-15381AB67471}" destId="{27D8B6CE-2BE0-7C4E-BF72-3C02BC957C82}" srcOrd="3" destOrd="0" presId="urn:microsoft.com/office/officeart/2005/8/layout/process4"/>
    <dgm:cxn modelId="{2798F7B7-8267-694C-99F0-B06C666772DA}" type="presParOf" srcId="{3EC2E495-1BB6-3C49-BEB5-15381AB67471}" destId="{40E9725D-CB50-A04B-BF11-FA2848D78B88}" srcOrd="4" destOrd="0" presId="urn:microsoft.com/office/officeart/2005/8/layout/process4"/>
    <dgm:cxn modelId="{4661052B-2E16-5F45-AAD0-AEAD547A5F03}" type="presParOf" srcId="{40E9725D-CB50-A04B-BF11-FA2848D78B88}" destId="{C2FDEF33-5707-A54B-8838-F2A93974E259}" srcOrd="0" destOrd="0" presId="urn:microsoft.com/office/officeart/2005/8/layout/process4"/>
    <dgm:cxn modelId="{49CF437D-B10A-464F-AB9F-AB73153B1D4E}" type="presParOf" srcId="{3EC2E495-1BB6-3C49-BEB5-15381AB67471}" destId="{630406B5-6183-FB4B-862E-4F1B1C45FA7F}" srcOrd="5" destOrd="0" presId="urn:microsoft.com/office/officeart/2005/8/layout/process4"/>
    <dgm:cxn modelId="{B3547DE7-EEC2-E640-B1B3-CCF4F3B833D9}" type="presParOf" srcId="{3EC2E495-1BB6-3C49-BEB5-15381AB67471}" destId="{58DA30C0-16B9-4B48-8967-93FFD3787F53}" srcOrd="6" destOrd="0" presId="urn:microsoft.com/office/officeart/2005/8/layout/process4"/>
    <dgm:cxn modelId="{6F058EFE-92AD-E948-88DA-2B327BD11D37}" type="presParOf" srcId="{58DA30C0-16B9-4B48-8967-93FFD3787F53}" destId="{14F70437-8E80-CB41-85FC-BB60B7BDF93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15256-B591-4F4C-A3ED-147186A1FEDE}">
      <dsp:nvSpPr>
        <dsp:cNvPr id="0" name=""/>
        <dsp:cNvSpPr/>
      </dsp:nvSpPr>
      <dsp:spPr>
        <a:xfrm>
          <a:off x="0" y="3782152"/>
          <a:ext cx="5288759" cy="8274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Use half the adult population (the female population) and the wild and captive productivity rates, respectively, to determine this year’s hatchling populating</a:t>
          </a:r>
        </a:p>
      </dsp:txBody>
      <dsp:txXfrm>
        <a:off x="0" y="3782152"/>
        <a:ext cx="5288759" cy="827442"/>
      </dsp:txXfrm>
    </dsp:sp>
    <dsp:sp modelId="{C855899C-3359-BC42-B702-7B19BFD7775F}">
      <dsp:nvSpPr>
        <dsp:cNvPr id="0" name=""/>
        <dsp:cNvSpPr/>
      </dsp:nvSpPr>
      <dsp:spPr>
        <a:xfrm rot="10800000">
          <a:off x="0" y="2521957"/>
          <a:ext cx="5288759" cy="1272606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Then, subtract 80% of our 1 y/o captive condors from the captive population and add them to our wild population’s corresponding age stock.</a:t>
          </a:r>
        </a:p>
      </dsp:txBody>
      <dsp:txXfrm rot="10800000">
        <a:off x="0" y="2521957"/>
        <a:ext cx="5288759" cy="826901"/>
      </dsp:txXfrm>
    </dsp:sp>
    <dsp:sp modelId="{C2FDEF33-5707-A54B-8838-F2A93974E259}">
      <dsp:nvSpPr>
        <dsp:cNvPr id="0" name=""/>
        <dsp:cNvSpPr/>
      </dsp:nvSpPr>
      <dsp:spPr>
        <a:xfrm rot="10800000">
          <a:off x="0" y="1261762"/>
          <a:ext cx="5288759" cy="1272606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That number becomes the population for the current year’s X+1 age group</a:t>
          </a:r>
          <a:endParaRPr lang="en-US" sz="1500" kern="1200"/>
        </a:p>
      </dsp:txBody>
      <dsp:txXfrm rot="10800000">
        <a:off x="0" y="1261762"/>
        <a:ext cx="5288759" cy="826901"/>
      </dsp:txXfrm>
    </dsp:sp>
    <dsp:sp modelId="{14F70437-8E80-CB41-85FC-BB60B7BDF93F}">
      <dsp:nvSpPr>
        <dsp:cNvPr id="0" name=""/>
        <dsp:cNvSpPr/>
      </dsp:nvSpPr>
      <dsp:spPr>
        <a:xfrm rot="10800000">
          <a:off x="0" y="1567"/>
          <a:ext cx="5288759" cy="1272606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6350" cap="flat" cmpd="sng" algn="ctr">
          <a:prstDash val="solid"/>
          <a:miter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kern="1200"/>
            <a:t>At each 1-year time step, use the appropriate mortality rate to determine how many X-year-old condors from the last year survived</a:t>
          </a:r>
          <a:endParaRPr lang="en-US" sz="1500" kern="1200"/>
        </a:p>
      </dsp:txBody>
      <dsp:txXfrm rot="10800000">
        <a:off x="0" y="1567"/>
        <a:ext cx="5288759" cy="8269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80AEFAB-4B32-41FA-AB2B-3E964E039B77}" type="slidenum">
              <a:t>‹#›</a:t>
            </a:fld>
            <a:endParaRPr/>
          </a:p>
        </p:txBody>
      </p:sp>
      <p:sp>
        <p:nvSpPr>
          <p:cNvPr id="4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EAE98C01-BBBE-4493-B40C-90D53A675D9C}" type="slidenum"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E027E64-33DA-4E69-83C3-A4B2CA248E6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15420" y="0"/>
            <a:ext cx="6849784" cy="567055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51508" y="0"/>
            <a:ext cx="6577608" cy="567055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D8159-5BC8-B0C1-D21A-26900C30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054" y="1192269"/>
            <a:ext cx="5854516" cy="328601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Aptos" panose="020B0004020202020204" pitchFamily="34" charset="0"/>
                <a:cs typeface="AL BAYAN PLAIN" pitchFamily="2" charset="-78"/>
              </a:rPr>
              <a:t>Condor Populations</a:t>
            </a:r>
          </a:p>
        </p:txBody>
      </p:sp>
    </p:spTree>
    <p:extLst>
      <p:ext uri="{BB962C8B-B14F-4D97-AF65-F5344CB8AC3E}">
        <p14:creationId xmlns:p14="http://schemas.microsoft.com/office/powerpoint/2010/main" val="38934682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2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EA86598-DA2C-41D5-BC0C-E877F881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5040304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955441" y="527335"/>
            <a:ext cx="3564183" cy="1345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9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The California Condor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5440" y="1961421"/>
            <a:ext cx="378023" cy="378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510140" y="1155032"/>
            <a:ext cx="3987754" cy="3983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Largest North American Vulture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~9.9ft wingspan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Soars at ~15,000 ft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Native to western California</a:t>
            </a:r>
          </a:p>
          <a:p>
            <a:pPr marL="489150" indent="-285750">
              <a:spcBef>
                <a:spcPts val="1417"/>
              </a:spcBef>
              <a:buClr>
                <a:schemeClr val="bg1"/>
              </a:buClr>
              <a:buSzPct val="45000"/>
              <a:buFont typeface="Wingdings" pitchFamily="2" charset="2"/>
              <a:buChar char="§"/>
            </a:pPr>
            <a:r>
              <a:rPr lang="en-US" sz="1600" b="0" u="none" strike="noStrike" dirty="0">
                <a:solidFill>
                  <a:schemeClr val="bg1"/>
                </a:solidFill>
                <a:effectLst/>
                <a:uFillTx/>
                <a:latin typeface="+mn-lt"/>
                <a:ea typeface="+mn-ea"/>
                <a:cs typeface="+mn-cs"/>
              </a:rPr>
              <a:t>Wild population in 1987: 22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F16C5A-0D41-47A9-B0A2-9C2AD7A8CF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0312" y="0"/>
            <a:ext cx="5040304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/>
          <p:nvPr/>
        </p:nvPicPr>
        <p:blipFill>
          <a:blip r:embed="rId2"/>
          <a:stretch/>
        </p:blipFill>
        <p:spPr>
          <a:xfrm>
            <a:off x="5836292" y="183515"/>
            <a:ext cx="3701906" cy="530352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5040304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40312" y="0"/>
            <a:ext cx="5040304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568362" y="527335"/>
            <a:ext cx="3564184" cy="13455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100" b="0" u="none" strike="noStrike" dirty="0">
                <a:effectLst/>
                <a:uFillTx/>
                <a:latin typeface="Aptos" panose="020B0004020202020204" pitchFamily="34" charset="0"/>
              </a:rPr>
              <a:t>Condor Conservation Effort</a:t>
            </a:r>
          </a:p>
        </p:txBody>
      </p:sp>
      <p:pic>
        <p:nvPicPr>
          <p:cNvPr id="15" name="Picture 14"/>
          <p:cNvPicPr/>
          <p:nvPr/>
        </p:nvPicPr>
        <p:blipFill>
          <a:blip r:embed="rId2"/>
          <a:srcRect t="555" r="-3" b="13531"/>
          <a:stretch>
            <a:fillRect/>
          </a:stretch>
        </p:blipFill>
        <p:spPr>
          <a:xfrm>
            <a:off x="955432" y="527334"/>
            <a:ext cx="3542447" cy="4611163"/>
          </a:xfrm>
          <a:prstGeom prst="rect">
            <a:avLst/>
          </a:prstGeom>
          <a:noFill/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8362" y="1942599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568362" y="2113415"/>
            <a:ext cx="3564184" cy="302508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Starting in 1987, all 22 wild Condors were captured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Condor pairs will only naturally produce 1 chick every ~3 years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In captivity, ~ 1 chick per year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“Double Clutching” effectively doubles this rate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Juveniles are periodically released to the wild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1400" b="0" u="none" strike="noStrike" dirty="0">
                <a:effectLst/>
                <a:uFillTx/>
                <a:latin typeface="+mn-lt"/>
                <a:ea typeface="+mn-ea"/>
                <a:cs typeface="+mn-cs"/>
              </a:rPr>
              <a:t>Estimated 2024 wild population:  369</a:t>
            </a:r>
            <a:r>
              <a:rPr lang="en-US" sz="1400" b="0" u="none" strike="noStrike" baseline="33000" dirty="0">
                <a:effectLst/>
                <a:uFillTx/>
                <a:latin typeface="+mn-lt"/>
                <a:ea typeface="+mn-ea"/>
                <a:cs typeface="+mn-cs"/>
              </a:rPr>
              <a:t>1</a:t>
            </a:r>
            <a:endParaRPr lang="en-US" sz="14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250257" y="527334"/>
            <a:ext cx="2517643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0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Guiding Questions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In a species with low birth rates, how does a breeding program influence population growth? Does this program accomplish its goal?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Condor mortality rates are difficult to estimate. Given current population statistics and varying initial conditions, can we infer true mortality rates from this model?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33137" y="527334"/>
            <a:ext cx="2334763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Assumptions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Reproductive maturity: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7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(captive) or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8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(wild) years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Captive productivity rate: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0.9/yr (0.8/yr with double clutching)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Wild productivity rate: </a:t>
            </a: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0.3729/yr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Equal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male/female population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>
                <a:latin typeface="+mn-lt"/>
                <a:ea typeface="+mn-ea"/>
                <a:cs typeface="+mn-cs"/>
              </a:rPr>
              <a:t>All adults mate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80% of year 1 juveniles are released each year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/>
              <a:t>Captive population capacity: </a:t>
            </a:r>
            <a:r>
              <a:rPr lang="en-US" sz="2000" u="sng" dirty="0"/>
              <a:t>150</a:t>
            </a:r>
            <a:endParaRPr lang="en-US" sz="2000" dirty="0"/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dirty="0"/>
              <a:t>Wild population capacity: </a:t>
            </a:r>
            <a:r>
              <a:rPr lang="en-US" sz="2000" u="sng" dirty="0"/>
              <a:t>400</a:t>
            </a:r>
            <a:endParaRPr lang="en-US" sz="2000" b="0" u="none" strike="noStrike" dirty="0">
              <a:effectLst/>
              <a:uFillTx/>
              <a:latin typeface="+mn-lt"/>
              <a:ea typeface="+mn-ea"/>
              <a:cs typeface="+mn-cs"/>
            </a:endParaRP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If captive capacity exceeds 150, release all juveniles to the wild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A6F36F-53D3-88F5-E844-6B973B9216C0}"/>
              </a:ext>
            </a:extLst>
          </p:cNvPr>
          <p:cNvSpPr txBox="1"/>
          <p:nvPr/>
        </p:nvSpPr>
        <p:spPr>
          <a:xfrm>
            <a:off x="350642" y="441257"/>
            <a:ext cx="23953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Assumptions</a:t>
            </a:r>
            <a:endParaRPr lang="en-US" sz="2800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65760" y="527334"/>
            <a:ext cx="2402140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2800" b="0" u="none" strike="noStrike" kern="1200" dirty="0">
                <a:solidFill>
                  <a:schemeClr val="bg1"/>
                </a:solidFill>
                <a:effectLst/>
                <a:uFillTx/>
                <a:latin typeface="Aptos" panose="020B0004020202020204" pitchFamily="34" charset="0"/>
              </a:rPr>
              <a:t>Initial Conditions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48639" y="532050"/>
            <a:ext cx="378024" cy="378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848639" y="702867"/>
            <a:ext cx="5283913" cy="44045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/>
              <a:t>1987 captive condor population</a:t>
            </a:r>
          </a:p>
          <a:p>
            <a:pPr marL="546300" indent="-3429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u="sng" dirty="0"/>
              <a:t>22</a:t>
            </a:r>
            <a:r>
              <a:rPr lang="en-US" sz="2000" dirty="0"/>
              <a:t> adults</a:t>
            </a:r>
          </a:p>
          <a:p>
            <a:pPr marL="2034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2022 captive Condor population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44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hatchlings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39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1y/o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45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2-7y/o, distributed evenly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86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adults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214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total</a:t>
            </a:r>
          </a:p>
          <a:p>
            <a:pPr marL="432000" indent="-228600">
              <a:spcBef>
                <a:spcPts val="1417"/>
              </a:spcBef>
              <a:buClr>
                <a:srgbClr val="000000"/>
              </a:buClr>
              <a:buSzPct val="45000"/>
              <a:buFont typeface="Arial" panose="020B0604020202020204" pitchFamily="34" charset="0"/>
              <a:buChar char="•"/>
            </a:pPr>
            <a:r>
              <a:rPr lang="en-US" sz="2000" b="0" u="sng" strike="noStrike" dirty="0">
                <a:effectLst/>
                <a:uFillTx/>
                <a:latin typeface="+mn-lt"/>
                <a:ea typeface="+mn-ea"/>
                <a:cs typeface="+mn-cs"/>
              </a:rPr>
              <a:t>0</a:t>
            </a:r>
            <a:r>
              <a:rPr lang="en-US" sz="2000" b="0" u="none" strike="noStrike" dirty="0">
                <a:effectLst/>
                <a:uFillTx/>
                <a:latin typeface="+mn-lt"/>
                <a:ea typeface="+mn-ea"/>
                <a:cs typeface="+mn-cs"/>
              </a:rPr>
              <a:t> wild Condors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78104" cy="56705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519FCF-5917-29CA-BAB1-D9E1DCF4C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666" y="302848"/>
            <a:ext cx="5621190" cy="78499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dirty="0">
                <a:latin typeface="Aptos" panose="020B0004020202020204" pitchFamily="34" charset="0"/>
              </a:rPr>
              <a:t>Model Diagram</a:t>
            </a: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78C48DBE-9683-AF1D-788D-E7082DABB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852" y="1087841"/>
            <a:ext cx="7772400" cy="4371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3959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92634" y="0"/>
            <a:ext cx="6987982" cy="5670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" y="0"/>
            <a:ext cx="3096598" cy="56705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956511" y="527334"/>
            <a:ext cx="1811389" cy="46111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0"/>
            <a:r>
              <a:rPr lang="en-US" sz="3000" b="0" u="none" strike="noStrike" kern="1200">
                <a:solidFill>
                  <a:schemeClr val="bg1"/>
                </a:solidFill>
                <a:effectLst/>
                <a:uFillTx/>
                <a:latin typeface="+mj-lt"/>
                <a:ea typeface="+mj-ea"/>
                <a:cs typeface="+mj-cs"/>
              </a:rPr>
              <a:t>Methods</a:t>
            </a:r>
          </a:p>
        </p:txBody>
      </p:sp>
      <p:graphicFrame>
        <p:nvGraphicFramePr>
          <p:cNvPr id="49" name="PlaceHolder 2">
            <a:extLst>
              <a:ext uri="{FF2B5EF4-FFF2-40B4-BE49-F238E27FC236}">
                <a16:creationId xmlns:a16="http://schemas.microsoft.com/office/drawing/2014/main" id="{E519D3E0-E1A6-3E1D-5076-F6E32EC5105A}"/>
              </a:ext>
            </a:extLst>
          </p:cNvPr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3621938641"/>
              </p:ext>
            </p:extLst>
          </p:nvPr>
        </p:nvGraphicFramePr>
        <p:xfrm>
          <a:off x="3843793" y="527334"/>
          <a:ext cx="5288759" cy="4611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503999" y="1326600"/>
            <a:ext cx="8788281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8.6%,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D6FC330-E5C3-07C3-F209-878777F5A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2079109"/>
            <a:ext cx="4931592" cy="2957161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18B156A-159E-94EA-7470-818DF0D1E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5" y="2079110"/>
            <a:ext cx="4939135" cy="29571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288758" y="1326600"/>
            <a:ext cx="8731674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13.8%,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13.8%,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</a:p>
        </p:txBody>
      </p:sp>
      <p:pic>
        <p:nvPicPr>
          <p:cNvPr id="3" name="Picture 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246D418D-417B-AF13-ED90-777ED41713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0" y="1892496"/>
            <a:ext cx="4995200" cy="30007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351EECE-3747-F217-FA99-A6C93E46E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1899607"/>
            <a:ext cx="4990965" cy="29936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134755" y="1326600"/>
            <a:ext cx="8898034" cy="4033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AD58BE6-4145-6AC4-B04E-1C495A1EA9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55" y="1980433"/>
            <a:ext cx="4783234" cy="3148560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D30B7DEC-4F06-B2ED-D86B-76270913DF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7989" y="1980433"/>
            <a:ext cx="4783234" cy="3148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11269-82DC-FBA4-7D68-A368158B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>
            <a:extLst>
              <a:ext uri="{FF2B5EF4-FFF2-40B4-BE49-F238E27FC236}">
                <a16:creationId xmlns:a16="http://schemas.microsoft.com/office/drawing/2014/main" id="{C5B8599E-2E43-DE3D-01DB-3DDD5CCD6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48" name="PlaceHolder 2">
            <a:extLst>
              <a:ext uri="{FF2B5EF4-FFF2-40B4-BE49-F238E27FC236}">
                <a16:creationId xmlns:a16="http://schemas.microsoft.com/office/drawing/2014/main" id="{9CDFF5A1-0E70-E686-622B-F4E71A132459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3999" y="1326600"/>
            <a:ext cx="3351309" cy="4033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Wild: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</a:t>
            </a:r>
            <a:r>
              <a:rPr lang="en-US" sz="2000" dirty="0">
                <a:solidFill>
                  <a:srgbClr val="000000"/>
                </a:solidFill>
                <a:latin typeface="Arial"/>
              </a:rPr>
              <a:t>9.9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8.6%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Captive: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M</a:t>
            </a:r>
            <a:r>
              <a:rPr lang="en-US" sz="2000" baseline="-8000" dirty="0">
                <a:solidFill>
                  <a:srgbClr val="000000"/>
                </a:solidFill>
              </a:rPr>
              <a:t>y1 </a:t>
            </a:r>
            <a:r>
              <a:rPr lang="en-US" sz="2000" dirty="0">
                <a:solidFill>
                  <a:srgbClr val="000000"/>
                </a:solidFill>
              </a:rPr>
              <a:t>= 8.6%,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M</a:t>
            </a:r>
            <a:r>
              <a:rPr lang="en-US" sz="2000" baseline="-8000" dirty="0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 = 8.6%, </a:t>
            </a: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dirty="0">
                <a:solidFill>
                  <a:srgbClr val="000000"/>
                </a:solidFill>
              </a:rPr>
              <a:t>M</a:t>
            </a:r>
            <a:r>
              <a:rPr lang="en-US" sz="2000" baseline="-8000" dirty="0">
                <a:solidFill>
                  <a:srgbClr val="000000"/>
                </a:solidFill>
              </a:rPr>
              <a:t>a</a:t>
            </a:r>
            <a:r>
              <a:rPr lang="en-US" sz="2000" dirty="0">
                <a:solidFill>
                  <a:srgbClr val="000000"/>
                </a:solidFill>
              </a:rPr>
              <a:t> = 8.6%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  <a:latin typeface="Arial"/>
              </a:rPr>
              <a:t>22 Adults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F36FE4D-ED19-4DD1-D8B0-3BA043977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736" y="1086022"/>
            <a:ext cx="6373318" cy="4195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62088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77002" y="1326600"/>
            <a:ext cx="9388274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13.8%,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6.9%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16B54737-EF84-BC8E-7788-7DA57A8AD3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2" y="1912726"/>
            <a:ext cx="4779203" cy="3145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E6324-1D55-5C97-BCD7-70ECB533D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20" y="1912726"/>
            <a:ext cx="4779204" cy="31459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8961276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y1 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= 65.9%,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i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9.9%, M</a:t>
            </a:r>
            <a:r>
              <a:rPr lang="en-US" sz="2000" b="0" u="none" strike="noStrike" baseline="-8000" dirty="0">
                <a:solidFill>
                  <a:srgbClr val="000000"/>
                </a:solidFill>
                <a:effectLst/>
                <a:uFillTx/>
                <a:latin typeface="Arial"/>
              </a:rPr>
              <a:t>a</a:t>
            </a:r>
            <a:r>
              <a:rPr lang="en-US" sz="20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 = 9.9%</a:t>
            </a:r>
          </a:p>
        </p:txBody>
      </p:sp>
      <p:pic>
        <p:nvPicPr>
          <p:cNvPr id="7" name="Picture 6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E508FA7-2F00-F036-E124-AF1C58519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49" y="1909115"/>
            <a:ext cx="4755244" cy="3130135"/>
          </a:xfrm>
          <a:prstGeom prst="rect">
            <a:avLst/>
          </a:prstGeom>
        </p:spPr>
      </p:pic>
      <p:pic>
        <p:nvPicPr>
          <p:cNvPr id="9" name="Picture 8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4EEA8D6-D444-5787-3BD3-A9BE1CFA51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0312" y="1909115"/>
            <a:ext cx="4761215" cy="31340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Simulation Results</a:t>
            </a: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503999" y="1326600"/>
            <a:ext cx="9071639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/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r>
              <a:rPr lang="en-US" sz="2000" dirty="0">
                <a:solidFill>
                  <a:srgbClr val="000000"/>
                </a:solidFill>
              </a:rPr>
              <a:t>Assume captive and wild mortality rates of M</a:t>
            </a:r>
            <a:r>
              <a:rPr lang="en-US" sz="2000" baseline="-8000" dirty="0">
                <a:solidFill>
                  <a:srgbClr val="000000"/>
                </a:solidFill>
              </a:rPr>
              <a:t>y1 </a:t>
            </a:r>
            <a:r>
              <a:rPr lang="en-US" sz="2000" dirty="0">
                <a:solidFill>
                  <a:srgbClr val="000000"/>
                </a:solidFill>
              </a:rPr>
              <a:t>= 65.9%, M</a:t>
            </a:r>
            <a:r>
              <a:rPr lang="en-US" sz="2000" baseline="-8000" dirty="0">
                <a:solidFill>
                  <a:srgbClr val="000000"/>
                </a:solidFill>
              </a:rPr>
              <a:t>i</a:t>
            </a:r>
            <a:r>
              <a:rPr lang="en-US" sz="2000" dirty="0">
                <a:solidFill>
                  <a:srgbClr val="000000"/>
                </a:solidFill>
              </a:rPr>
              <a:t> = 13.8%, M</a:t>
            </a:r>
            <a:r>
              <a:rPr lang="en-US" sz="2000" baseline="-8000" dirty="0">
                <a:solidFill>
                  <a:srgbClr val="000000"/>
                </a:solidFill>
              </a:rPr>
              <a:t>a</a:t>
            </a:r>
            <a:r>
              <a:rPr lang="en-US" sz="2000" dirty="0">
                <a:solidFill>
                  <a:srgbClr val="000000"/>
                </a:solidFill>
              </a:rPr>
              <a:t> = 6.9%, and that captive repopulation efforts run for only 5 years. </a:t>
            </a:r>
          </a:p>
          <a:p>
            <a:pPr marL="108000">
              <a:spcBef>
                <a:spcPts val="1417"/>
              </a:spcBef>
              <a:buClr>
                <a:srgbClr val="000000"/>
              </a:buClr>
              <a:buSzPct val="45000"/>
            </a:pP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graph of a graph&#10;&#10;AI-generated content may be incorrect.">
            <a:extLst>
              <a:ext uri="{FF2B5EF4-FFF2-40B4-BE49-F238E27FC236}">
                <a16:creationId xmlns:a16="http://schemas.microsoft.com/office/drawing/2014/main" id="{304F1F5F-AD8D-7AD4-BC89-1E91E7E85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00" y="2004590"/>
            <a:ext cx="4654304" cy="3029092"/>
          </a:xfrm>
          <a:prstGeom prst="rect">
            <a:avLst/>
          </a:prstGeom>
        </p:spPr>
      </p:pic>
      <p:pic>
        <p:nvPicPr>
          <p:cNvPr id="5" name="Picture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1EFFB298-C116-B5CC-015C-DBBE382E77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818" y="2004590"/>
            <a:ext cx="4692278" cy="30538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778D4-41DA-E2CC-44D2-BB53F55B8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394601"/>
            <a:ext cx="9071640" cy="609398"/>
          </a:xfrm>
        </p:spPr>
        <p:txBody>
          <a:bodyPr/>
          <a:lstStyle/>
          <a:p>
            <a:pPr algn="ctr"/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0EBEAB-7D0A-123B-4118-6CC8484447CA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04000" y="1347536"/>
            <a:ext cx="9071640" cy="3267303"/>
          </a:xfrm>
        </p:spPr>
        <p:txBody>
          <a:bodyPr>
            <a:normAutofit/>
          </a:bodyPr>
          <a:lstStyle/>
          <a:p>
            <a:r>
              <a:rPr lang="en-US" sz="2000" dirty="0"/>
              <a:t>A captive repopulation program successfully increases wild populations over 50 years. </a:t>
            </a:r>
          </a:p>
          <a:p>
            <a:r>
              <a:rPr lang="en-US" sz="2000" dirty="0"/>
              <a:t>Given true population data, lower estimates for mortality rates may be assumed.  </a:t>
            </a:r>
          </a:p>
        </p:txBody>
      </p:sp>
    </p:spTree>
    <p:extLst>
      <p:ext uri="{BB962C8B-B14F-4D97-AF65-F5344CB8AC3E}">
        <p14:creationId xmlns:p14="http://schemas.microsoft.com/office/powerpoint/2010/main" val="1529607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532</Words>
  <Application>Microsoft Macintosh PowerPoint</Application>
  <PresentationFormat>Custom</PresentationFormat>
  <Paragraphs>69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Symbol</vt:lpstr>
      <vt:lpstr>Times New Roman</vt:lpstr>
      <vt:lpstr>Wingdings</vt:lpstr>
      <vt:lpstr>Office</vt:lpstr>
      <vt:lpstr>Condor Populations</vt:lpstr>
      <vt:lpstr>The California Condor</vt:lpstr>
      <vt:lpstr>Condor Conservation Effort</vt:lpstr>
      <vt:lpstr>Guiding Questions</vt:lpstr>
      <vt:lpstr>Assumptions</vt:lpstr>
      <vt:lpstr>PowerPoint Presentation</vt:lpstr>
      <vt:lpstr>Initial Conditions</vt:lpstr>
      <vt:lpstr>Model Diagram</vt:lpstr>
      <vt:lpstr>Methods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Simulation Results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Mary Pittman</cp:lastModifiedBy>
  <cp:revision>15</cp:revision>
  <dcterms:created xsi:type="dcterms:W3CDTF">2026-09-12T13:06:47Z</dcterms:created>
  <dcterms:modified xsi:type="dcterms:W3CDTF">2026-09-18T15:57:49Z</dcterms:modified>
  <dc:language>en-US</dc:language>
</cp:coreProperties>
</file>