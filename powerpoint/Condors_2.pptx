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73" r:id="rId2"/>
    <p:sldId id="256" r:id="rId3"/>
    <p:sldId id="257" r:id="rId4"/>
    <p:sldId id="258" r:id="rId5"/>
    <p:sldId id="259" r:id="rId6"/>
    <p:sldId id="260" r:id="rId7"/>
    <p:sldId id="261" r:id="rId8"/>
    <p:sldId id="272" r:id="rId9"/>
    <p:sldId id="264" r:id="rId10"/>
    <p:sldId id="266" r:id="rId11"/>
    <p:sldId id="267" r:id="rId12"/>
    <p:sldId id="268" r:id="rId13"/>
    <p:sldId id="274" r:id="rId14"/>
    <p:sldId id="269" r:id="rId15"/>
    <p:sldId id="270" r:id="rId16"/>
    <p:sldId id="271" r:id="rId17"/>
    <p:sldId id="275" r:id="rId18"/>
  </p:sldIdLst>
  <p:sldSz cx="10080625" cy="5670550"/>
  <p:notesSz cx="7772400" cy="100584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6262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0219"/>
    <p:restoredTop sz="94635"/>
  </p:normalViewPr>
  <p:slideViewPr>
    <p:cSldViewPr snapToGrid="0">
      <p:cViewPr varScale="1">
        <p:scale>
          <a:sx n="133" d="100"/>
          <a:sy n="133" d="100"/>
        </p:scale>
        <p:origin x="488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D54753A6-9F0E-46B9-AC38-FA6420150EDA}" type="doc">
      <dgm:prSet loTypeId="urn:microsoft.com/office/officeart/2005/8/layout/process4" loCatId="process" qsTypeId="urn:microsoft.com/office/officeart/2005/8/quickstyle/simple1" qsCatId="simple" csTypeId="urn:microsoft.com/office/officeart/2005/8/colors/colorful1" csCatId="colorful"/>
      <dgm:spPr/>
      <dgm:t>
        <a:bodyPr/>
        <a:lstStyle/>
        <a:p>
          <a:endParaRPr lang="en-US"/>
        </a:p>
      </dgm:t>
    </dgm:pt>
    <dgm:pt modelId="{D43CB1EC-2789-4A4C-8C66-73DCA98F20C6}">
      <dgm:prSet/>
      <dgm:spPr/>
      <dgm:t>
        <a:bodyPr/>
        <a:lstStyle/>
        <a:p>
          <a:r>
            <a:rPr lang="en-US" b="0"/>
            <a:t>At each 1-year time step, use the appropriate mortality rate to determine how many X-year-old condors from the last year survived</a:t>
          </a:r>
          <a:endParaRPr lang="en-US"/>
        </a:p>
      </dgm:t>
    </dgm:pt>
    <dgm:pt modelId="{787A74CA-8BC7-4800-9E3C-346B59B616C4}" type="parTrans" cxnId="{3F003EA4-2F19-48F3-870C-3081DC836B28}">
      <dgm:prSet/>
      <dgm:spPr/>
      <dgm:t>
        <a:bodyPr/>
        <a:lstStyle/>
        <a:p>
          <a:endParaRPr lang="en-US"/>
        </a:p>
      </dgm:t>
    </dgm:pt>
    <dgm:pt modelId="{67C02529-8115-4B15-AE02-6A6AC3BBA6BD}" type="sibTrans" cxnId="{3F003EA4-2F19-48F3-870C-3081DC836B28}">
      <dgm:prSet/>
      <dgm:spPr/>
      <dgm:t>
        <a:bodyPr/>
        <a:lstStyle/>
        <a:p>
          <a:endParaRPr lang="en-US"/>
        </a:p>
      </dgm:t>
    </dgm:pt>
    <dgm:pt modelId="{C0089539-F78D-4937-8162-904A3C19B69A}">
      <dgm:prSet/>
      <dgm:spPr/>
      <dgm:t>
        <a:bodyPr/>
        <a:lstStyle/>
        <a:p>
          <a:r>
            <a:rPr lang="en-US" b="0"/>
            <a:t>That number becomes the population for the current year’s X+1 age group</a:t>
          </a:r>
          <a:endParaRPr lang="en-US"/>
        </a:p>
      </dgm:t>
    </dgm:pt>
    <dgm:pt modelId="{561AB489-F8F4-4AD3-8930-EFD11324207C}" type="parTrans" cxnId="{1E37A8E4-97EB-4063-A401-71F5215E44C5}">
      <dgm:prSet/>
      <dgm:spPr/>
      <dgm:t>
        <a:bodyPr/>
        <a:lstStyle/>
        <a:p>
          <a:endParaRPr lang="en-US"/>
        </a:p>
      </dgm:t>
    </dgm:pt>
    <dgm:pt modelId="{0DD17E10-9BB3-4DF1-8EAE-1E027F60124E}" type="sibTrans" cxnId="{1E37A8E4-97EB-4063-A401-71F5215E44C5}">
      <dgm:prSet/>
      <dgm:spPr/>
      <dgm:t>
        <a:bodyPr/>
        <a:lstStyle/>
        <a:p>
          <a:endParaRPr lang="en-US"/>
        </a:p>
      </dgm:t>
    </dgm:pt>
    <dgm:pt modelId="{40BA1092-02A5-4A6B-98E7-43AA116F3609}">
      <dgm:prSet/>
      <dgm:spPr/>
      <dgm:t>
        <a:bodyPr/>
        <a:lstStyle/>
        <a:p>
          <a:r>
            <a:rPr lang="en-US"/>
            <a:t>Then, subtract 80% of our 1 y/o captive condors from the captive population and add them to our wild population’s corresponding age stock.</a:t>
          </a:r>
        </a:p>
      </dgm:t>
    </dgm:pt>
    <dgm:pt modelId="{FD55DDD1-83DA-4E46-8F9A-14C378528A32}" type="parTrans" cxnId="{0B342E70-C980-423C-8161-7C68DAF815F2}">
      <dgm:prSet/>
      <dgm:spPr/>
      <dgm:t>
        <a:bodyPr/>
        <a:lstStyle/>
        <a:p>
          <a:endParaRPr lang="en-US"/>
        </a:p>
      </dgm:t>
    </dgm:pt>
    <dgm:pt modelId="{20231875-3D44-4A21-B564-205E0E139E01}" type="sibTrans" cxnId="{0B342E70-C980-423C-8161-7C68DAF815F2}">
      <dgm:prSet/>
      <dgm:spPr/>
      <dgm:t>
        <a:bodyPr/>
        <a:lstStyle/>
        <a:p>
          <a:endParaRPr lang="en-US"/>
        </a:p>
      </dgm:t>
    </dgm:pt>
    <dgm:pt modelId="{35DA436C-6C7C-4D17-BF84-8BD2AD752E98}">
      <dgm:prSet/>
      <dgm:spPr/>
      <dgm:t>
        <a:bodyPr/>
        <a:lstStyle/>
        <a:p>
          <a:r>
            <a:rPr lang="en-US"/>
            <a:t>Use half the adult population (the female population) and the wild and captive productivity rates, respectively, to determine this year’s hatchling populating</a:t>
          </a:r>
        </a:p>
      </dgm:t>
    </dgm:pt>
    <dgm:pt modelId="{5CC522DB-E9CA-4E9B-B650-F66172F79AF3}" type="parTrans" cxnId="{F22EFE00-A327-4F8A-929C-E854E89746DD}">
      <dgm:prSet/>
      <dgm:spPr/>
      <dgm:t>
        <a:bodyPr/>
        <a:lstStyle/>
        <a:p>
          <a:endParaRPr lang="en-US"/>
        </a:p>
      </dgm:t>
    </dgm:pt>
    <dgm:pt modelId="{1A8FBB12-3F32-474A-ADDA-C5A47A87E2EC}" type="sibTrans" cxnId="{F22EFE00-A327-4F8A-929C-E854E89746DD}">
      <dgm:prSet/>
      <dgm:spPr/>
      <dgm:t>
        <a:bodyPr/>
        <a:lstStyle/>
        <a:p>
          <a:endParaRPr lang="en-US"/>
        </a:p>
      </dgm:t>
    </dgm:pt>
    <dgm:pt modelId="{3EC2E495-1BB6-3C49-BEB5-15381AB67471}" type="pres">
      <dgm:prSet presAssocID="{D54753A6-9F0E-46B9-AC38-FA6420150EDA}" presName="Name0" presStyleCnt="0">
        <dgm:presLayoutVars>
          <dgm:dir/>
          <dgm:animLvl val="lvl"/>
          <dgm:resizeHandles val="exact"/>
        </dgm:presLayoutVars>
      </dgm:prSet>
      <dgm:spPr/>
    </dgm:pt>
    <dgm:pt modelId="{9533D6BA-D6AE-1A4E-8E66-2F4DE6765BBA}" type="pres">
      <dgm:prSet presAssocID="{35DA436C-6C7C-4D17-BF84-8BD2AD752E98}" presName="boxAndChildren" presStyleCnt="0"/>
      <dgm:spPr/>
    </dgm:pt>
    <dgm:pt modelId="{43B15256-B591-4F4C-A3ED-147186A1FEDE}" type="pres">
      <dgm:prSet presAssocID="{35DA436C-6C7C-4D17-BF84-8BD2AD752E98}" presName="parentTextBox" presStyleLbl="node1" presStyleIdx="0" presStyleCnt="4"/>
      <dgm:spPr/>
    </dgm:pt>
    <dgm:pt modelId="{249372B9-E9AD-6B45-A709-3DED2F9C9703}" type="pres">
      <dgm:prSet presAssocID="{20231875-3D44-4A21-B564-205E0E139E01}" presName="sp" presStyleCnt="0"/>
      <dgm:spPr/>
    </dgm:pt>
    <dgm:pt modelId="{ED717D7A-04D5-404E-997D-447DAD807094}" type="pres">
      <dgm:prSet presAssocID="{40BA1092-02A5-4A6B-98E7-43AA116F3609}" presName="arrowAndChildren" presStyleCnt="0"/>
      <dgm:spPr/>
    </dgm:pt>
    <dgm:pt modelId="{C855899C-3359-BC42-B702-7B19BFD7775F}" type="pres">
      <dgm:prSet presAssocID="{40BA1092-02A5-4A6B-98E7-43AA116F3609}" presName="parentTextArrow" presStyleLbl="node1" presStyleIdx="1" presStyleCnt="4"/>
      <dgm:spPr/>
    </dgm:pt>
    <dgm:pt modelId="{27D8B6CE-2BE0-7C4E-BF72-3C02BC957C82}" type="pres">
      <dgm:prSet presAssocID="{0DD17E10-9BB3-4DF1-8EAE-1E027F60124E}" presName="sp" presStyleCnt="0"/>
      <dgm:spPr/>
    </dgm:pt>
    <dgm:pt modelId="{40E9725D-CB50-A04B-BF11-FA2848D78B88}" type="pres">
      <dgm:prSet presAssocID="{C0089539-F78D-4937-8162-904A3C19B69A}" presName="arrowAndChildren" presStyleCnt="0"/>
      <dgm:spPr/>
    </dgm:pt>
    <dgm:pt modelId="{C2FDEF33-5707-A54B-8838-F2A93974E259}" type="pres">
      <dgm:prSet presAssocID="{C0089539-F78D-4937-8162-904A3C19B69A}" presName="parentTextArrow" presStyleLbl="node1" presStyleIdx="2" presStyleCnt="4"/>
      <dgm:spPr/>
    </dgm:pt>
    <dgm:pt modelId="{630406B5-6183-FB4B-862E-4F1B1C45FA7F}" type="pres">
      <dgm:prSet presAssocID="{67C02529-8115-4B15-AE02-6A6AC3BBA6BD}" presName="sp" presStyleCnt="0"/>
      <dgm:spPr/>
    </dgm:pt>
    <dgm:pt modelId="{58DA30C0-16B9-4B48-8967-93FFD3787F53}" type="pres">
      <dgm:prSet presAssocID="{D43CB1EC-2789-4A4C-8C66-73DCA98F20C6}" presName="arrowAndChildren" presStyleCnt="0"/>
      <dgm:spPr/>
    </dgm:pt>
    <dgm:pt modelId="{14F70437-8E80-CB41-85FC-BB60B7BDF93F}" type="pres">
      <dgm:prSet presAssocID="{D43CB1EC-2789-4A4C-8C66-73DCA98F20C6}" presName="parentTextArrow" presStyleLbl="node1" presStyleIdx="3" presStyleCnt="4"/>
      <dgm:spPr/>
    </dgm:pt>
  </dgm:ptLst>
  <dgm:cxnLst>
    <dgm:cxn modelId="{F22EFE00-A327-4F8A-929C-E854E89746DD}" srcId="{D54753A6-9F0E-46B9-AC38-FA6420150EDA}" destId="{35DA436C-6C7C-4D17-BF84-8BD2AD752E98}" srcOrd="3" destOrd="0" parTransId="{5CC522DB-E9CA-4E9B-B650-F66172F79AF3}" sibTransId="{1A8FBB12-3F32-474A-ADDA-C5A47A87E2EC}"/>
    <dgm:cxn modelId="{CE75344C-2D33-6B42-B4C0-2E37CBFCB2E2}" type="presOf" srcId="{40BA1092-02A5-4A6B-98E7-43AA116F3609}" destId="{C855899C-3359-BC42-B702-7B19BFD7775F}" srcOrd="0" destOrd="0" presId="urn:microsoft.com/office/officeart/2005/8/layout/process4"/>
    <dgm:cxn modelId="{7A599460-FF69-D740-81D8-955C392B2A36}" type="presOf" srcId="{C0089539-F78D-4937-8162-904A3C19B69A}" destId="{C2FDEF33-5707-A54B-8838-F2A93974E259}" srcOrd="0" destOrd="0" presId="urn:microsoft.com/office/officeart/2005/8/layout/process4"/>
    <dgm:cxn modelId="{0B342E70-C980-423C-8161-7C68DAF815F2}" srcId="{D54753A6-9F0E-46B9-AC38-FA6420150EDA}" destId="{40BA1092-02A5-4A6B-98E7-43AA116F3609}" srcOrd="2" destOrd="0" parTransId="{FD55DDD1-83DA-4E46-8F9A-14C378528A32}" sibTransId="{20231875-3D44-4A21-B564-205E0E139E01}"/>
    <dgm:cxn modelId="{3F003EA4-2F19-48F3-870C-3081DC836B28}" srcId="{D54753A6-9F0E-46B9-AC38-FA6420150EDA}" destId="{D43CB1EC-2789-4A4C-8C66-73DCA98F20C6}" srcOrd="0" destOrd="0" parTransId="{787A74CA-8BC7-4800-9E3C-346B59B616C4}" sibTransId="{67C02529-8115-4B15-AE02-6A6AC3BBA6BD}"/>
    <dgm:cxn modelId="{DB3D63D5-739E-1C40-8E5B-FE4AA08BE413}" type="presOf" srcId="{D54753A6-9F0E-46B9-AC38-FA6420150EDA}" destId="{3EC2E495-1BB6-3C49-BEB5-15381AB67471}" srcOrd="0" destOrd="0" presId="urn:microsoft.com/office/officeart/2005/8/layout/process4"/>
    <dgm:cxn modelId="{6A5975D9-870F-EB47-B352-7313B427868E}" type="presOf" srcId="{D43CB1EC-2789-4A4C-8C66-73DCA98F20C6}" destId="{14F70437-8E80-CB41-85FC-BB60B7BDF93F}" srcOrd="0" destOrd="0" presId="urn:microsoft.com/office/officeart/2005/8/layout/process4"/>
    <dgm:cxn modelId="{684180DD-5C1E-5B40-A4B0-51F7088AD1C7}" type="presOf" srcId="{35DA436C-6C7C-4D17-BF84-8BD2AD752E98}" destId="{43B15256-B591-4F4C-A3ED-147186A1FEDE}" srcOrd="0" destOrd="0" presId="urn:microsoft.com/office/officeart/2005/8/layout/process4"/>
    <dgm:cxn modelId="{1E37A8E4-97EB-4063-A401-71F5215E44C5}" srcId="{D54753A6-9F0E-46B9-AC38-FA6420150EDA}" destId="{C0089539-F78D-4937-8162-904A3C19B69A}" srcOrd="1" destOrd="0" parTransId="{561AB489-F8F4-4AD3-8930-EFD11324207C}" sibTransId="{0DD17E10-9BB3-4DF1-8EAE-1E027F60124E}"/>
    <dgm:cxn modelId="{AD8F5521-16B2-7A45-AD55-8984184F071F}" type="presParOf" srcId="{3EC2E495-1BB6-3C49-BEB5-15381AB67471}" destId="{9533D6BA-D6AE-1A4E-8E66-2F4DE6765BBA}" srcOrd="0" destOrd="0" presId="urn:microsoft.com/office/officeart/2005/8/layout/process4"/>
    <dgm:cxn modelId="{B5E2E037-7AF7-2B40-B4CB-0070F6DBB012}" type="presParOf" srcId="{9533D6BA-D6AE-1A4E-8E66-2F4DE6765BBA}" destId="{43B15256-B591-4F4C-A3ED-147186A1FEDE}" srcOrd="0" destOrd="0" presId="urn:microsoft.com/office/officeart/2005/8/layout/process4"/>
    <dgm:cxn modelId="{71191EA5-9985-0246-B348-64879EFAFBD2}" type="presParOf" srcId="{3EC2E495-1BB6-3C49-BEB5-15381AB67471}" destId="{249372B9-E9AD-6B45-A709-3DED2F9C9703}" srcOrd="1" destOrd="0" presId="urn:microsoft.com/office/officeart/2005/8/layout/process4"/>
    <dgm:cxn modelId="{7ED73BD7-525B-7244-930E-1402422BC914}" type="presParOf" srcId="{3EC2E495-1BB6-3C49-BEB5-15381AB67471}" destId="{ED717D7A-04D5-404E-997D-447DAD807094}" srcOrd="2" destOrd="0" presId="urn:microsoft.com/office/officeart/2005/8/layout/process4"/>
    <dgm:cxn modelId="{61B1D40E-F8CF-F747-9D29-3FEF1F7DBD2B}" type="presParOf" srcId="{ED717D7A-04D5-404E-997D-447DAD807094}" destId="{C855899C-3359-BC42-B702-7B19BFD7775F}" srcOrd="0" destOrd="0" presId="urn:microsoft.com/office/officeart/2005/8/layout/process4"/>
    <dgm:cxn modelId="{96A80757-BE63-2A43-9228-08E9D82EF3E1}" type="presParOf" srcId="{3EC2E495-1BB6-3C49-BEB5-15381AB67471}" destId="{27D8B6CE-2BE0-7C4E-BF72-3C02BC957C82}" srcOrd="3" destOrd="0" presId="urn:microsoft.com/office/officeart/2005/8/layout/process4"/>
    <dgm:cxn modelId="{2798F7B7-8267-694C-99F0-B06C666772DA}" type="presParOf" srcId="{3EC2E495-1BB6-3C49-BEB5-15381AB67471}" destId="{40E9725D-CB50-A04B-BF11-FA2848D78B88}" srcOrd="4" destOrd="0" presId="urn:microsoft.com/office/officeart/2005/8/layout/process4"/>
    <dgm:cxn modelId="{4661052B-2E16-5F45-AAD0-AEAD547A5F03}" type="presParOf" srcId="{40E9725D-CB50-A04B-BF11-FA2848D78B88}" destId="{C2FDEF33-5707-A54B-8838-F2A93974E259}" srcOrd="0" destOrd="0" presId="urn:microsoft.com/office/officeart/2005/8/layout/process4"/>
    <dgm:cxn modelId="{49CF437D-B10A-464F-AB9F-AB73153B1D4E}" type="presParOf" srcId="{3EC2E495-1BB6-3C49-BEB5-15381AB67471}" destId="{630406B5-6183-FB4B-862E-4F1B1C45FA7F}" srcOrd="5" destOrd="0" presId="urn:microsoft.com/office/officeart/2005/8/layout/process4"/>
    <dgm:cxn modelId="{B3547DE7-EEC2-E640-B1B3-CCF4F3B833D9}" type="presParOf" srcId="{3EC2E495-1BB6-3C49-BEB5-15381AB67471}" destId="{58DA30C0-16B9-4B48-8967-93FFD3787F53}" srcOrd="6" destOrd="0" presId="urn:microsoft.com/office/officeart/2005/8/layout/process4"/>
    <dgm:cxn modelId="{6F058EFE-92AD-E948-88DA-2B327BD11D37}" type="presParOf" srcId="{58DA30C0-16B9-4B48-8967-93FFD3787F53}" destId="{14F70437-8E80-CB41-85FC-BB60B7BDF93F}" srcOrd="0" destOrd="0" presId="urn:microsoft.com/office/officeart/2005/8/layout/process4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3B15256-B591-4F4C-A3ED-147186A1FEDE}">
      <dsp:nvSpPr>
        <dsp:cNvPr id="0" name=""/>
        <dsp:cNvSpPr/>
      </dsp:nvSpPr>
      <dsp:spPr>
        <a:xfrm>
          <a:off x="0" y="3782152"/>
          <a:ext cx="5288759" cy="827442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6350" cap="flat" cmpd="sng" algn="ctr">
          <a:prstDash val="solid"/>
          <a:miter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/>
            <a:t>Use half the adult population (the female population) and the wild and captive productivity rates, respectively, to determine this year’s hatchling populating</a:t>
          </a:r>
        </a:p>
      </dsp:txBody>
      <dsp:txXfrm>
        <a:off x="0" y="3782152"/>
        <a:ext cx="5288759" cy="827442"/>
      </dsp:txXfrm>
    </dsp:sp>
    <dsp:sp modelId="{C855899C-3359-BC42-B702-7B19BFD7775F}">
      <dsp:nvSpPr>
        <dsp:cNvPr id="0" name=""/>
        <dsp:cNvSpPr/>
      </dsp:nvSpPr>
      <dsp:spPr>
        <a:xfrm rot="10800000">
          <a:off x="0" y="2521957"/>
          <a:ext cx="5288759" cy="1272606"/>
        </a:xfrm>
        <a:prstGeom prst="upArrowCallou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6350" cap="flat" cmpd="sng" algn="ctr">
          <a:prstDash val="solid"/>
          <a:miter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/>
            <a:t>Then, subtract 80% of our 1 y/o captive condors from the captive population and add them to our wild population’s corresponding age stock.</a:t>
          </a:r>
        </a:p>
      </dsp:txBody>
      <dsp:txXfrm rot="10800000">
        <a:off x="0" y="2521957"/>
        <a:ext cx="5288759" cy="826901"/>
      </dsp:txXfrm>
    </dsp:sp>
    <dsp:sp modelId="{C2FDEF33-5707-A54B-8838-F2A93974E259}">
      <dsp:nvSpPr>
        <dsp:cNvPr id="0" name=""/>
        <dsp:cNvSpPr/>
      </dsp:nvSpPr>
      <dsp:spPr>
        <a:xfrm rot="10800000">
          <a:off x="0" y="1261762"/>
          <a:ext cx="5288759" cy="1272606"/>
        </a:xfrm>
        <a:prstGeom prst="upArrowCallou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6350" cap="flat" cmpd="sng" algn="ctr">
          <a:prstDash val="solid"/>
          <a:miter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b="0" kern="1200"/>
            <a:t>That number becomes the population for the current year’s X+1 age group</a:t>
          </a:r>
          <a:endParaRPr lang="en-US" sz="1500" kern="1200"/>
        </a:p>
      </dsp:txBody>
      <dsp:txXfrm rot="10800000">
        <a:off x="0" y="1261762"/>
        <a:ext cx="5288759" cy="826901"/>
      </dsp:txXfrm>
    </dsp:sp>
    <dsp:sp modelId="{14F70437-8E80-CB41-85FC-BB60B7BDF93F}">
      <dsp:nvSpPr>
        <dsp:cNvPr id="0" name=""/>
        <dsp:cNvSpPr/>
      </dsp:nvSpPr>
      <dsp:spPr>
        <a:xfrm rot="10800000">
          <a:off x="0" y="1567"/>
          <a:ext cx="5288759" cy="1272606"/>
        </a:xfrm>
        <a:prstGeom prst="upArrowCallou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6350" cap="flat" cmpd="sng" algn="ctr">
          <a:prstDash val="solid"/>
          <a:miter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b="0" kern="1200"/>
            <a:t>At each 1-year time step, use the appropriate mortality rate to determine how many X-year-old condors from the last year survived</a:t>
          </a:r>
          <a:endParaRPr lang="en-US" sz="1500" kern="1200"/>
        </a:p>
      </dsp:txBody>
      <dsp:txXfrm rot="10800000">
        <a:off x="0" y="1567"/>
        <a:ext cx="5288759" cy="826901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4">
  <dgm:title val=""/>
  <dgm:desc val=""/>
  <dgm:catLst>
    <dgm:cat type="process" pri="16000"/>
    <dgm:cat type="list" pri="20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alg type="lin">
      <dgm:param type="linDir" val="fromB"/>
    </dgm:alg>
    <dgm:shape xmlns:r="http://schemas.openxmlformats.org/officeDocument/2006/relationships" r:blip="">
      <dgm:adjLst/>
    </dgm:shape>
    <dgm:presOf/>
    <dgm:constrLst>
      <dgm:constr type="h" for="ch" forName="boxAndChildren" refType="h"/>
      <dgm:constr type="h" for="ch" forName="arrowAndChildren" refType="h" refFor="ch" refForName="boxAndChildren" op="equ" fact="1.538"/>
      <dgm:constr type="w" for="ch" forName="arrowAndChildren" refType="w"/>
      <dgm:constr type="w" for="ch" forName="boxAndChildren" refType="w"/>
      <dgm:constr type="h" for="ch" forName="sp" refType="h" fact="-0.015"/>
      <dgm:constr type="primFontSz" for="des" forName="parentTextBox" val="65"/>
      <dgm:constr type="primFontSz" for="des" forName="parentTextArrow" refType="primFontSz" refFor="des" refForName="parentTextBox" op="equ"/>
      <dgm:constr type="primFontSz" for="des" forName="childTextArrow" val="65"/>
      <dgm:constr type="primFontSz" for="des" forName="childTextBox" refType="primFontSz" refFor="des" refForName="childTextArrow" op="equ"/>
    </dgm:constrLst>
    <dgm:ruleLst/>
    <dgm:forEach name="Name1" axis="ch" ptType="node" st="-1" step="-1">
      <dgm:choose name="Name2">
        <dgm:if name="Name3" axis="self" ptType="node" func="revPos" op="equ" val="1">
          <dgm:layoutNode name="boxAndChildren">
            <dgm:alg type="composite"/>
            <dgm:shape xmlns:r="http://schemas.openxmlformats.org/officeDocument/2006/relationships" r:blip="">
              <dgm:adjLst/>
            </dgm:shape>
            <dgm:presOf/>
            <dgm:choose name="Name4">
              <dgm:if name="Name5" axis="ch" ptType="node" func="cnt" op="gte" val="1">
                <dgm:constrLst>
                  <dgm:constr type="w" for="ch" forName="parentTextBox" refType="w"/>
                  <dgm:constr type="h" for="ch" forName="parentTextBox" refType="h" fact="0.54"/>
                  <dgm:constr type="t" for="ch" forName="parentTextBox"/>
                  <dgm:constr type="w" for="ch" forName="entireBox" refType="w"/>
                  <dgm:constr type="h" for="ch" forName="entireBox" refType="h"/>
                  <dgm:constr type="w" for="ch" forName="descendantBox" refType="w"/>
                  <dgm:constr type="b" for="ch" forName="descendantBox" refType="h" fact="0.98"/>
                  <dgm:constr type="h" for="ch" forName="descendantBox" refType="h" fact="0.46"/>
                </dgm:constrLst>
              </dgm:if>
              <dgm:else name="Name6">
                <dgm:constrLst>
                  <dgm:constr type="w" for="ch" forName="parentTextBox" refType="w"/>
                  <dgm:constr type="h" for="ch" forName="parentTextBox" refType="h"/>
                </dgm:constrLst>
              </dgm:else>
            </dgm:choose>
            <dgm:ruleLst/>
            <dgm:layoutNode name="parentTextBox">
              <dgm:alg type="tx"/>
              <dgm:choose name="Name7">
                <dgm:if name="Name8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9">
                  <dgm:shape xmlns:r="http://schemas.openxmlformats.org/officeDocument/2006/relationships" type="rec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10">
              <dgm:if name="Name11" axis="ch" ptType="node" func="cnt" op="gte" val="1">
                <dgm:layoutNode name="entireBox">
                  <dgm:alg type="sp"/>
                  <dgm:shape xmlns:r="http://schemas.openxmlformats.org/officeDocument/2006/relationships" type="rect" r:blip="">
                    <dgm:adjLst/>
                  </dgm:shape>
                  <dgm:presOf axis="self"/>
                  <dgm:constrLst/>
                  <dgm:ruleLst/>
                </dgm:layoutNode>
                <dgm:layoutNode name="descendantBox" styleLbl="fgAccFollowNode1">
                  <dgm:choose name="Name12">
                    <dgm:if name="Name13" func="var" arg="dir" op="equ" val="norm">
                      <dgm:alg type="lin"/>
                    </dgm:if>
                    <dgm:else name="Name14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Box" refType="w"/>
                    <dgm:constr type="h" for="ch" forName="childTextBox" refType="h"/>
                  </dgm:constrLst>
                  <dgm:ruleLst/>
                  <dgm:forEach name="Name15" axis="ch" ptType="node">
                    <dgm:layoutNode name="childTextBox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16"/>
            </dgm:choose>
          </dgm:layoutNode>
        </dgm:if>
        <dgm:else name="Name17">
          <dgm:layoutNode name="arrowAndChildren">
            <dgm:alg type="composite"/>
            <dgm:shape xmlns:r="http://schemas.openxmlformats.org/officeDocument/2006/relationships" r:blip="">
              <dgm:adjLst/>
            </dgm:shape>
            <dgm:presOf/>
            <dgm:choose name="Name18">
              <dgm:if name="Name19" axis="ch" ptType="node" func="cnt" op="gte" val="1">
                <dgm:constrLst>
                  <dgm:constr type="w" for="ch" forName="parentTextArrow" refType="w"/>
                  <dgm:constr type="t" for="ch" forName="parentTextArrow"/>
                  <dgm:constr type="h" for="ch" forName="parentTextArrow" refType="h" fact="0.351"/>
                  <dgm:constr type="w" for="ch" forName="arrow" refType="w"/>
                  <dgm:constr type="h" for="ch" forName="arrow" refType="h"/>
                  <dgm:constr type="w" for="ch" forName="descendantArrow" refType="w"/>
                  <dgm:constr type="b" for="ch" forName="descendantArrow" refType="h" fact="0.65"/>
                  <dgm:constr type="h" for="ch" forName="descendantArrow" refType="h" fact="0.299"/>
                </dgm:constrLst>
              </dgm:if>
              <dgm:else name="Name20">
                <dgm:constrLst>
                  <dgm:constr type="w" for="ch" forName="parentTextArrow" refType="w"/>
                  <dgm:constr type="h" for="ch" forName="parentTextArrow" refType="h"/>
                </dgm:constrLst>
              </dgm:else>
            </dgm:choose>
            <dgm:ruleLst/>
            <dgm:layoutNode name="parentTextArrow">
              <dgm:alg type="tx"/>
              <dgm:choose name="Name21">
                <dgm:if name="Name22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23">
                  <dgm:shape xmlns:r="http://schemas.openxmlformats.org/officeDocument/2006/relationships" rot="180" type="upArrowCallou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24">
              <dgm:if name="Name25" axis="ch" ptType="node" func="cnt" op="gte" val="1">
                <dgm:layoutNode name="arrow">
                  <dgm:alg type="sp"/>
                  <dgm:shape xmlns:r="http://schemas.openxmlformats.org/officeDocument/2006/relationships" rot="180" type="upArrowCallout" r:blip="">
                    <dgm:adjLst/>
                  </dgm:shape>
                  <dgm:presOf axis="self"/>
                  <dgm:constrLst/>
                  <dgm:ruleLst/>
                </dgm:layoutNode>
                <dgm:layoutNode name="descendantArrow">
                  <dgm:choose name="Name26">
                    <dgm:if name="Name27" func="var" arg="dir" op="equ" val="norm">
                      <dgm:alg type="lin"/>
                    </dgm:if>
                    <dgm:else name="Name28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Arrow" refType="w"/>
                    <dgm:constr type="h" for="ch" forName="childTextArrow" refType="h"/>
                  </dgm:constrLst>
                  <dgm:ruleLst/>
                  <dgm:forEach name="Name29" axis="ch" ptType="node">
                    <dgm:layoutNode name="childTextArrow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30"/>
            </dgm:choose>
          </dgm:layoutNode>
        </dgm:else>
      </dgm:choose>
      <dgm:forEach name="Name31" axis="precedSib" ptType="sibTrans" st="-1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92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3"/>
          <p:cNvSpPr>
            <a:spLocks noGrp="1"/>
          </p:cNvSpPr>
          <p:nvPr>
            <p:ph/>
          </p:nvPr>
        </p:nvSpPr>
        <p:spPr>
          <a:xfrm>
            <a:off x="5152680" y="1326600"/>
            <a:ext cx="442692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" name="PlaceHolder 4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5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E80AEFAB-4B32-41FA-AB2B-3E964E039B77}" type="slidenum">
              <a:t>‹#›</a:t>
            </a:fld>
            <a:endParaRPr/>
          </a:p>
        </p:txBody>
      </p:sp>
      <p:sp>
        <p:nvSpPr>
          <p:cNvPr id="4" name="PlaceHolder 6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EAE98C01-BBBE-4493-B40C-90D53A675D9C}" type="slidenum"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6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2" name="PlaceHolder 3"/>
          <p:cNvSpPr>
            <a:spLocks noGrp="1"/>
          </p:cNvSpPr>
          <p:nvPr>
            <p:ph type="dt" idx="1"/>
          </p:nvPr>
        </p:nvSpPr>
        <p:spPr>
          <a:xfrm>
            <a:off x="504000" y="5165280"/>
            <a:ext cx="2348280" cy="390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  <p:sp>
        <p:nvSpPr>
          <p:cNvPr id="3" name="PlaceHolder 4"/>
          <p:cNvSpPr>
            <a:spLocks noGrp="1"/>
          </p:cNvSpPr>
          <p:nvPr>
            <p:ph type="ftr" idx="2"/>
          </p:nvPr>
        </p:nvSpPr>
        <p:spPr>
          <a:xfrm>
            <a:off x="3447360" y="5165280"/>
            <a:ext cx="3195000" cy="390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4" name="PlaceHolder 5"/>
          <p:cNvSpPr>
            <a:spLocks noGrp="1"/>
          </p:cNvSpPr>
          <p:nvPr>
            <p:ph type="sldNum" idx="3"/>
          </p:nvPr>
        </p:nvSpPr>
        <p:spPr>
          <a:xfrm>
            <a:off x="7227360" y="5165280"/>
            <a:ext cx="2348280" cy="390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8E027E64-33DA-4E69-83C3-A4B2CA248E61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‹#›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tint val="95000"/>
            <a:satMod val="17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: Shape 6">
            <a:extLst>
              <a:ext uri="{FF2B5EF4-FFF2-40B4-BE49-F238E27FC236}">
                <a16:creationId xmlns:a16="http://schemas.microsoft.com/office/drawing/2014/main" id="{66B332A4-D438-4773-A77F-5ED49A448D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615420" y="0"/>
            <a:ext cx="6849784" cy="5670550"/>
          </a:xfrm>
          <a:custGeom>
            <a:avLst/>
            <a:gdLst>
              <a:gd name="connsiteX0" fmla="*/ 1818109 w 8284464"/>
              <a:gd name="connsiteY0" fmla="*/ 0 h 6858000"/>
              <a:gd name="connsiteX1" fmla="*/ 6466355 w 8284464"/>
              <a:gd name="connsiteY1" fmla="*/ 0 h 6858000"/>
              <a:gd name="connsiteX2" fmla="*/ 6620596 w 8284464"/>
              <a:gd name="connsiteY2" fmla="*/ 109683 h 6858000"/>
              <a:gd name="connsiteX3" fmla="*/ 8284464 w 8284464"/>
              <a:gd name="connsiteY3" fmla="*/ 3429000 h 6858000"/>
              <a:gd name="connsiteX4" fmla="*/ 6620596 w 8284464"/>
              <a:gd name="connsiteY4" fmla="*/ 6748318 h 6858000"/>
              <a:gd name="connsiteX5" fmla="*/ 6466355 w 8284464"/>
              <a:gd name="connsiteY5" fmla="*/ 6858000 h 6858000"/>
              <a:gd name="connsiteX6" fmla="*/ 1818109 w 8284464"/>
              <a:gd name="connsiteY6" fmla="*/ 6858000 h 6858000"/>
              <a:gd name="connsiteX7" fmla="*/ 1663869 w 8284464"/>
              <a:gd name="connsiteY7" fmla="*/ 6748318 h 6858000"/>
              <a:gd name="connsiteX8" fmla="*/ 0 w 8284464"/>
              <a:gd name="connsiteY8" fmla="*/ 3429000 h 6858000"/>
              <a:gd name="connsiteX9" fmla="*/ 1663869 w 8284464"/>
              <a:gd name="connsiteY9" fmla="*/ 10968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8284464" h="6858000">
                <a:moveTo>
                  <a:pt x="1818109" y="0"/>
                </a:moveTo>
                <a:lnTo>
                  <a:pt x="6466355" y="0"/>
                </a:lnTo>
                <a:lnTo>
                  <a:pt x="6620596" y="109683"/>
                </a:lnTo>
                <a:cubicBezTo>
                  <a:pt x="7630666" y="865069"/>
                  <a:pt x="8284464" y="2070683"/>
                  <a:pt x="8284464" y="3429000"/>
                </a:cubicBezTo>
                <a:cubicBezTo>
                  <a:pt x="8284464" y="4787317"/>
                  <a:pt x="7630666" y="5992931"/>
                  <a:pt x="6620596" y="6748318"/>
                </a:cubicBezTo>
                <a:lnTo>
                  <a:pt x="6466355" y="6858000"/>
                </a:lnTo>
                <a:lnTo>
                  <a:pt x="1818109" y="6858000"/>
                </a:lnTo>
                <a:lnTo>
                  <a:pt x="1663869" y="6748318"/>
                </a:lnTo>
                <a:cubicBezTo>
                  <a:pt x="653798" y="5992931"/>
                  <a:pt x="0" y="4787317"/>
                  <a:pt x="0" y="3429000"/>
                </a:cubicBezTo>
                <a:cubicBezTo>
                  <a:pt x="0" y="2070683"/>
                  <a:pt x="653798" y="865069"/>
                  <a:pt x="1663869" y="109683"/>
                </a:cubicBezTo>
                <a:close/>
              </a:path>
            </a:pathLst>
          </a:custGeom>
          <a:solidFill>
            <a:srgbClr val="FFFFFF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DF9AD32D-FF05-44F4-BD4D-9CEE89B71E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751508" y="0"/>
            <a:ext cx="6577608" cy="5670550"/>
          </a:xfrm>
          <a:custGeom>
            <a:avLst/>
            <a:gdLst>
              <a:gd name="connsiteX0" fmla="*/ 1962423 w 7955280"/>
              <a:gd name="connsiteY0" fmla="*/ 0 h 6858000"/>
              <a:gd name="connsiteX1" fmla="*/ 5992858 w 7955280"/>
              <a:gd name="connsiteY1" fmla="*/ 0 h 6858000"/>
              <a:gd name="connsiteX2" fmla="*/ 6040191 w 7955280"/>
              <a:gd name="connsiteY2" fmla="*/ 27216 h 6858000"/>
              <a:gd name="connsiteX3" fmla="*/ 7955280 w 7955280"/>
              <a:gd name="connsiteY3" fmla="*/ 3429000 h 6858000"/>
              <a:gd name="connsiteX4" fmla="*/ 6040191 w 7955280"/>
              <a:gd name="connsiteY4" fmla="*/ 6830784 h 6858000"/>
              <a:gd name="connsiteX5" fmla="*/ 5992858 w 7955280"/>
              <a:gd name="connsiteY5" fmla="*/ 6858000 h 6858000"/>
              <a:gd name="connsiteX6" fmla="*/ 1962423 w 7955280"/>
              <a:gd name="connsiteY6" fmla="*/ 6858000 h 6858000"/>
              <a:gd name="connsiteX7" fmla="*/ 1915089 w 7955280"/>
              <a:gd name="connsiteY7" fmla="*/ 6830784 h 6858000"/>
              <a:gd name="connsiteX8" fmla="*/ 0 w 7955280"/>
              <a:gd name="connsiteY8" fmla="*/ 3429000 h 6858000"/>
              <a:gd name="connsiteX9" fmla="*/ 1915089 w 7955280"/>
              <a:gd name="connsiteY9" fmla="*/ 27216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7955280" h="6858000">
                <a:moveTo>
                  <a:pt x="1962423" y="0"/>
                </a:moveTo>
                <a:lnTo>
                  <a:pt x="5992858" y="0"/>
                </a:lnTo>
                <a:lnTo>
                  <a:pt x="6040191" y="27216"/>
                </a:lnTo>
                <a:cubicBezTo>
                  <a:pt x="7188332" y="724844"/>
                  <a:pt x="7955280" y="1987357"/>
                  <a:pt x="7955280" y="3429000"/>
                </a:cubicBezTo>
                <a:cubicBezTo>
                  <a:pt x="7955280" y="4870644"/>
                  <a:pt x="7188332" y="6133157"/>
                  <a:pt x="6040191" y="6830784"/>
                </a:cubicBezTo>
                <a:lnTo>
                  <a:pt x="5992858" y="6858000"/>
                </a:lnTo>
                <a:lnTo>
                  <a:pt x="1962423" y="6858000"/>
                </a:lnTo>
                <a:lnTo>
                  <a:pt x="1915089" y="6830784"/>
                </a:lnTo>
                <a:cubicBezTo>
                  <a:pt x="766948" y="6133157"/>
                  <a:pt x="0" y="4870644"/>
                  <a:pt x="0" y="3429000"/>
                </a:cubicBezTo>
                <a:cubicBezTo>
                  <a:pt x="0" y="1987357"/>
                  <a:pt x="766948" y="724844"/>
                  <a:pt x="1915089" y="27216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0FD8159-5BC8-B0C1-D21A-26900C30C5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13054" y="1192269"/>
            <a:ext cx="5854516" cy="3286011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b="1" dirty="0">
                <a:solidFill>
                  <a:schemeClr val="bg1">
                    <a:lumMod val="95000"/>
                    <a:lumOff val="5000"/>
                  </a:schemeClr>
                </a:solidFill>
                <a:latin typeface="Aptos" panose="020B0004020202020204" pitchFamily="34" charset="0"/>
                <a:cs typeface="AL BAYAN PLAIN" pitchFamily="2" charset="-78"/>
              </a:rPr>
              <a:t>Condor Populations</a:t>
            </a:r>
          </a:p>
        </p:txBody>
      </p:sp>
    </p:spTree>
    <p:extLst>
      <p:ext uri="{BB962C8B-B14F-4D97-AF65-F5344CB8AC3E}">
        <p14:creationId xmlns:p14="http://schemas.microsoft.com/office/powerpoint/2010/main" val="389346825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626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6EA86598-DA2C-41D5-BC0C-E877F8818EE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" y="0"/>
            <a:ext cx="5040304" cy="567055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PlaceHolder 1"/>
          <p:cNvSpPr>
            <a:spLocks noGrp="1"/>
          </p:cNvSpPr>
          <p:nvPr>
            <p:ph type="title"/>
          </p:nvPr>
        </p:nvSpPr>
        <p:spPr>
          <a:xfrm>
            <a:off x="955441" y="527335"/>
            <a:ext cx="3564183" cy="134551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indent="0"/>
            <a:r>
              <a:rPr lang="en-US" sz="3900" b="0" u="none" strike="noStrike" kern="1200" dirty="0">
                <a:solidFill>
                  <a:schemeClr val="bg1"/>
                </a:solidFill>
                <a:effectLst/>
                <a:uFillTx/>
                <a:latin typeface="Aptos" panose="020B0004020202020204" pitchFamily="34" charset="0"/>
              </a:rPr>
              <a:t>The California Condor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50D3AD2-FA80-415F-A9CE-54D884561C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55440" y="1961421"/>
            <a:ext cx="378023" cy="3780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11" name="PlaceHolder 2"/>
          <p:cNvSpPr>
            <a:spLocks noGrp="1"/>
          </p:cNvSpPr>
          <p:nvPr>
            <p:ph/>
          </p:nvPr>
        </p:nvSpPr>
        <p:spPr>
          <a:xfrm>
            <a:off x="510140" y="1155032"/>
            <a:ext cx="3987754" cy="398346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489150" indent="-285750">
              <a:spcBef>
                <a:spcPts val="1417"/>
              </a:spcBef>
              <a:buClr>
                <a:schemeClr val="bg1"/>
              </a:buClr>
              <a:buSzPct val="45000"/>
              <a:buFont typeface="Wingdings" pitchFamily="2" charset="2"/>
              <a:buChar char="§"/>
            </a:pPr>
            <a:r>
              <a:rPr lang="en-US" sz="1600" b="0" u="none" strike="noStrike" dirty="0">
                <a:solidFill>
                  <a:schemeClr val="bg1"/>
                </a:solidFill>
                <a:effectLst/>
                <a:uFillTx/>
                <a:latin typeface="+mn-lt"/>
                <a:ea typeface="+mn-ea"/>
                <a:cs typeface="+mn-cs"/>
              </a:rPr>
              <a:t>Largest North American Vulture</a:t>
            </a:r>
          </a:p>
          <a:p>
            <a:pPr marL="489150" indent="-285750">
              <a:spcBef>
                <a:spcPts val="1417"/>
              </a:spcBef>
              <a:buClr>
                <a:schemeClr val="bg1"/>
              </a:buClr>
              <a:buSzPct val="45000"/>
              <a:buFont typeface="Wingdings" pitchFamily="2" charset="2"/>
              <a:buChar char="§"/>
            </a:pPr>
            <a:r>
              <a:rPr lang="en-US" sz="1600" b="0" u="none" strike="noStrike" dirty="0">
                <a:solidFill>
                  <a:schemeClr val="bg1"/>
                </a:solidFill>
                <a:effectLst/>
                <a:uFillTx/>
                <a:latin typeface="+mn-lt"/>
                <a:ea typeface="+mn-ea"/>
                <a:cs typeface="+mn-cs"/>
              </a:rPr>
              <a:t>~9.9ft wingspan</a:t>
            </a:r>
          </a:p>
          <a:p>
            <a:pPr marL="489150" indent="-285750">
              <a:spcBef>
                <a:spcPts val="1417"/>
              </a:spcBef>
              <a:buClr>
                <a:schemeClr val="bg1"/>
              </a:buClr>
              <a:buSzPct val="45000"/>
              <a:buFont typeface="Wingdings" pitchFamily="2" charset="2"/>
              <a:buChar char="§"/>
            </a:pPr>
            <a:r>
              <a:rPr lang="en-US" sz="1600" b="0" u="none" strike="noStrike" dirty="0">
                <a:solidFill>
                  <a:schemeClr val="bg1"/>
                </a:solidFill>
                <a:effectLst/>
                <a:uFillTx/>
                <a:latin typeface="+mn-lt"/>
                <a:ea typeface="+mn-ea"/>
                <a:cs typeface="+mn-cs"/>
              </a:rPr>
              <a:t>Soars at ~15,000 ft</a:t>
            </a:r>
          </a:p>
          <a:p>
            <a:pPr marL="489150" indent="-285750">
              <a:spcBef>
                <a:spcPts val="1417"/>
              </a:spcBef>
              <a:buClr>
                <a:schemeClr val="bg1"/>
              </a:buClr>
              <a:buSzPct val="45000"/>
              <a:buFont typeface="Wingdings" pitchFamily="2" charset="2"/>
              <a:buChar char="§"/>
            </a:pPr>
            <a:r>
              <a:rPr lang="en-US" sz="1600" b="0" u="none" strike="noStrike" dirty="0">
                <a:solidFill>
                  <a:schemeClr val="bg1"/>
                </a:solidFill>
                <a:effectLst/>
                <a:uFillTx/>
                <a:latin typeface="+mn-lt"/>
                <a:ea typeface="+mn-ea"/>
                <a:cs typeface="+mn-cs"/>
              </a:rPr>
              <a:t>Native to western California</a:t>
            </a:r>
          </a:p>
          <a:p>
            <a:pPr marL="489150" indent="-285750">
              <a:spcBef>
                <a:spcPts val="1417"/>
              </a:spcBef>
              <a:buClr>
                <a:schemeClr val="bg1"/>
              </a:buClr>
              <a:buSzPct val="45000"/>
              <a:buFont typeface="Wingdings" pitchFamily="2" charset="2"/>
              <a:buChar char="§"/>
            </a:pPr>
            <a:r>
              <a:rPr lang="en-US" sz="1600" b="0" u="none" strike="noStrike" dirty="0">
                <a:solidFill>
                  <a:schemeClr val="bg1"/>
                </a:solidFill>
                <a:effectLst/>
                <a:uFillTx/>
                <a:latin typeface="+mn-lt"/>
                <a:ea typeface="+mn-ea"/>
                <a:cs typeface="+mn-cs"/>
              </a:rPr>
              <a:t>Wild population in 1987: 22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7F16C5A-0D41-47A9-B0A2-9C2AD7A8CF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040312" y="0"/>
            <a:ext cx="5040304" cy="567055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2" name="Picture 11"/>
          <p:cNvPicPr/>
          <p:nvPr/>
        </p:nvPicPr>
        <p:blipFill>
          <a:blip r:embed="rId2"/>
          <a:stretch/>
        </p:blipFill>
        <p:spPr>
          <a:xfrm>
            <a:off x="5836292" y="183515"/>
            <a:ext cx="3701906" cy="530352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>
            <a:extLst>
              <a:ext uri="{FF2B5EF4-FFF2-40B4-BE49-F238E27FC236}">
                <a16:creationId xmlns:a16="http://schemas.microsoft.com/office/drawing/2014/main" id="{C3896A03-3945-419A-B66B-4EE266EDD1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" y="0"/>
            <a:ext cx="5040304" cy="567055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34F5AD2-EDBD-4BBD-A55C-EAFFD0C709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040312" y="0"/>
            <a:ext cx="5040304" cy="567055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PlaceHolder 1"/>
          <p:cNvSpPr>
            <a:spLocks noGrp="1"/>
          </p:cNvSpPr>
          <p:nvPr>
            <p:ph type="title"/>
          </p:nvPr>
        </p:nvSpPr>
        <p:spPr>
          <a:xfrm>
            <a:off x="5568362" y="527335"/>
            <a:ext cx="3564184" cy="134551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indent="0"/>
            <a:r>
              <a:rPr lang="en-US" sz="3100" b="0" u="none" strike="noStrike" dirty="0">
                <a:effectLst/>
                <a:uFillTx/>
                <a:latin typeface="Aptos" panose="020B0004020202020204" pitchFamily="34" charset="0"/>
              </a:rPr>
              <a:t>Condor Conservation Effort</a:t>
            </a:r>
          </a:p>
        </p:txBody>
      </p:sp>
      <p:pic>
        <p:nvPicPr>
          <p:cNvPr id="15" name="Picture 14"/>
          <p:cNvPicPr/>
          <p:nvPr/>
        </p:nvPicPr>
        <p:blipFill>
          <a:blip r:embed="rId2"/>
          <a:srcRect t="555" r="-3" b="13531"/>
          <a:stretch>
            <a:fillRect/>
          </a:stretch>
        </p:blipFill>
        <p:spPr>
          <a:xfrm>
            <a:off x="955432" y="527334"/>
            <a:ext cx="3542447" cy="4611163"/>
          </a:xfrm>
          <a:prstGeom prst="rect">
            <a:avLst/>
          </a:prstGeom>
          <a:noFill/>
        </p:spPr>
      </p:pic>
      <p:sp>
        <p:nvSpPr>
          <p:cNvPr id="24" name="Rectangle 23">
            <a:extLst>
              <a:ext uri="{FF2B5EF4-FFF2-40B4-BE49-F238E27FC236}">
                <a16:creationId xmlns:a16="http://schemas.microsoft.com/office/drawing/2014/main" id="{450D3AD2-FA80-415F-A9CE-54D884561C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568362" y="1942599"/>
            <a:ext cx="378024" cy="37803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PlaceHolder 2"/>
          <p:cNvSpPr>
            <a:spLocks noGrp="1"/>
          </p:cNvSpPr>
          <p:nvPr>
            <p:ph/>
          </p:nvPr>
        </p:nvSpPr>
        <p:spPr>
          <a:xfrm>
            <a:off x="5568362" y="2113415"/>
            <a:ext cx="3564184" cy="3025082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/>
          <a:p>
            <a:pPr marL="432000" indent="-228600">
              <a:spcBef>
                <a:spcPts val="1417"/>
              </a:spcBef>
              <a:buClr>
                <a:srgbClr val="000000"/>
              </a:buClr>
              <a:buSzPct val="45000"/>
              <a:buFont typeface="Arial" panose="020B0604020202020204" pitchFamily="34" charset="0"/>
              <a:buChar char="•"/>
            </a:pPr>
            <a:r>
              <a:rPr lang="en-US" sz="1400" b="0" u="none" strike="noStrike" dirty="0">
                <a:effectLst/>
                <a:uFillTx/>
                <a:latin typeface="+mn-lt"/>
                <a:ea typeface="+mn-ea"/>
                <a:cs typeface="+mn-cs"/>
              </a:rPr>
              <a:t>Starting in 1987, all 22 wild Condors were captured</a:t>
            </a:r>
          </a:p>
          <a:p>
            <a:pPr marL="432000" indent="-228600">
              <a:spcBef>
                <a:spcPts val="1417"/>
              </a:spcBef>
              <a:buClr>
                <a:srgbClr val="000000"/>
              </a:buClr>
              <a:buSzPct val="45000"/>
              <a:buFont typeface="Arial" panose="020B0604020202020204" pitchFamily="34" charset="0"/>
              <a:buChar char="•"/>
            </a:pPr>
            <a:r>
              <a:rPr lang="en-US" sz="1400" b="0" u="none" strike="noStrike" dirty="0">
                <a:effectLst/>
                <a:uFillTx/>
                <a:latin typeface="+mn-lt"/>
                <a:ea typeface="+mn-ea"/>
                <a:cs typeface="+mn-cs"/>
              </a:rPr>
              <a:t>Condor pairs will only naturally produce 1 chick every ~3 years</a:t>
            </a:r>
          </a:p>
          <a:p>
            <a:pPr marL="432000" indent="-228600">
              <a:spcBef>
                <a:spcPts val="1417"/>
              </a:spcBef>
              <a:buClr>
                <a:srgbClr val="000000"/>
              </a:buClr>
              <a:buSzPct val="45000"/>
              <a:buFont typeface="Arial" panose="020B0604020202020204" pitchFamily="34" charset="0"/>
              <a:buChar char="•"/>
            </a:pPr>
            <a:r>
              <a:rPr lang="en-US" sz="1400" b="0" u="none" strike="noStrike" dirty="0">
                <a:effectLst/>
                <a:uFillTx/>
                <a:latin typeface="+mn-lt"/>
                <a:ea typeface="+mn-ea"/>
                <a:cs typeface="+mn-cs"/>
              </a:rPr>
              <a:t>In captivity, ~ 1 chick per year</a:t>
            </a:r>
          </a:p>
          <a:p>
            <a:pPr marL="432000" indent="-228600">
              <a:spcBef>
                <a:spcPts val="1417"/>
              </a:spcBef>
              <a:buClr>
                <a:srgbClr val="000000"/>
              </a:buClr>
              <a:buSzPct val="45000"/>
              <a:buFont typeface="Arial" panose="020B0604020202020204" pitchFamily="34" charset="0"/>
              <a:buChar char="•"/>
            </a:pPr>
            <a:r>
              <a:rPr lang="en-US" sz="1400" b="0" u="none" strike="noStrike" dirty="0">
                <a:effectLst/>
                <a:uFillTx/>
                <a:latin typeface="+mn-lt"/>
                <a:ea typeface="+mn-ea"/>
                <a:cs typeface="+mn-cs"/>
              </a:rPr>
              <a:t>“Double Clutching” effectively doubles this rate</a:t>
            </a:r>
          </a:p>
          <a:p>
            <a:pPr marL="432000" indent="-228600">
              <a:spcBef>
                <a:spcPts val="1417"/>
              </a:spcBef>
              <a:buClr>
                <a:srgbClr val="000000"/>
              </a:buClr>
              <a:buSzPct val="45000"/>
              <a:buFont typeface="Arial" panose="020B0604020202020204" pitchFamily="34" charset="0"/>
              <a:buChar char="•"/>
            </a:pPr>
            <a:r>
              <a:rPr lang="en-US" sz="1400" b="0" u="none" strike="noStrike" dirty="0">
                <a:effectLst/>
                <a:uFillTx/>
                <a:latin typeface="+mn-lt"/>
                <a:ea typeface="+mn-ea"/>
                <a:cs typeface="+mn-cs"/>
              </a:rPr>
              <a:t>Juveniles are periodically released to the wild</a:t>
            </a:r>
          </a:p>
          <a:p>
            <a:pPr marL="432000" indent="-228600">
              <a:spcBef>
                <a:spcPts val="1417"/>
              </a:spcBef>
              <a:buClr>
                <a:srgbClr val="000000"/>
              </a:buClr>
              <a:buSzPct val="45000"/>
              <a:buFont typeface="Arial" panose="020B0604020202020204" pitchFamily="34" charset="0"/>
              <a:buChar char="•"/>
            </a:pPr>
            <a:r>
              <a:rPr lang="en-US" sz="1400" b="0" u="none" strike="noStrike" dirty="0">
                <a:effectLst/>
                <a:uFillTx/>
                <a:latin typeface="+mn-lt"/>
                <a:ea typeface="+mn-ea"/>
                <a:cs typeface="+mn-cs"/>
              </a:rPr>
              <a:t>Estimated 2024 wild population:  369</a:t>
            </a:r>
            <a:r>
              <a:rPr lang="en-US" sz="1400" b="0" u="none" strike="noStrike" baseline="33000" dirty="0">
                <a:effectLst/>
                <a:uFillTx/>
                <a:latin typeface="+mn-lt"/>
                <a:ea typeface="+mn-ea"/>
                <a:cs typeface="+mn-cs"/>
              </a:rPr>
              <a:t>1</a:t>
            </a:r>
            <a:endParaRPr lang="en-US" sz="1400" b="0" u="none" strike="noStrike" dirty="0">
              <a:effectLst/>
              <a:uFillTx/>
              <a:latin typeface="+mn-lt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B34F5AD2-EDBD-4BBD-A55C-EAFFD0C709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92634" y="0"/>
            <a:ext cx="6987982" cy="567055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C3896A03-3945-419A-B66B-4EE266EDD1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" y="0"/>
            <a:ext cx="3096598" cy="567055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250257" y="527334"/>
            <a:ext cx="2517643" cy="4611163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indent="0"/>
            <a:r>
              <a:rPr lang="en-US" sz="3000" b="0" u="none" strike="noStrike" kern="1200" dirty="0">
                <a:solidFill>
                  <a:schemeClr val="bg1"/>
                </a:solidFill>
                <a:effectLst/>
                <a:uFillTx/>
                <a:latin typeface="Aptos" panose="020B0004020202020204" pitchFamily="34" charset="0"/>
              </a:rPr>
              <a:t>Guiding Questions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B8EAE243-3A9F-4A46-B0D9-04C723A8A1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48639" y="532050"/>
            <a:ext cx="378024" cy="37803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PlaceHolder 2"/>
          <p:cNvSpPr>
            <a:spLocks noGrp="1"/>
          </p:cNvSpPr>
          <p:nvPr>
            <p:ph/>
          </p:nvPr>
        </p:nvSpPr>
        <p:spPr>
          <a:xfrm>
            <a:off x="3848639" y="702867"/>
            <a:ext cx="5283913" cy="44045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432000" indent="-228600">
              <a:spcBef>
                <a:spcPts val="1417"/>
              </a:spcBef>
              <a:buClr>
                <a:srgbClr val="000000"/>
              </a:buClr>
              <a:buSzPct val="45000"/>
              <a:buFont typeface="Arial" panose="020B0604020202020204" pitchFamily="34" charset="0"/>
              <a:buChar char="•"/>
            </a:pPr>
            <a:r>
              <a:rPr lang="en-US" sz="2000" b="0" u="none" strike="noStrike" dirty="0">
                <a:effectLst/>
                <a:uFillTx/>
                <a:latin typeface="+mn-lt"/>
                <a:ea typeface="+mn-ea"/>
                <a:cs typeface="+mn-cs"/>
              </a:rPr>
              <a:t>In a species with low birth rates, how does a breeding program influence population growth? Does this program accomplish its goal?</a:t>
            </a:r>
          </a:p>
          <a:p>
            <a:pPr marL="432000" indent="-228600">
              <a:spcBef>
                <a:spcPts val="1417"/>
              </a:spcBef>
              <a:buClr>
                <a:srgbClr val="000000"/>
              </a:buClr>
              <a:buSzPct val="45000"/>
              <a:buFont typeface="Arial" panose="020B0604020202020204" pitchFamily="34" charset="0"/>
              <a:buChar char="•"/>
            </a:pPr>
            <a:r>
              <a:rPr lang="en-US" sz="2000" dirty="0">
                <a:latin typeface="+mn-lt"/>
                <a:ea typeface="+mn-ea"/>
                <a:cs typeface="+mn-cs"/>
              </a:rPr>
              <a:t>Condor mortality rates are difficult to estimate. Given current population statistics and varying initial conditions, can we infer true mortality rates from this model?</a:t>
            </a:r>
            <a:endParaRPr lang="en-US" sz="2000" b="0" u="none" strike="noStrike" dirty="0">
              <a:effectLst/>
              <a:uFillTx/>
              <a:latin typeface="+mn-lt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B34F5AD2-EDBD-4BBD-A55C-EAFFD0C709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92634" y="0"/>
            <a:ext cx="6987982" cy="567055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C3896A03-3945-419A-B66B-4EE266EDD1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" y="0"/>
            <a:ext cx="3096598" cy="567055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433137" y="527334"/>
            <a:ext cx="2334763" cy="4611163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indent="0"/>
            <a:r>
              <a:rPr lang="en-US" sz="2800" b="0" u="none" strike="noStrike" kern="1200" dirty="0">
                <a:solidFill>
                  <a:schemeClr val="bg1"/>
                </a:solidFill>
                <a:effectLst/>
                <a:uFillTx/>
                <a:latin typeface="Aptos" panose="020B0004020202020204" pitchFamily="34" charset="0"/>
              </a:rPr>
              <a:t>Assumptions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B8EAE243-3A9F-4A46-B0D9-04C723A8A1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48639" y="532050"/>
            <a:ext cx="378024" cy="37803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3848639" y="702867"/>
            <a:ext cx="5283913" cy="44045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432000" indent="-228600">
              <a:spcBef>
                <a:spcPts val="1417"/>
              </a:spcBef>
              <a:buClr>
                <a:srgbClr val="000000"/>
              </a:buClr>
              <a:buSzPct val="45000"/>
              <a:buFont typeface="Arial" panose="020B0604020202020204" pitchFamily="34" charset="0"/>
              <a:buChar char="•"/>
            </a:pPr>
            <a:r>
              <a:rPr lang="en-US" sz="2000" b="0" u="none" strike="noStrike" dirty="0">
                <a:effectLst/>
                <a:uFillTx/>
                <a:latin typeface="+mn-lt"/>
                <a:ea typeface="+mn-ea"/>
                <a:cs typeface="+mn-cs"/>
              </a:rPr>
              <a:t>Reproductive maturity: </a:t>
            </a:r>
            <a:r>
              <a:rPr lang="en-US" sz="2000" b="0" u="sng" strike="noStrike" dirty="0">
                <a:effectLst/>
                <a:uFillTx/>
                <a:latin typeface="+mn-lt"/>
                <a:ea typeface="+mn-ea"/>
                <a:cs typeface="+mn-cs"/>
              </a:rPr>
              <a:t>7</a:t>
            </a:r>
            <a:r>
              <a:rPr lang="en-US" sz="2000" b="0" u="none" strike="noStrike" dirty="0">
                <a:effectLst/>
                <a:uFillTx/>
                <a:latin typeface="+mn-lt"/>
                <a:ea typeface="+mn-ea"/>
                <a:cs typeface="+mn-cs"/>
              </a:rPr>
              <a:t> (captive) or </a:t>
            </a:r>
            <a:r>
              <a:rPr lang="en-US" sz="2000" b="0" u="sng" strike="noStrike" dirty="0">
                <a:effectLst/>
                <a:uFillTx/>
                <a:latin typeface="+mn-lt"/>
                <a:ea typeface="+mn-ea"/>
                <a:cs typeface="+mn-cs"/>
              </a:rPr>
              <a:t>8</a:t>
            </a:r>
            <a:r>
              <a:rPr lang="en-US" sz="2000" b="0" u="none" strike="noStrike" dirty="0">
                <a:effectLst/>
                <a:uFillTx/>
                <a:latin typeface="+mn-lt"/>
                <a:ea typeface="+mn-ea"/>
                <a:cs typeface="+mn-cs"/>
              </a:rPr>
              <a:t> (wild) years</a:t>
            </a:r>
          </a:p>
          <a:p>
            <a:pPr marL="432000" indent="-228600">
              <a:spcBef>
                <a:spcPts val="1417"/>
              </a:spcBef>
              <a:buClr>
                <a:srgbClr val="000000"/>
              </a:buClr>
              <a:buSzPct val="45000"/>
              <a:buFont typeface="Arial" panose="020B0604020202020204" pitchFamily="34" charset="0"/>
              <a:buChar char="•"/>
            </a:pPr>
            <a:r>
              <a:rPr lang="en-US" sz="2000" b="0" u="none" strike="noStrike" dirty="0">
                <a:effectLst/>
                <a:uFillTx/>
                <a:latin typeface="+mn-lt"/>
                <a:ea typeface="+mn-ea"/>
                <a:cs typeface="+mn-cs"/>
              </a:rPr>
              <a:t>Captive productivity rate: </a:t>
            </a:r>
            <a:r>
              <a:rPr lang="en-US" sz="2000" b="0" u="sng" strike="noStrike" dirty="0">
                <a:effectLst/>
                <a:uFillTx/>
                <a:latin typeface="+mn-lt"/>
                <a:ea typeface="+mn-ea"/>
                <a:cs typeface="+mn-cs"/>
              </a:rPr>
              <a:t>0.9/yr (0.8/yr with double clutching)</a:t>
            </a:r>
          </a:p>
          <a:p>
            <a:pPr marL="432000" indent="-228600">
              <a:spcBef>
                <a:spcPts val="1417"/>
              </a:spcBef>
              <a:buClr>
                <a:srgbClr val="000000"/>
              </a:buClr>
              <a:buSzPct val="45000"/>
              <a:buFont typeface="Arial" panose="020B0604020202020204" pitchFamily="34" charset="0"/>
              <a:buChar char="•"/>
            </a:pPr>
            <a:r>
              <a:rPr lang="en-US" sz="2000" b="0" u="none" strike="noStrike" dirty="0">
                <a:effectLst/>
                <a:uFillTx/>
                <a:latin typeface="+mn-lt"/>
                <a:ea typeface="+mn-ea"/>
                <a:cs typeface="+mn-cs"/>
              </a:rPr>
              <a:t>Wild productivity rate: </a:t>
            </a:r>
            <a:r>
              <a:rPr lang="en-US" sz="2000" b="0" u="sng" strike="noStrike" dirty="0">
                <a:effectLst/>
                <a:uFillTx/>
                <a:latin typeface="+mn-lt"/>
                <a:ea typeface="+mn-ea"/>
                <a:cs typeface="+mn-cs"/>
              </a:rPr>
              <a:t>0.3729/yr</a:t>
            </a:r>
            <a:endParaRPr lang="en-US" sz="2000" b="0" u="none" strike="noStrike" dirty="0">
              <a:effectLst/>
              <a:uFillTx/>
              <a:latin typeface="+mn-lt"/>
              <a:ea typeface="+mn-ea"/>
              <a:cs typeface="+mn-cs"/>
            </a:endParaRPr>
          </a:p>
          <a:p>
            <a:pPr marL="432000" indent="-228600">
              <a:spcBef>
                <a:spcPts val="1417"/>
              </a:spcBef>
              <a:buClr>
                <a:srgbClr val="000000"/>
              </a:buClr>
              <a:buSzPct val="45000"/>
              <a:buFont typeface="Arial" panose="020B0604020202020204" pitchFamily="34" charset="0"/>
              <a:buChar char="•"/>
            </a:pPr>
            <a:r>
              <a:rPr lang="en-US" sz="2000" b="0" u="sng" strike="noStrike" dirty="0">
                <a:effectLst/>
                <a:uFillTx/>
                <a:latin typeface="+mn-lt"/>
                <a:ea typeface="+mn-ea"/>
                <a:cs typeface="+mn-cs"/>
              </a:rPr>
              <a:t>Equal</a:t>
            </a:r>
            <a:r>
              <a:rPr lang="en-US" sz="2000" b="0" u="none" strike="noStrike" dirty="0">
                <a:effectLst/>
                <a:uFillTx/>
                <a:latin typeface="+mn-lt"/>
                <a:ea typeface="+mn-ea"/>
                <a:cs typeface="+mn-cs"/>
              </a:rPr>
              <a:t> male/female population</a:t>
            </a:r>
          </a:p>
          <a:p>
            <a:pPr marL="432000" indent="-228600">
              <a:spcBef>
                <a:spcPts val="1417"/>
              </a:spcBef>
              <a:buClr>
                <a:srgbClr val="000000"/>
              </a:buClr>
              <a:buSzPct val="45000"/>
              <a:buFont typeface="Arial" panose="020B0604020202020204" pitchFamily="34" charset="0"/>
              <a:buChar char="•"/>
            </a:pPr>
            <a:r>
              <a:rPr lang="en-US" sz="2000" dirty="0">
                <a:latin typeface="+mn-lt"/>
                <a:ea typeface="+mn-ea"/>
                <a:cs typeface="+mn-cs"/>
              </a:rPr>
              <a:t>All adults mate</a:t>
            </a:r>
            <a:endParaRPr lang="en-US" sz="2000" b="0" u="none" strike="noStrike" dirty="0">
              <a:effectLst/>
              <a:uFillTx/>
              <a:latin typeface="+mn-lt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>
            <a:extLst>
              <a:ext uri="{FF2B5EF4-FFF2-40B4-BE49-F238E27FC236}">
                <a16:creationId xmlns:a16="http://schemas.microsoft.com/office/drawing/2014/main" id="{B34F5AD2-EDBD-4BBD-A55C-EAFFD0C709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92634" y="0"/>
            <a:ext cx="6987982" cy="567055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C3896A03-3945-419A-B66B-4EE266EDD1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" y="0"/>
            <a:ext cx="3096598" cy="567055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B8EAE243-3A9F-4A46-B0D9-04C723A8A1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48639" y="532050"/>
            <a:ext cx="378024" cy="37803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PlaceHolder 2"/>
          <p:cNvSpPr>
            <a:spLocks noGrp="1"/>
          </p:cNvSpPr>
          <p:nvPr>
            <p:ph/>
          </p:nvPr>
        </p:nvSpPr>
        <p:spPr>
          <a:xfrm>
            <a:off x="3848639" y="702867"/>
            <a:ext cx="5283913" cy="44045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432000" indent="-228600">
              <a:spcBef>
                <a:spcPts val="1417"/>
              </a:spcBef>
              <a:buClr>
                <a:srgbClr val="000000"/>
              </a:buClr>
              <a:buSzPct val="45000"/>
              <a:buFont typeface="Arial" panose="020B0604020202020204" pitchFamily="34" charset="0"/>
              <a:buChar char="•"/>
            </a:pPr>
            <a:r>
              <a:rPr lang="en-US" sz="2000" b="0" u="none" strike="noStrike" dirty="0">
                <a:effectLst/>
                <a:uFillTx/>
                <a:latin typeface="+mn-lt"/>
                <a:ea typeface="+mn-ea"/>
                <a:cs typeface="+mn-cs"/>
              </a:rPr>
              <a:t>80% of year 1 juveniles are released each year</a:t>
            </a:r>
          </a:p>
          <a:p>
            <a:pPr marL="432000" indent="-228600">
              <a:spcBef>
                <a:spcPts val="1417"/>
              </a:spcBef>
              <a:buClr>
                <a:srgbClr val="000000"/>
              </a:buClr>
              <a:buSzPct val="45000"/>
              <a:buFont typeface="Arial" panose="020B0604020202020204" pitchFamily="34" charset="0"/>
              <a:buChar char="•"/>
            </a:pPr>
            <a:r>
              <a:rPr lang="en-US" sz="2000" dirty="0"/>
              <a:t>Captive population capacity: </a:t>
            </a:r>
            <a:r>
              <a:rPr lang="en-US" sz="2000" u="sng" dirty="0"/>
              <a:t>150</a:t>
            </a:r>
            <a:endParaRPr lang="en-US" sz="2000" dirty="0"/>
          </a:p>
          <a:p>
            <a:pPr marL="432000" indent="-228600">
              <a:spcBef>
                <a:spcPts val="1417"/>
              </a:spcBef>
              <a:buClr>
                <a:srgbClr val="000000"/>
              </a:buClr>
              <a:buSzPct val="45000"/>
              <a:buFont typeface="Arial" panose="020B0604020202020204" pitchFamily="34" charset="0"/>
              <a:buChar char="•"/>
            </a:pPr>
            <a:r>
              <a:rPr lang="en-US" sz="2000" dirty="0"/>
              <a:t>Wild population capacity: </a:t>
            </a:r>
            <a:r>
              <a:rPr lang="en-US" sz="2000" u="sng" dirty="0"/>
              <a:t>400</a:t>
            </a:r>
            <a:endParaRPr lang="en-US" sz="2000" b="0" u="none" strike="noStrike" dirty="0">
              <a:effectLst/>
              <a:uFillTx/>
              <a:latin typeface="+mn-lt"/>
              <a:ea typeface="+mn-ea"/>
              <a:cs typeface="+mn-cs"/>
            </a:endParaRPr>
          </a:p>
          <a:p>
            <a:pPr marL="432000" indent="-228600">
              <a:spcBef>
                <a:spcPts val="1417"/>
              </a:spcBef>
              <a:buClr>
                <a:srgbClr val="000000"/>
              </a:buClr>
              <a:buSzPct val="45000"/>
              <a:buFont typeface="Arial" panose="020B0604020202020204" pitchFamily="34" charset="0"/>
              <a:buChar char="•"/>
            </a:pPr>
            <a:r>
              <a:rPr lang="en-US" sz="2000" b="0" u="none" strike="noStrike" dirty="0">
                <a:effectLst/>
                <a:uFillTx/>
                <a:latin typeface="+mn-lt"/>
                <a:ea typeface="+mn-ea"/>
                <a:cs typeface="+mn-cs"/>
              </a:rPr>
              <a:t>If captive capacity exceeds 150, release all juveniles to the wild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DA6F36F-53D3-88F5-E844-6B973B9216C0}"/>
              </a:ext>
            </a:extLst>
          </p:cNvPr>
          <p:cNvSpPr txBox="1"/>
          <p:nvPr/>
        </p:nvSpPr>
        <p:spPr>
          <a:xfrm>
            <a:off x="350642" y="441257"/>
            <a:ext cx="239533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b="0" u="none" strike="noStrike" kern="1200" dirty="0">
                <a:solidFill>
                  <a:schemeClr val="bg1"/>
                </a:solidFill>
                <a:effectLst/>
                <a:uFillTx/>
                <a:latin typeface="Aptos" panose="020B0004020202020204" pitchFamily="34" charset="0"/>
              </a:rPr>
              <a:t>Assumptions</a:t>
            </a:r>
            <a:endParaRPr lang="en-US" sz="2800" dirty="0">
              <a:latin typeface="Aptos" panose="020B0004020202020204" pitchFamily="34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Rectangle 27">
            <a:extLst>
              <a:ext uri="{FF2B5EF4-FFF2-40B4-BE49-F238E27FC236}">
                <a16:creationId xmlns:a16="http://schemas.microsoft.com/office/drawing/2014/main" id="{B34F5AD2-EDBD-4BBD-A55C-EAFFD0C709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92634" y="0"/>
            <a:ext cx="6987982" cy="567055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C3896A03-3945-419A-B66B-4EE266EDD1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" y="0"/>
            <a:ext cx="3096598" cy="567055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365760" y="527334"/>
            <a:ext cx="2402140" cy="4611163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indent="0"/>
            <a:r>
              <a:rPr lang="en-US" sz="2800" b="0" u="none" strike="noStrike" kern="1200" dirty="0">
                <a:solidFill>
                  <a:schemeClr val="bg1"/>
                </a:solidFill>
                <a:effectLst/>
                <a:uFillTx/>
                <a:latin typeface="Aptos" panose="020B0004020202020204" pitchFamily="34" charset="0"/>
              </a:rPr>
              <a:t>Initial Conditions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B8EAE243-3A9F-4A46-B0D9-04C723A8A1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48639" y="532050"/>
            <a:ext cx="378024" cy="37803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3848639" y="702867"/>
            <a:ext cx="5283913" cy="44045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203400">
              <a:spcBef>
                <a:spcPts val="1417"/>
              </a:spcBef>
              <a:buClr>
                <a:srgbClr val="000000"/>
              </a:buClr>
              <a:buSzPct val="45000"/>
            </a:pPr>
            <a:r>
              <a:rPr lang="en-US" sz="2000" dirty="0"/>
              <a:t>1987 captive condor population</a:t>
            </a:r>
          </a:p>
          <a:p>
            <a:pPr marL="546300" indent="-342900">
              <a:spcBef>
                <a:spcPts val="1417"/>
              </a:spcBef>
              <a:buClr>
                <a:srgbClr val="000000"/>
              </a:buClr>
              <a:buSzPct val="45000"/>
              <a:buFont typeface="Arial" panose="020B0604020202020204" pitchFamily="34" charset="0"/>
              <a:buChar char="•"/>
            </a:pPr>
            <a:r>
              <a:rPr lang="en-US" sz="2000" u="sng" dirty="0"/>
              <a:t>22</a:t>
            </a:r>
            <a:r>
              <a:rPr lang="en-US" sz="2000" dirty="0"/>
              <a:t> adults</a:t>
            </a:r>
          </a:p>
          <a:p>
            <a:pPr marL="203400">
              <a:spcBef>
                <a:spcPts val="1417"/>
              </a:spcBef>
              <a:buClr>
                <a:srgbClr val="000000"/>
              </a:buClr>
              <a:buSzPct val="45000"/>
            </a:pPr>
            <a:r>
              <a:rPr lang="en-US" sz="2000" b="0" u="none" strike="noStrike" dirty="0">
                <a:effectLst/>
                <a:uFillTx/>
                <a:latin typeface="+mn-lt"/>
                <a:ea typeface="+mn-ea"/>
                <a:cs typeface="+mn-cs"/>
              </a:rPr>
              <a:t>2022 captive Condor population</a:t>
            </a:r>
          </a:p>
          <a:p>
            <a:pPr marL="432000" indent="-228600">
              <a:spcBef>
                <a:spcPts val="1417"/>
              </a:spcBef>
              <a:buClr>
                <a:srgbClr val="000000"/>
              </a:buClr>
              <a:buSzPct val="45000"/>
              <a:buFont typeface="Arial" panose="020B0604020202020204" pitchFamily="34" charset="0"/>
              <a:buChar char="•"/>
            </a:pPr>
            <a:r>
              <a:rPr lang="en-US" sz="2000" b="0" u="sng" strike="noStrike" dirty="0">
                <a:effectLst/>
                <a:uFillTx/>
                <a:latin typeface="+mn-lt"/>
                <a:ea typeface="+mn-ea"/>
                <a:cs typeface="+mn-cs"/>
              </a:rPr>
              <a:t>44</a:t>
            </a:r>
            <a:r>
              <a:rPr lang="en-US" sz="2000" b="0" u="none" strike="noStrike" dirty="0">
                <a:effectLst/>
                <a:uFillTx/>
                <a:latin typeface="+mn-lt"/>
                <a:ea typeface="+mn-ea"/>
                <a:cs typeface="+mn-cs"/>
              </a:rPr>
              <a:t> hatchlings</a:t>
            </a:r>
          </a:p>
          <a:p>
            <a:pPr marL="432000" indent="-228600">
              <a:spcBef>
                <a:spcPts val="1417"/>
              </a:spcBef>
              <a:buClr>
                <a:srgbClr val="000000"/>
              </a:buClr>
              <a:buSzPct val="45000"/>
              <a:buFont typeface="Arial" panose="020B0604020202020204" pitchFamily="34" charset="0"/>
              <a:buChar char="•"/>
            </a:pPr>
            <a:r>
              <a:rPr lang="en-US" sz="2000" b="0" u="sng" strike="noStrike" dirty="0">
                <a:effectLst/>
                <a:uFillTx/>
                <a:latin typeface="+mn-lt"/>
                <a:ea typeface="+mn-ea"/>
                <a:cs typeface="+mn-cs"/>
              </a:rPr>
              <a:t>39</a:t>
            </a:r>
            <a:r>
              <a:rPr lang="en-US" sz="2000" b="0" u="none" strike="noStrike" dirty="0">
                <a:effectLst/>
                <a:uFillTx/>
                <a:latin typeface="+mn-lt"/>
                <a:ea typeface="+mn-ea"/>
                <a:cs typeface="+mn-cs"/>
              </a:rPr>
              <a:t> 1y/o</a:t>
            </a:r>
          </a:p>
          <a:p>
            <a:pPr marL="432000" indent="-228600">
              <a:spcBef>
                <a:spcPts val="1417"/>
              </a:spcBef>
              <a:buClr>
                <a:srgbClr val="000000"/>
              </a:buClr>
              <a:buSzPct val="45000"/>
              <a:buFont typeface="Arial" panose="020B0604020202020204" pitchFamily="34" charset="0"/>
              <a:buChar char="•"/>
            </a:pPr>
            <a:r>
              <a:rPr lang="en-US" sz="2000" b="0" u="sng" strike="noStrike" dirty="0">
                <a:effectLst/>
                <a:uFillTx/>
                <a:latin typeface="+mn-lt"/>
                <a:ea typeface="+mn-ea"/>
                <a:cs typeface="+mn-cs"/>
              </a:rPr>
              <a:t>45</a:t>
            </a:r>
            <a:r>
              <a:rPr lang="en-US" sz="2000" b="0" u="none" strike="noStrike" dirty="0">
                <a:effectLst/>
                <a:uFillTx/>
                <a:latin typeface="+mn-lt"/>
                <a:ea typeface="+mn-ea"/>
                <a:cs typeface="+mn-cs"/>
              </a:rPr>
              <a:t> 2-7y/o, distributed evenly</a:t>
            </a:r>
          </a:p>
          <a:p>
            <a:pPr marL="432000" indent="-228600">
              <a:spcBef>
                <a:spcPts val="1417"/>
              </a:spcBef>
              <a:buClr>
                <a:srgbClr val="000000"/>
              </a:buClr>
              <a:buSzPct val="45000"/>
              <a:buFont typeface="Arial" panose="020B0604020202020204" pitchFamily="34" charset="0"/>
              <a:buChar char="•"/>
            </a:pPr>
            <a:r>
              <a:rPr lang="en-US" sz="2000" b="0" u="sng" strike="noStrike" dirty="0">
                <a:effectLst/>
                <a:uFillTx/>
                <a:latin typeface="+mn-lt"/>
                <a:ea typeface="+mn-ea"/>
                <a:cs typeface="+mn-cs"/>
              </a:rPr>
              <a:t>86</a:t>
            </a:r>
            <a:r>
              <a:rPr lang="en-US" sz="2000" b="0" u="none" strike="noStrike" dirty="0">
                <a:effectLst/>
                <a:uFillTx/>
                <a:latin typeface="+mn-lt"/>
                <a:ea typeface="+mn-ea"/>
                <a:cs typeface="+mn-cs"/>
              </a:rPr>
              <a:t> adults</a:t>
            </a:r>
          </a:p>
          <a:p>
            <a:pPr marL="432000" indent="-228600">
              <a:spcBef>
                <a:spcPts val="1417"/>
              </a:spcBef>
              <a:buClr>
                <a:srgbClr val="000000"/>
              </a:buClr>
              <a:buSzPct val="45000"/>
              <a:buFont typeface="Arial" panose="020B0604020202020204" pitchFamily="34" charset="0"/>
              <a:buChar char="•"/>
            </a:pPr>
            <a:r>
              <a:rPr lang="en-US" sz="2000" b="0" u="sng" strike="noStrike" dirty="0">
                <a:effectLst/>
                <a:uFillTx/>
                <a:latin typeface="+mn-lt"/>
                <a:ea typeface="+mn-ea"/>
                <a:cs typeface="+mn-cs"/>
              </a:rPr>
              <a:t>214</a:t>
            </a:r>
            <a:r>
              <a:rPr lang="en-US" sz="2000" b="0" u="none" strike="noStrike" dirty="0">
                <a:effectLst/>
                <a:uFillTx/>
                <a:latin typeface="+mn-lt"/>
                <a:ea typeface="+mn-ea"/>
                <a:cs typeface="+mn-cs"/>
              </a:rPr>
              <a:t> total</a:t>
            </a:r>
          </a:p>
          <a:p>
            <a:pPr marL="432000" indent="-228600">
              <a:spcBef>
                <a:spcPts val="1417"/>
              </a:spcBef>
              <a:buClr>
                <a:srgbClr val="000000"/>
              </a:buClr>
              <a:buSzPct val="45000"/>
              <a:buFont typeface="Arial" panose="020B0604020202020204" pitchFamily="34" charset="0"/>
              <a:buChar char="•"/>
            </a:pPr>
            <a:r>
              <a:rPr lang="en-US" sz="2000" b="0" u="sng" strike="noStrike" dirty="0">
                <a:effectLst/>
                <a:uFillTx/>
                <a:latin typeface="+mn-lt"/>
                <a:ea typeface="+mn-ea"/>
                <a:cs typeface="+mn-cs"/>
              </a:rPr>
              <a:t>0</a:t>
            </a:r>
            <a:r>
              <a:rPr lang="en-US" sz="2000" b="0" u="none" strike="noStrike" dirty="0">
                <a:effectLst/>
                <a:uFillTx/>
                <a:latin typeface="+mn-lt"/>
                <a:ea typeface="+mn-ea"/>
                <a:cs typeface="+mn-cs"/>
              </a:rPr>
              <a:t> wild Condors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E51BA4DF-2BD4-4EC2-B1DB-B27C8AC718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0078104" cy="567055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3519FCF-5917-29CA-BAB1-D9E1DCF4CA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1666" y="302848"/>
            <a:ext cx="5621190" cy="784993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3300" dirty="0">
                <a:latin typeface="Aptos" panose="020B0004020202020204" pitchFamily="34" charset="0"/>
              </a:rPr>
              <a:t>Model Diagram</a:t>
            </a:r>
          </a:p>
        </p:txBody>
      </p:sp>
      <p:pic>
        <p:nvPicPr>
          <p:cNvPr id="5" name="Picture 4" descr="A diagram of a diagram&#10;&#10;AI-generated content may be incorrect.">
            <a:extLst>
              <a:ext uri="{FF2B5EF4-FFF2-40B4-BE49-F238E27FC236}">
                <a16:creationId xmlns:a16="http://schemas.microsoft.com/office/drawing/2014/main" id="{78C48DBE-9683-AF1D-788D-E7082DABBB0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2852" y="1087841"/>
            <a:ext cx="7772400" cy="4371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439598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Rectangle 52">
            <a:extLst>
              <a:ext uri="{FF2B5EF4-FFF2-40B4-BE49-F238E27FC236}">
                <a16:creationId xmlns:a16="http://schemas.microsoft.com/office/drawing/2014/main" id="{B34F5AD2-EDBD-4BBD-A55C-EAFFD0C709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92634" y="0"/>
            <a:ext cx="6987982" cy="567055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C3896A03-3945-419A-B66B-4EE266EDD1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" y="0"/>
            <a:ext cx="3096598" cy="567055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PlaceHolder 1"/>
          <p:cNvSpPr>
            <a:spLocks noGrp="1"/>
          </p:cNvSpPr>
          <p:nvPr>
            <p:ph type="title"/>
          </p:nvPr>
        </p:nvSpPr>
        <p:spPr>
          <a:xfrm>
            <a:off x="956511" y="527334"/>
            <a:ext cx="1811389" cy="4611163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indent="0"/>
            <a:r>
              <a:rPr lang="en-US" sz="3000" b="0" u="none" strike="noStrike" kern="1200">
                <a:solidFill>
                  <a:schemeClr val="bg1"/>
                </a:solidFill>
                <a:effectLst/>
                <a:uFillTx/>
                <a:latin typeface="+mj-lt"/>
                <a:ea typeface="+mj-ea"/>
                <a:cs typeface="+mj-cs"/>
              </a:rPr>
              <a:t>Methods</a:t>
            </a:r>
          </a:p>
        </p:txBody>
      </p:sp>
      <p:graphicFrame>
        <p:nvGraphicFramePr>
          <p:cNvPr id="49" name="PlaceHolder 2">
            <a:extLst>
              <a:ext uri="{FF2B5EF4-FFF2-40B4-BE49-F238E27FC236}">
                <a16:creationId xmlns:a16="http://schemas.microsoft.com/office/drawing/2014/main" id="{E519D3E0-E1A6-3E1D-5076-F6E32EC5105A}"/>
              </a:ext>
            </a:extLst>
          </p:cNvPr>
          <p:cNvGraphicFramePr>
            <a:graphicFrameLocks noGrp="1"/>
          </p:cNvGraphicFramePr>
          <p:nvPr>
            <p:ph/>
            <p:extLst>
              <p:ext uri="{D42A27DB-BD31-4B8C-83A1-F6EECF244321}">
                <p14:modId xmlns:p14="http://schemas.microsoft.com/office/powerpoint/2010/main" val="3621938641"/>
              </p:ext>
            </p:extLst>
          </p:nvPr>
        </p:nvGraphicFramePr>
        <p:xfrm>
          <a:off x="3843793" y="527334"/>
          <a:ext cx="5288759" cy="461116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Simulation Results</a:t>
            </a:r>
          </a:p>
        </p:txBody>
      </p:sp>
      <p:sp>
        <p:nvSpPr>
          <p:cNvPr id="42" name="PlaceHolder 2"/>
          <p:cNvSpPr>
            <a:spLocks noGrp="1"/>
          </p:cNvSpPr>
          <p:nvPr>
            <p:ph/>
          </p:nvPr>
        </p:nvSpPr>
        <p:spPr>
          <a:xfrm>
            <a:off x="503999" y="1326600"/>
            <a:ext cx="8788281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9999"/>
          </a:bodyPr>
          <a:lstStyle/>
          <a:p>
            <a:pPr marL="108000">
              <a:spcBef>
                <a:spcPts val="1417"/>
              </a:spcBef>
              <a:buClr>
                <a:srgbClr val="000000"/>
              </a:buClr>
              <a:buSzPct val="45000"/>
            </a:pP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Assume captive and wild mortality rates of M</a:t>
            </a:r>
            <a:r>
              <a:rPr lang="en-US" sz="2000" b="0" u="none" strike="noStrike" baseline="-8000" dirty="0">
                <a:solidFill>
                  <a:srgbClr val="000000"/>
                </a:solidFill>
                <a:effectLst/>
                <a:uFillTx/>
                <a:latin typeface="Arial"/>
              </a:rPr>
              <a:t>y1 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= 8.6%, M</a:t>
            </a:r>
            <a:r>
              <a:rPr lang="en-US" sz="2000" b="0" u="none" strike="noStrike" baseline="-8000" dirty="0">
                <a:solidFill>
                  <a:srgbClr val="000000"/>
                </a:solidFill>
                <a:effectLst/>
                <a:uFillTx/>
                <a:latin typeface="Arial"/>
              </a:rPr>
              <a:t>i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= 8.6%, M</a:t>
            </a:r>
            <a:r>
              <a:rPr lang="en-US" sz="2000" b="0" u="none" strike="noStrike" baseline="-8000" dirty="0">
                <a:solidFill>
                  <a:srgbClr val="000000"/>
                </a:solidFill>
                <a:effectLst/>
                <a:uFillTx/>
                <a:latin typeface="Arial"/>
              </a:rPr>
              <a:t>a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= 8.6%</a:t>
            </a:r>
          </a:p>
        </p:txBody>
      </p:sp>
      <p:pic>
        <p:nvPicPr>
          <p:cNvPr id="3" name="Picture 2" descr="A graph of different colored lines&#10;&#10;AI-generated content may be incorrect.">
            <a:extLst>
              <a:ext uri="{FF2B5EF4-FFF2-40B4-BE49-F238E27FC236}">
                <a16:creationId xmlns:a16="http://schemas.microsoft.com/office/drawing/2014/main" id="{8D6FC330-E5C3-07C3-F209-878777F5A71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40312" y="2079109"/>
            <a:ext cx="4931592" cy="2957161"/>
          </a:xfrm>
          <a:prstGeom prst="rect">
            <a:avLst/>
          </a:prstGeom>
        </p:spPr>
      </p:pic>
      <p:pic>
        <p:nvPicPr>
          <p:cNvPr id="9" name="Picture 8" descr="A graph of different colored lines&#10;&#10;AI-generated content may be incorrect.">
            <a:extLst>
              <a:ext uri="{FF2B5EF4-FFF2-40B4-BE49-F238E27FC236}">
                <a16:creationId xmlns:a16="http://schemas.microsoft.com/office/drawing/2014/main" id="{118B156A-159E-94EA-7470-818DF0D1E60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685" y="2079110"/>
            <a:ext cx="4939135" cy="295716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Simulation Results</a:t>
            </a:r>
          </a:p>
        </p:txBody>
      </p:sp>
      <p:sp>
        <p:nvSpPr>
          <p:cNvPr id="45" name="PlaceHolder 2"/>
          <p:cNvSpPr>
            <a:spLocks noGrp="1"/>
          </p:cNvSpPr>
          <p:nvPr>
            <p:ph/>
          </p:nvPr>
        </p:nvSpPr>
        <p:spPr>
          <a:xfrm>
            <a:off x="288758" y="1326600"/>
            <a:ext cx="8731674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9999"/>
          </a:bodyPr>
          <a:lstStyle/>
          <a:p>
            <a:pPr marL="108000">
              <a:spcBef>
                <a:spcPts val="1417"/>
              </a:spcBef>
              <a:buClr>
                <a:srgbClr val="000000"/>
              </a:buClr>
              <a:buSzPct val="45000"/>
            </a:pPr>
            <a:r>
              <a:rPr lang="en-US" sz="2000" dirty="0">
                <a:solidFill>
                  <a:srgbClr val="000000"/>
                </a:solidFill>
              </a:rPr>
              <a:t>Assume captive and wild mortality rates of M</a:t>
            </a:r>
            <a:r>
              <a:rPr lang="en-US" sz="2000" b="0" u="none" strike="noStrike" baseline="-8000" dirty="0">
                <a:solidFill>
                  <a:srgbClr val="000000"/>
                </a:solidFill>
                <a:effectLst/>
                <a:uFillTx/>
                <a:latin typeface="Arial"/>
              </a:rPr>
              <a:t>y1 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= 13.8%, M</a:t>
            </a:r>
            <a:r>
              <a:rPr lang="en-US" sz="2000" b="0" u="none" strike="noStrike" baseline="-8000" dirty="0">
                <a:solidFill>
                  <a:srgbClr val="000000"/>
                </a:solidFill>
                <a:effectLst/>
                <a:uFillTx/>
                <a:latin typeface="Arial"/>
              </a:rPr>
              <a:t>i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= 13.8%, M</a:t>
            </a:r>
            <a:r>
              <a:rPr lang="en-US" sz="2000" b="0" u="none" strike="noStrike" baseline="-8000" dirty="0">
                <a:solidFill>
                  <a:srgbClr val="000000"/>
                </a:solidFill>
                <a:effectLst/>
                <a:uFillTx/>
                <a:latin typeface="Arial"/>
              </a:rPr>
              <a:t>a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= 6.9%</a:t>
            </a:r>
          </a:p>
        </p:txBody>
      </p:sp>
      <p:pic>
        <p:nvPicPr>
          <p:cNvPr id="3" name="Picture 2" descr="A graph of different colored lines&#10;&#10;AI-generated content may be incorrect.">
            <a:extLst>
              <a:ext uri="{FF2B5EF4-FFF2-40B4-BE49-F238E27FC236}">
                <a16:creationId xmlns:a16="http://schemas.microsoft.com/office/drawing/2014/main" id="{246D418D-417B-AF13-ED90-777ED417139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620" y="1892496"/>
            <a:ext cx="4995200" cy="300078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351EECE-3747-F217-FA99-A6C93E46E77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40312" y="1899607"/>
            <a:ext cx="4990965" cy="2993669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Simulation Results</a:t>
            </a:r>
          </a:p>
        </p:txBody>
      </p:sp>
      <p:sp>
        <p:nvSpPr>
          <p:cNvPr id="48" name="PlaceHolder 2"/>
          <p:cNvSpPr>
            <a:spLocks noGrp="1"/>
          </p:cNvSpPr>
          <p:nvPr>
            <p:ph/>
          </p:nvPr>
        </p:nvSpPr>
        <p:spPr>
          <a:xfrm>
            <a:off x="134755" y="1326600"/>
            <a:ext cx="8898034" cy="403346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lnSpcReduction="9999"/>
          </a:bodyPr>
          <a:lstStyle/>
          <a:p>
            <a:pPr marL="108000">
              <a:spcBef>
                <a:spcPts val="1417"/>
              </a:spcBef>
              <a:buClr>
                <a:srgbClr val="000000"/>
              </a:buClr>
              <a:buSzPct val="45000"/>
            </a:pPr>
            <a:r>
              <a:rPr lang="en-US" sz="2000" dirty="0">
                <a:solidFill>
                  <a:srgbClr val="000000"/>
                </a:solidFill>
              </a:rPr>
              <a:t>Assume captive and wild mortality rates of M</a:t>
            </a:r>
            <a:r>
              <a:rPr lang="en-US" sz="2000" b="0" u="none" strike="noStrike" baseline="-8000" dirty="0">
                <a:solidFill>
                  <a:srgbClr val="000000"/>
                </a:solidFill>
                <a:effectLst/>
                <a:uFillTx/>
                <a:latin typeface="Arial"/>
              </a:rPr>
              <a:t>y1 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= 65.9%, M</a:t>
            </a:r>
            <a:r>
              <a:rPr lang="en-US" sz="2000" b="0" u="none" strike="noStrike" baseline="-8000" dirty="0">
                <a:solidFill>
                  <a:srgbClr val="000000"/>
                </a:solidFill>
                <a:effectLst/>
                <a:uFillTx/>
                <a:latin typeface="Arial"/>
              </a:rPr>
              <a:t>i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= 8.6%, M</a:t>
            </a:r>
            <a:r>
              <a:rPr lang="en-US" sz="2000" b="0" u="none" strike="noStrike" baseline="-8000" dirty="0">
                <a:solidFill>
                  <a:srgbClr val="000000"/>
                </a:solidFill>
                <a:effectLst/>
                <a:uFillTx/>
                <a:latin typeface="Arial"/>
              </a:rPr>
              <a:t>a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= 8.6%</a:t>
            </a:r>
          </a:p>
        </p:txBody>
      </p:sp>
      <p:pic>
        <p:nvPicPr>
          <p:cNvPr id="3" name="Picture 2" descr="A graph of different colored lines&#10;&#10;AI-generated content may be incorrect.">
            <a:extLst>
              <a:ext uri="{FF2B5EF4-FFF2-40B4-BE49-F238E27FC236}">
                <a16:creationId xmlns:a16="http://schemas.microsoft.com/office/drawing/2014/main" id="{6BB40046-B35A-C469-C023-F9895BC1950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9794" y="2038105"/>
            <a:ext cx="4537557" cy="2986843"/>
          </a:xfrm>
          <a:prstGeom prst="rect">
            <a:avLst/>
          </a:prstGeom>
        </p:spPr>
      </p:pic>
      <p:pic>
        <p:nvPicPr>
          <p:cNvPr id="5" name="Picture 4" descr="A graph of different colored lines&#10;&#10;AI-generated content may be incorrect.">
            <a:extLst>
              <a:ext uri="{FF2B5EF4-FFF2-40B4-BE49-F238E27FC236}">
                <a16:creationId xmlns:a16="http://schemas.microsoft.com/office/drawing/2014/main" id="{A6CC8AD0-E7A2-A807-9D52-BF2DBFB58AF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40312" y="2038104"/>
            <a:ext cx="4537558" cy="2986844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011269-82DC-FBA4-7D68-A368158B66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PlaceHolder 1">
            <a:extLst>
              <a:ext uri="{FF2B5EF4-FFF2-40B4-BE49-F238E27FC236}">
                <a16:creationId xmlns:a16="http://schemas.microsoft.com/office/drawing/2014/main" id="{C5B8599E-2E43-DE3D-01DB-3DDD5CCD69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Simulation Results</a:t>
            </a:r>
          </a:p>
        </p:txBody>
      </p:sp>
      <p:sp>
        <p:nvSpPr>
          <p:cNvPr id="48" name="PlaceHolder 2">
            <a:extLst>
              <a:ext uri="{FF2B5EF4-FFF2-40B4-BE49-F238E27FC236}">
                <a16:creationId xmlns:a16="http://schemas.microsoft.com/office/drawing/2014/main" id="{9CDFF5A1-0E70-E686-622B-F4E71A132459}"/>
              </a:ext>
            </a:extLst>
          </p:cNvPr>
          <p:cNvSpPr>
            <a:spLocks noGrp="1"/>
          </p:cNvSpPr>
          <p:nvPr>
            <p:ph/>
          </p:nvPr>
        </p:nvSpPr>
        <p:spPr>
          <a:xfrm>
            <a:off x="503999" y="1326600"/>
            <a:ext cx="3351309" cy="403346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lnSpcReduction="9999"/>
          </a:bodyPr>
          <a:lstStyle/>
          <a:p>
            <a:pPr marL="108000">
              <a:spcBef>
                <a:spcPts val="1417"/>
              </a:spcBef>
              <a:buClr>
                <a:srgbClr val="000000"/>
              </a:buClr>
              <a:buSzPct val="45000"/>
            </a:pP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Wild: </a:t>
            </a: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M</a:t>
            </a:r>
            <a:r>
              <a:rPr lang="en-US" sz="2000" b="0" u="none" strike="noStrike" baseline="-8000" dirty="0">
                <a:solidFill>
                  <a:srgbClr val="000000"/>
                </a:solidFill>
                <a:effectLst/>
                <a:uFillTx/>
                <a:latin typeface="Arial"/>
              </a:rPr>
              <a:t>y1 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= 65.9%, </a:t>
            </a: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M</a:t>
            </a:r>
            <a:r>
              <a:rPr lang="en-US" sz="2000" b="0" u="none" strike="noStrike" baseline="-8000" dirty="0">
                <a:solidFill>
                  <a:srgbClr val="000000"/>
                </a:solidFill>
                <a:effectLst/>
                <a:uFillTx/>
                <a:latin typeface="Arial"/>
              </a:rPr>
              <a:t>i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= </a:t>
            </a:r>
            <a:r>
              <a:rPr lang="en-US" sz="2000" dirty="0">
                <a:solidFill>
                  <a:srgbClr val="000000"/>
                </a:solidFill>
                <a:latin typeface="Arial"/>
              </a:rPr>
              <a:t>9.9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%, </a:t>
            </a: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M</a:t>
            </a:r>
            <a:r>
              <a:rPr lang="en-US" sz="2000" b="0" u="none" strike="noStrike" baseline="-8000" dirty="0">
                <a:solidFill>
                  <a:srgbClr val="000000"/>
                </a:solidFill>
                <a:effectLst/>
                <a:uFillTx/>
                <a:latin typeface="Arial"/>
              </a:rPr>
              <a:t>a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= 8.6%</a:t>
            </a:r>
          </a:p>
          <a:p>
            <a:pPr marL="108000">
              <a:spcBef>
                <a:spcPts val="1417"/>
              </a:spcBef>
              <a:buClr>
                <a:srgbClr val="000000"/>
              </a:buClr>
              <a:buSzPct val="45000"/>
            </a:pPr>
            <a:r>
              <a:rPr lang="en-US" sz="2000" dirty="0">
                <a:solidFill>
                  <a:srgbClr val="000000"/>
                </a:solidFill>
                <a:latin typeface="Arial"/>
              </a:rPr>
              <a:t>Captive: </a:t>
            </a: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dirty="0">
                <a:solidFill>
                  <a:srgbClr val="000000"/>
                </a:solidFill>
              </a:rPr>
              <a:t>M</a:t>
            </a:r>
            <a:r>
              <a:rPr lang="en-US" sz="2000" baseline="-8000" dirty="0">
                <a:solidFill>
                  <a:srgbClr val="000000"/>
                </a:solidFill>
              </a:rPr>
              <a:t>y1 </a:t>
            </a:r>
            <a:r>
              <a:rPr lang="en-US" sz="2000" dirty="0">
                <a:solidFill>
                  <a:srgbClr val="000000"/>
                </a:solidFill>
              </a:rPr>
              <a:t>= 8.6%, </a:t>
            </a: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dirty="0">
                <a:solidFill>
                  <a:srgbClr val="000000"/>
                </a:solidFill>
              </a:rPr>
              <a:t>M</a:t>
            </a:r>
            <a:r>
              <a:rPr lang="en-US" sz="2000" baseline="-8000" dirty="0">
                <a:solidFill>
                  <a:srgbClr val="000000"/>
                </a:solidFill>
              </a:rPr>
              <a:t>i</a:t>
            </a:r>
            <a:r>
              <a:rPr lang="en-US" sz="2000" dirty="0">
                <a:solidFill>
                  <a:srgbClr val="000000"/>
                </a:solidFill>
              </a:rPr>
              <a:t> = 8.6%, </a:t>
            </a: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dirty="0">
                <a:solidFill>
                  <a:srgbClr val="000000"/>
                </a:solidFill>
              </a:rPr>
              <a:t>M</a:t>
            </a:r>
            <a:r>
              <a:rPr lang="en-US" sz="2000" baseline="-8000" dirty="0">
                <a:solidFill>
                  <a:srgbClr val="000000"/>
                </a:solidFill>
              </a:rPr>
              <a:t>a</a:t>
            </a:r>
            <a:r>
              <a:rPr lang="en-US" sz="2000" dirty="0">
                <a:solidFill>
                  <a:srgbClr val="000000"/>
                </a:solidFill>
              </a:rPr>
              <a:t> = 8.6%</a:t>
            </a:r>
          </a:p>
          <a:p>
            <a:pPr marL="108000">
              <a:spcBef>
                <a:spcPts val="1417"/>
              </a:spcBef>
              <a:buClr>
                <a:srgbClr val="000000"/>
              </a:buClr>
              <a:buSzPct val="45000"/>
            </a:pPr>
            <a:r>
              <a:rPr lang="en-US" sz="2000" dirty="0">
                <a:solidFill>
                  <a:srgbClr val="000000"/>
                </a:solidFill>
                <a:latin typeface="Arial"/>
              </a:rPr>
              <a:t>22 Adults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" name="Picture 3" descr="A graph of different colored lines&#10;&#10;AI-generated content may be incorrect.">
            <a:extLst>
              <a:ext uri="{FF2B5EF4-FFF2-40B4-BE49-F238E27FC236}">
                <a16:creationId xmlns:a16="http://schemas.microsoft.com/office/drawing/2014/main" id="{1F36FE4D-ED19-4DD1-D8B0-3BA04397726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26736" y="1086022"/>
            <a:ext cx="6373318" cy="4195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620887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Simulation Results</a:t>
            </a:r>
          </a:p>
        </p:txBody>
      </p:sp>
      <p:sp>
        <p:nvSpPr>
          <p:cNvPr id="51" name="PlaceHolder 2"/>
          <p:cNvSpPr>
            <a:spLocks noGrp="1"/>
          </p:cNvSpPr>
          <p:nvPr>
            <p:ph/>
          </p:nvPr>
        </p:nvSpPr>
        <p:spPr>
          <a:xfrm>
            <a:off x="77002" y="1326600"/>
            <a:ext cx="9388274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9999"/>
          </a:bodyPr>
          <a:lstStyle/>
          <a:p>
            <a:pPr marL="108000">
              <a:spcBef>
                <a:spcPts val="1417"/>
              </a:spcBef>
              <a:buClr>
                <a:srgbClr val="000000"/>
              </a:buClr>
              <a:buSzPct val="45000"/>
            </a:pPr>
            <a:r>
              <a:rPr lang="en-US" sz="2000" dirty="0">
                <a:solidFill>
                  <a:srgbClr val="000000"/>
                </a:solidFill>
              </a:rPr>
              <a:t>Assume captive and wild mortality rates of M</a:t>
            </a:r>
            <a:r>
              <a:rPr lang="en-US" sz="2000" b="0" u="none" strike="noStrike" baseline="-8000" dirty="0">
                <a:solidFill>
                  <a:srgbClr val="000000"/>
                </a:solidFill>
                <a:effectLst/>
                <a:uFillTx/>
                <a:latin typeface="Arial"/>
              </a:rPr>
              <a:t>y1 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= 65.9%, M</a:t>
            </a:r>
            <a:r>
              <a:rPr lang="en-US" sz="2000" b="0" u="none" strike="noStrike" baseline="-8000" dirty="0">
                <a:solidFill>
                  <a:srgbClr val="000000"/>
                </a:solidFill>
                <a:effectLst/>
                <a:uFillTx/>
                <a:latin typeface="Arial"/>
              </a:rPr>
              <a:t>i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= 13.8%, M</a:t>
            </a:r>
            <a:r>
              <a:rPr lang="en-US" sz="2000" b="0" u="none" strike="noStrike" baseline="-8000" dirty="0">
                <a:solidFill>
                  <a:srgbClr val="000000"/>
                </a:solidFill>
                <a:effectLst/>
                <a:uFillTx/>
                <a:latin typeface="Arial"/>
              </a:rPr>
              <a:t>a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= 6.9%</a:t>
            </a:r>
          </a:p>
        </p:txBody>
      </p:sp>
      <p:pic>
        <p:nvPicPr>
          <p:cNvPr id="3" name="Picture 2" descr="A graph of different colored lines&#10;&#10;AI-generated content may be incorrect.">
            <a:extLst>
              <a:ext uri="{FF2B5EF4-FFF2-40B4-BE49-F238E27FC236}">
                <a16:creationId xmlns:a16="http://schemas.microsoft.com/office/drawing/2014/main" id="{82C74B1A-D291-071A-EA1B-82DC1F6B373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5735" y="2174789"/>
            <a:ext cx="4756524" cy="3130978"/>
          </a:xfrm>
          <a:prstGeom prst="rect">
            <a:avLst/>
          </a:prstGeom>
        </p:spPr>
      </p:pic>
      <p:pic>
        <p:nvPicPr>
          <p:cNvPr id="5" name="Picture 4" descr="A graph of different colored lines&#10;&#10;AI-generated content may be incorrect.">
            <a:extLst>
              <a:ext uri="{FF2B5EF4-FFF2-40B4-BE49-F238E27FC236}">
                <a16:creationId xmlns:a16="http://schemas.microsoft.com/office/drawing/2014/main" id="{FC73C473-5C0A-0433-5637-D3A3A00DC58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68366" y="2174789"/>
            <a:ext cx="4756524" cy="3130978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Simulation Results</a:t>
            </a:r>
          </a:p>
        </p:txBody>
      </p:sp>
      <p:sp>
        <p:nvSpPr>
          <p:cNvPr id="54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8961276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9999"/>
          </a:bodyPr>
          <a:lstStyle/>
          <a:p>
            <a:pPr marL="108000">
              <a:spcBef>
                <a:spcPts val="1417"/>
              </a:spcBef>
              <a:buClr>
                <a:srgbClr val="000000"/>
              </a:buClr>
              <a:buSzPct val="45000"/>
            </a:pPr>
            <a:r>
              <a:rPr lang="en-US" sz="2000" dirty="0">
                <a:solidFill>
                  <a:srgbClr val="000000"/>
                </a:solidFill>
              </a:rPr>
              <a:t>Assume captive and wild mortality rates of M</a:t>
            </a:r>
            <a:r>
              <a:rPr lang="en-US" sz="2000" b="0" u="none" strike="noStrike" baseline="-8000" dirty="0">
                <a:solidFill>
                  <a:srgbClr val="000000"/>
                </a:solidFill>
                <a:effectLst/>
                <a:uFillTx/>
                <a:latin typeface="Arial"/>
              </a:rPr>
              <a:t>y1 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= 65.9%, M</a:t>
            </a:r>
            <a:r>
              <a:rPr lang="en-US" sz="2000" b="0" u="none" strike="noStrike" baseline="-8000" dirty="0">
                <a:solidFill>
                  <a:srgbClr val="000000"/>
                </a:solidFill>
                <a:effectLst/>
                <a:uFillTx/>
                <a:latin typeface="Arial"/>
              </a:rPr>
              <a:t>i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= 9.9%, M</a:t>
            </a:r>
            <a:r>
              <a:rPr lang="en-US" sz="2000" b="0" u="none" strike="noStrike" baseline="-8000" dirty="0">
                <a:solidFill>
                  <a:srgbClr val="000000"/>
                </a:solidFill>
                <a:effectLst/>
                <a:uFillTx/>
                <a:latin typeface="Arial"/>
              </a:rPr>
              <a:t>a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= 9.9%</a:t>
            </a:r>
          </a:p>
        </p:txBody>
      </p:sp>
      <p:pic>
        <p:nvPicPr>
          <p:cNvPr id="3" name="Picture 2" descr="A graph of different colored lines&#10;&#10;AI-generated content may be incorrect.">
            <a:extLst>
              <a:ext uri="{FF2B5EF4-FFF2-40B4-BE49-F238E27FC236}">
                <a16:creationId xmlns:a16="http://schemas.microsoft.com/office/drawing/2014/main" id="{B3A2DC20-1350-C016-A804-B6A19094372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5158" y="2088292"/>
            <a:ext cx="4437399" cy="2920914"/>
          </a:xfrm>
          <a:prstGeom prst="rect">
            <a:avLst/>
          </a:prstGeom>
        </p:spPr>
      </p:pic>
      <p:pic>
        <p:nvPicPr>
          <p:cNvPr id="5" name="Picture 4" descr="A graph of different colored lines&#10;&#10;AI-generated content may be incorrect.">
            <a:extLst>
              <a:ext uri="{FF2B5EF4-FFF2-40B4-BE49-F238E27FC236}">
                <a16:creationId xmlns:a16="http://schemas.microsoft.com/office/drawing/2014/main" id="{5D1E5568-9E51-8512-BAE8-06090BB5EFD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76719" y="2088292"/>
            <a:ext cx="4437399" cy="2920914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Simulation Results</a:t>
            </a:r>
          </a:p>
        </p:txBody>
      </p:sp>
      <p:sp>
        <p:nvSpPr>
          <p:cNvPr id="57" name="PlaceHolder 2"/>
          <p:cNvSpPr>
            <a:spLocks noGrp="1"/>
          </p:cNvSpPr>
          <p:nvPr>
            <p:ph/>
          </p:nvPr>
        </p:nvSpPr>
        <p:spPr>
          <a:xfrm>
            <a:off x="503999" y="1326600"/>
            <a:ext cx="9071639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9999"/>
          </a:bodyPr>
          <a:lstStyle/>
          <a:p>
            <a:pPr marL="108000">
              <a:spcBef>
                <a:spcPts val="1417"/>
              </a:spcBef>
              <a:buClr>
                <a:srgbClr val="000000"/>
              </a:buClr>
              <a:buSzPct val="45000"/>
            </a:pPr>
            <a:r>
              <a:rPr lang="en-US" sz="2000" dirty="0">
                <a:solidFill>
                  <a:srgbClr val="000000"/>
                </a:solidFill>
              </a:rPr>
              <a:t>Assume captive and wild mortality rates of M</a:t>
            </a:r>
            <a:r>
              <a:rPr lang="en-US" sz="2000" baseline="-8000" dirty="0">
                <a:solidFill>
                  <a:srgbClr val="000000"/>
                </a:solidFill>
              </a:rPr>
              <a:t>y1 </a:t>
            </a:r>
            <a:r>
              <a:rPr lang="en-US" sz="2000" dirty="0">
                <a:solidFill>
                  <a:srgbClr val="000000"/>
                </a:solidFill>
              </a:rPr>
              <a:t>= 65.9%, M</a:t>
            </a:r>
            <a:r>
              <a:rPr lang="en-US" sz="2000" baseline="-8000" dirty="0">
                <a:solidFill>
                  <a:srgbClr val="000000"/>
                </a:solidFill>
              </a:rPr>
              <a:t>i</a:t>
            </a:r>
            <a:r>
              <a:rPr lang="en-US" sz="2000" dirty="0">
                <a:solidFill>
                  <a:srgbClr val="000000"/>
                </a:solidFill>
              </a:rPr>
              <a:t> = 13.8%, M</a:t>
            </a:r>
            <a:r>
              <a:rPr lang="en-US" sz="2000" baseline="-8000" dirty="0">
                <a:solidFill>
                  <a:srgbClr val="000000"/>
                </a:solidFill>
              </a:rPr>
              <a:t>a</a:t>
            </a:r>
            <a:r>
              <a:rPr lang="en-US" sz="2000" dirty="0">
                <a:solidFill>
                  <a:srgbClr val="000000"/>
                </a:solidFill>
              </a:rPr>
              <a:t> = 6.9%, and that captive repopulation efforts run for only 5 years. </a:t>
            </a:r>
          </a:p>
          <a:p>
            <a:pPr marL="108000">
              <a:spcBef>
                <a:spcPts val="1417"/>
              </a:spcBef>
              <a:buClr>
                <a:srgbClr val="000000"/>
              </a:buClr>
              <a:buSzPct val="45000"/>
            </a:pP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" name="Picture 2" descr="A graph of a graph&#10;&#10;AI-generated content may be incorrect.">
            <a:extLst>
              <a:ext uri="{FF2B5EF4-FFF2-40B4-BE49-F238E27FC236}">
                <a16:creationId xmlns:a16="http://schemas.microsoft.com/office/drawing/2014/main" id="{304F1F5F-AD8D-7AD4-BC89-1E91E7E85BF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8400" y="2004590"/>
            <a:ext cx="4654304" cy="3029092"/>
          </a:xfrm>
          <a:prstGeom prst="rect">
            <a:avLst/>
          </a:prstGeom>
        </p:spPr>
      </p:pic>
      <p:pic>
        <p:nvPicPr>
          <p:cNvPr id="5" name="Picture 4" descr="A graph with lines and numbers&#10;&#10;AI-generated content may be incorrect.">
            <a:extLst>
              <a:ext uri="{FF2B5EF4-FFF2-40B4-BE49-F238E27FC236}">
                <a16:creationId xmlns:a16="http://schemas.microsoft.com/office/drawing/2014/main" id="{1EFFB298-C116-B5CC-015C-DBBE382E772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39818" y="2004590"/>
            <a:ext cx="4692278" cy="3053806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0778D4-41DA-E2CC-44D2-BB53F55B8A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394601"/>
            <a:ext cx="9071640" cy="609398"/>
          </a:xfrm>
        </p:spPr>
        <p:txBody>
          <a:bodyPr/>
          <a:lstStyle/>
          <a:p>
            <a:pPr algn="ctr"/>
            <a:r>
              <a:rPr lang="en-US" dirty="0"/>
              <a:t>Conclusions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0EBEAB-7D0A-123B-4118-6CC8484447CA}"/>
              </a:ext>
            </a:extLst>
          </p:cNvPr>
          <p:cNvSpPr>
            <a:spLocks noGrp="1"/>
          </p:cNvSpPr>
          <p:nvPr>
            <p:ph/>
          </p:nvPr>
        </p:nvSpPr>
        <p:spPr>
          <a:xfrm>
            <a:off x="504000" y="1347536"/>
            <a:ext cx="9071640" cy="3267303"/>
          </a:xfrm>
        </p:spPr>
        <p:txBody>
          <a:bodyPr>
            <a:normAutofit/>
          </a:bodyPr>
          <a:lstStyle/>
          <a:p>
            <a:r>
              <a:rPr lang="en-US" sz="2000" dirty="0"/>
              <a:t>A captive repopulation program successfully increases wild populations over 50 years. </a:t>
            </a:r>
          </a:p>
          <a:p>
            <a:r>
              <a:rPr lang="en-US" sz="2000" dirty="0"/>
              <a:t>Given true population data, lower estimates for mortality rates may be assumed.  </a:t>
            </a:r>
          </a:p>
        </p:txBody>
      </p:sp>
    </p:spTree>
    <p:extLst>
      <p:ext uri="{BB962C8B-B14F-4D97-AF65-F5344CB8AC3E}">
        <p14:creationId xmlns:p14="http://schemas.microsoft.com/office/powerpoint/2010/main" val="152960786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140</TotalTime>
  <Words>532</Words>
  <Application>Microsoft Macintosh PowerPoint</Application>
  <PresentationFormat>Custom</PresentationFormat>
  <Paragraphs>69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3" baseType="lpstr">
      <vt:lpstr>Aptos</vt:lpstr>
      <vt:lpstr>Arial</vt:lpstr>
      <vt:lpstr>Symbol</vt:lpstr>
      <vt:lpstr>Times New Roman</vt:lpstr>
      <vt:lpstr>Wingdings</vt:lpstr>
      <vt:lpstr>Office</vt:lpstr>
      <vt:lpstr>Condor Populations</vt:lpstr>
      <vt:lpstr>The California Condor</vt:lpstr>
      <vt:lpstr>Condor Conservation Effort</vt:lpstr>
      <vt:lpstr>Guiding Questions</vt:lpstr>
      <vt:lpstr>Assumptions</vt:lpstr>
      <vt:lpstr>PowerPoint Presentation</vt:lpstr>
      <vt:lpstr>Initial Conditions</vt:lpstr>
      <vt:lpstr>Model Diagram</vt:lpstr>
      <vt:lpstr>Methods</vt:lpstr>
      <vt:lpstr>Simulation Results</vt:lpstr>
      <vt:lpstr>Simulation Results</vt:lpstr>
      <vt:lpstr>Simulation Results</vt:lpstr>
      <vt:lpstr>Simulation Results</vt:lpstr>
      <vt:lpstr>Simulation Results</vt:lpstr>
      <vt:lpstr>Simulation Results</vt:lpstr>
      <vt:lpstr>Simulation Results</vt:lpstr>
      <vt:lpstr>Conclusions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dc:description/>
  <cp:lastModifiedBy>Mary Pittman</cp:lastModifiedBy>
  <cp:revision>14</cp:revision>
  <dcterms:created xsi:type="dcterms:W3CDTF">2026-09-12T13:06:47Z</dcterms:created>
  <dcterms:modified xsi:type="dcterms:W3CDTF">2026-09-18T15:31:06Z</dcterms:modified>
  <dc:language>en-US</dc:language>
</cp:coreProperties>
</file>