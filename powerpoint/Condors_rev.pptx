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73" r:id="rId2"/>
    <p:sldId id="256" r:id="rId3"/>
    <p:sldId id="276" r:id="rId4"/>
    <p:sldId id="257" r:id="rId5"/>
    <p:sldId id="258" r:id="rId6"/>
    <p:sldId id="259" r:id="rId7"/>
    <p:sldId id="260" r:id="rId8"/>
    <p:sldId id="261" r:id="rId9"/>
    <p:sldId id="272" r:id="rId10"/>
    <p:sldId id="264" r:id="rId11"/>
    <p:sldId id="266" r:id="rId12"/>
    <p:sldId id="277" r:id="rId13"/>
    <p:sldId id="268" r:id="rId14"/>
    <p:sldId id="269" r:id="rId15"/>
    <p:sldId id="270" r:id="rId16"/>
    <p:sldId id="274" r:id="rId17"/>
    <p:sldId id="271" r:id="rId18"/>
    <p:sldId id="275" r:id="rId19"/>
  </p:sldIdLst>
  <p:sldSz cx="10080625" cy="567055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EF2284-AA9F-27AD-6867-0E437D4B8A61}" v="112" dt="2026-09-23T19:40:08.313"/>
    <p1510:client id="{0F08A2DD-5E26-AF6F-DAF6-271DC8599A74}" v="317" dt="2026-09-22T16:29:54.191"/>
    <p1510:client id="{2C034E74-F020-C65F-974E-11510B7F1AE9}" v="258" dt="2026-09-22T16:29:38.116"/>
    <p1510:client id="{9C331D4A-55D6-B651-10C6-0F39290E67A4}" v="1" dt="2026-09-22T12:52:41.476"/>
    <p1510:client id="{A92AB43C-D23B-A109-7A69-DEA9BF1CD881}" v="1" dt="2026-09-22T02:58:06.195"/>
    <p1510:client id="{C36C6261-6834-2266-73BB-D4C6A5FC431D}" v="11" dt="2026-09-22T03:31:20.8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4753A6-9F0E-46B9-AC38-FA6420150EDA}" type="doc">
      <dgm:prSet loTypeId="urn:microsoft.com/office/officeart/2005/8/layout/process4" loCatId="process" qsTypeId="urn:microsoft.com/office/officeart/2005/8/quickstyle/simple1" qsCatId="simple" csTypeId="urn:microsoft.com/office/officeart/2005/8/colors/colorful1" csCatId="colorful"/>
      <dgm:spPr/>
      <dgm:t>
        <a:bodyPr/>
        <a:lstStyle/>
        <a:p>
          <a:endParaRPr lang="en-US"/>
        </a:p>
      </dgm:t>
    </dgm:pt>
    <dgm:pt modelId="{D43CB1EC-2789-4A4C-8C66-73DCA98F20C6}">
      <dgm:prSet/>
      <dgm:spPr/>
      <dgm:t>
        <a:bodyPr/>
        <a:lstStyle/>
        <a:p>
          <a:r>
            <a:rPr lang="en-US" b="0"/>
            <a:t>At each 1-year time step, use the appropriate mortality rate to determine how many X-year-old condors from the last year survived</a:t>
          </a:r>
          <a:endParaRPr lang="en-US"/>
        </a:p>
      </dgm:t>
    </dgm:pt>
    <dgm:pt modelId="{787A74CA-8BC7-4800-9E3C-346B59B616C4}" type="parTrans" cxnId="{3F003EA4-2F19-48F3-870C-3081DC836B28}">
      <dgm:prSet/>
      <dgm:spPr/>
      <dgm:t>
        <a:bodyPr/>
        <a:lstStyle/>
        <a:p>
          <a:endParaRPr lang="en-US"/>
        </a:p>
      </dgm:t>
    </dgm:pt>
    <dgm:pt modelId="{67C02529-8115-4B15-AE02-6A6AC3BBA6BD}" type="sibTrans" cxnId="{3F003EA4-2F19-48F3-870C-3081DC836B28}">
      <dgm:prSet/>
      <dgm:spPr/>
      <dgm:t>
        <a:bodyPr/>
        <a:lstStyle/>
        <a:p>
          <a:endParaRPr lang="en-US"/>
        </a:p>
      </dgm:t>
    </dgm:pt>
    <dgm:pt modelId="{C0089539-F78D-4937-8162-904A3C19B69A}">
      <dgm:prSet/>
      <dgm:spPr/>
      <dgm:t>
        <a:bodyPr/>
        <a:lstStyle/>
        <a:p>
          <a:r>
            <a:rPr lang="en-US" b="0"/>
            <a:t>That number becomes the population for the current year’s X+1 age group</a:t>
          </a:r>
          <a:endParaRPr lang="en-US"/>
        </a:p>
      </dgm:t>
    </dgm:pt>
    <dgm:pt modelId="{561AB489-F8F4-4AD3-8930-EFD11324207C}" type="parTrans" cxnId="{1E37A8E4-97EB-4063-A401-71F5215E44C5}">
      <dgm:prSet/>
      <dgm:spPr/>
      <dgm:t>
        <a:bodyPr/>
        <a:lstStyle/>
        <a:p>
          <a:endParaRPr lang="en-US"/>
        </a:p>
      </dgm:t>
    </dgm:pt>
    <dgm:pt modelId="{0DD17E10-9BB3-4DF1-8EAE-1E027F60124E}" type="sibTrans" cxnId="{1E37A8E4-97EB-4063-A401-71F5215E44C5}">
      <dgm:prSet/>
      <dgm:spPr/>
      <dgm:t>
        <a:bodyPr/>
        <a:lstStyle/>
        <a:p>
          <a:endParaRPr lang="en-US"/>
        </a:p>
      </dgm:t>
    </dgm:pt>
    <dgm:pt modelId="{40BA1092-02A5-4A6B-98E7-43AA116F3609}">
      <dgm:prSet/>
      <dgm:spPr/>
      <dgm:t>
        <a:bodyPr/>
        <a:lstStyle/>
        <a:p>
          <a:r>
            <a:rPr lang="en-US"/>
            <a:t>Then, subtract 80% of our 1 y/o captive condors from the captive population and add them to our wild population’s corresponding age stock.</a:t>
          </a:r>
        </a:p>
      </dgm:t>
    </dgm:pt>
    <dgm:pt modelId="{FD55DDD1-83DA-4E46-8F9A-14C378528A32}" type="parTrans" cxnId="{0B342E70-C980-423C-8161-7C68DAF815F2}">
      <dgm:prSet/>
      <dgm:spPr/>
      <dgm:t>
        <a:bodyPr/>
        <a:lstStyle/>
        <a:p>
          <a:endParaRPr lang="en-US"/>
        </a:p>
      </dgm:t>
    </dgm:pt>
    <dgm:pt modelId="{20231875-3D44-4A21-B564-205E0E139E01}" type="sibTrans" cxnId="{0B342E70-C980-423C-8161-7C68DAF815F2}">
      <dgm:prSet/>
      <dgm:spPr/>
      <dgm:t>
        <a:bodyPr/>
        <a:lstStyle/>
        <a:p>
          <a:endParaRPr lang="en-US"/>
        </a:p>
      </dgm:t>
    </dgm:pt>
    <dgm:pt modelId="{35DA436C-6C7C-4D17-BF84-8BD2AD752E98}">
      <dgm:prSet/>
      <dgm:spPr/>
      <dgm:t>
        <a:bodyPr/>
        <a:lstStyle/>
        <a:p>
          <a:r>
            <a:rPr lang="en-US"/>
            <a:t>Use half the adult population (the female population) and the wild and captive productivity rates, respectively, to determine this year’s hatchling populating</a:t>
          </a:r>
        </a:p>
      </dgm:t>
    </dgm:pt>
    <dgm:pt modelId="{5CC522DB-E9CA-4E9B-B650-F66172F79AF3}" type="parTrans" cxnId="{F22EFE00-A327-4F8A-929C-E854E89746DD}">
      <dgm:prSet/>
      <dgm:spPr/>
      <dgm:t>
        <a:bodyPr/>
        <a:lstStyle/>
        <a:p>
          <a:endParaRPr lang="en-US"/>
        </a:p>
      </dgm:t>
    </dgm:pt>
    <dgm:pt modelId="{1A8FBB12-3F32-474A-ADDA-C5A47A87E2EC}" type="sibTrans" cxnId="{F22EFE00-A327-4F8A-929C-E854E89746DD}">
      <dgm:prSet/>
      <dgm:spPr/>
      <dgm:t>
        <a:bodyPr/>
        <a:lstStyle/>
        <a:p>
          <a:endParaRPr lang="en-US"/>
        </a:p>
      </dgm:t>
    </dgm:pt>
    <dgm:pt modelId="{3EC2E495-1BB6-3C49-BEB5-15381AB67471}" type="pres">
      <dgm:prSet presAssocID="{D54753A6-9F0E-46B9-AC38-FA6420150EDA}" presName="Name0" presStyleCnt="0">
        <dgm:presLayoutVars>
          <dgm:dir/>
          <dgm:animLvl val="lvl"/>
          <dgm:resizeHandles val="exact"/>
        </dgm:presLayoutVars>
      </dgm:prSet>
      <dgm:spPr/>
    </dgm:pt>
    <dgm:pt modelId="{9533D6BA-D6AE-1A4E-8E66-2F4DE6765BBA}" type="pres">
      <dgm:prSet presAssocID="{35DA436C-6C7C-4D17-BF84-8BD2AD752E98}" presName="boxAndChildren" presStyleCnt="0"/>
      <dgm:spPr/>
    </dgm:pt>
    <dgm:pt modelId="{43B15256-B591-4F4C-A3ED-147186A1FEDE}" type="pres">
      <dgm:prSet presAssocID="{35DA436C-6C7C-4D17-BF84-8BD2AD752E98}" presName="parentTextBox" presStyleLbl="node1" presStyleIdx="0" presStyleCnt="4"/>
      <dgm:spPr/>
    </dgm:pt>
    <dgm:pt modelId="{249372B9-E9AD-6B45-A709-3DED2F9C9703}" type="pres">
      <dgm:prSet presAssocID="{20231875-3D44-4A21-B564-205E0E139E01}" presName="sp" presStyleCnt="0"/>
      <dgm:spPr/>
    </dgm:pt>
    <dgm:pt modelId="{ED717D7A-04D5-404E-997D-447DAD807094}" type="pres">
      <dgm:prSet presAssocID="{40BA1092-02A5-4A6B-98E7-43AA116F3609}" presName="arrowAndChildren" presStyleCnt="0"/>
      <dgm:spPr/>
    </dgm:pt>
    <dgm:pt modelId="{C855899C-3359-BC42-B702-7B19BFD7775F}" type="pres">
      <dgm:prSet presAssocID="{40BA1092-02A5-4A6B-98E7-43AA116F3609}" presName="parentTextArrow" presStyleLbl="node1" presStyleIdx="1" presStyleCnt="4"/>
      <dgm:spPr/>
    </dgm:pt>
    <dgm:pt modelId="{27D8B6CE-2BE0-7C4E-BF72-3C02BC957C82}" type="pres">
      <dgm:prSet presAssocID="{0DD17E10-9BB3-4DF1-8EAE-1E027F60124E}" presName="sp" presStyleCnt="0"/>
      <dgm:spPr/>
    </dgm:pt>
    <dgm:pt modelId="{40E9725D-CB50-A04B-BF11-FA2848D78B88}" type="pres">
      <dgm:prSet presAssocID="{C0089539-F78D-4937-8162-904A3C19B69A}" presName="arrowAndChildren" presStyleCnt="0"/>
      <dgm:spPr/>
    </dgm:pt>
    <dgm:pt modelId="{C2FDEF33-5707-A54B-8838-F2A93974E259}" type="pres">
      <dgm:prSet presAssocID="{C0089539-F78D-4937-8162-904A3C19B69A}" presName="parentTextArrow" presStyleLbl="node1" presStyleIdx="2" presStyleCnt="4"/>
      <dgm:spPr/>
    </dgm:pt>
    <dgm:pt modelId="{630406B5-6183-FB4B-862E-4F1B1C45FA7F}" type="pres">
      <dgm:prSet presAssocID="{67C02529-8115-4B15-AE02-6A6AC3BBA6BD}" presName="sp" presStyleCnt="0"/>
      <dgm:spPr/>
    </dgm:pt>
    <dgm:pt modelId="{58DA30C0-16B9-4B48-8967-93FFD3787F53}" type="pres">
      <dgm:prSet presAssocID="{D43CB1EC-2789-4A4C-8C66-73DCA98F20C6}" presName="arrowAndChildren" presStyleCnt="0"/>
      <dgm:spPr/>
    </dgm:pt>
    <dgm:pt modelId="{14F70437-8E80-CB41-85FC-BB60B7BDF93F}" type="pres">
      <dgm:prSet presAssocID="{D43CB1EC-2789-4A4C-8C66-73DCA98F20C6}" presName="parentTextArrow" presStyleLbl="node1" presStyleIdx="3" presStyleCnt="4"/>
      <dgm:spPr/>
    </dgm:pt>
  </dgm:ptLst>
  <dgm:cxnLst>
    <dgm:cxn modelId="{F22EFE00-A327-4F8A-929C-E854E89746DD}" srcId="{D54753A6-9F0E-46B9-AC38-FA6420150EDA}" destId="{35DA436C-6C7C-4D17-BF84-8BD2AD752E98}" srcOrd="3" destOrd="0" parTransId="{5CC522DB-E9CA-4E9B-B650-F66172F79AF3}" sibTransId="{1A8FBB12-3F32-474A-ADDA-C5A47A87E2EC}"/>
    <dgm:cxn modelId="{7A599460-FF69-D740-81D8-955C392B2A36}" type="presOf" srcId="{C0089539-F78D-4937-8162-904A3C19B69A}" destId="{C2FDEF33-5707-A54B-8838-F2A93974E259}" srcOrd="0" destOrd="0" presId="urn:microsoft.com/office/officeart/2005/8/layout/process4"/>
    <dgm:cxn modelId="{CE75344C-2D33-6B42-B4C0-2E37CBFCB2E2}" type="presOf" srcId="{40BA1092-02A5-4A6B-98E7-43AA116F3609}" destId="{C855899C-3359-BC42-B702-7B19BFD7775F}" srcOrd="0" destOrd="0" presId="urn:microsoft.com/office/officeart/2005/8/layout/process4"/>
    <dgm:cxn modelId="{0B342E70-C980-423C-8161-7C68DAF815F2}" srcId="{D54753A6-9F0E-46B9-AC38-FA6420150EDA}" destId="{40BA1092-02A5-4A6B-98E7-43AA116F3609}" srcOrd="2" destOrd="0" parTransId="{FD55DDD1-83DA-4E46-8F9A-14C378528A32}" sibTransId="{20231875-3D44-4A21-B564-205E0E139E01}"/>
    <dgm:cxn modelId="{3F003EA4-2F19-48F3-870C-3081DC836B28}" srcId="{D54753A6-9F0E-46B9-AC38-FA6420150EDA}" destId="{D43CB1EC-2789-4A4C-8C66-73DCA98F20C6}" srcOrd="0" destOrd="0" parTransId="{787A74CA-8BC7-4800-9E3C-346B59B616C4}" sibTransId="{67C02529-8115-4B15-AE02-6A6AC3BBA6BD}"/>
    <dgm:cxn modelId="{DB3D63D5-739E-1C40-8E5B-FE4AA08BE413}" type="presOf" srcId="{D54753A6-9F0E-46B9-AC38-FA6420150EDA}" destId="{3EC2E495-1BB6-3C49-BEB5-15381AB67471}" srcOrd="0" destOrd="0" presId="urn:microsoft.com/office/officeart/2005/8/layout/process4"/>
    <dgm:cxn modelId="{6A5975D9-870F-EB47-B352-7313B427868E}" type="presOf" srcId="{D43CB1EC-2789-4A4C-8C66-73DCA98F20C6}" destId="{14F70437-8E80-CB41-85FC-BB60B7BDF93F}" srcOrd="0" destOrd="0" presId="urn:microsoft.com/office/officeart/2005/8/layout/process4"/>
    <dgm:cxn modelId="{684180DD-5C1E-5B40-A4B0-51F7088AD1C7}" type="presOf" srcId="{35DA436C-6C7C-4D17-BF84-8BD2AD752E98}" destId="{43B15256-B591-4F4C-A3ED-147186A1FEDE}" srcOrd="0" destOrd="0" presId="urn:microsoft.com/office/officeart/2005/8/layout/process4"/>
    <dgm:cxn modelId="{1E37A8E4-97EB-4063-A401-71F5215E44C5}" srcId="{D54753A6-9F0E-46B9-AC38-FA6420150EDA}" destId="{C0089539-F78D-4937-8162-904A3C19B69A}" srcOrd="1" destOrd="0" parTransId="{561AB489-F8F4-4AD3-8930-EFD11324207C}" sibTransId="{0DD17E10-9BB3-4DF1-8EAE-1E027F60124E}"/>
    <dgm:cxn modelId="{AD8F5521-16B2-7A45-AD55-8984184F071F}" type="presParOf" srcId="{3EC2E495-1BB6-3C49-BEB5-15381AB67471}" destId="{9533D6BA-D6AE-1A4E-8E66-2F4DE6765BBA}" srcOrd="0" destOrd="0" presId="urn:microsoft.com/office/officeart/2005/8/layout/process4"/>
    <dgm:cxn modelId="{B5E2E037-7AF7-2B40-B4CB-0070F6DBB012}" type="presParOf" srcId="{9533D6BA-D6AE-1A4E-8E66-2F4DE6765BBA}" destId="{43B15256-B591-4F4C-A3ED-147186A1FEDE}" srcOrd="0" destOrd="0" presId="urn:microsoft.com/office/officeart/2005/8/layout/process4"/>
    <dgm:cxn modelId="{71191EA5-9985-0246-B348-64879EFAFBD2}" type="presParOf" srcId="{3EC2E495-1BB6-3C49-BEB5-15381AB67471}" destId="{249372B9-E9AD-6B45-A709-3DED2F9C9703}" srcOrd="1" destOrd="0" presId="urn:microsoft.com/office/officeart/2005/8/layout/process4"/>
    <dgm:cxn modelId="{7ED73BD7-525B-7244-930E-1402422BC914}" type="presParOf" srcId="{3EC2E495-1BB6-3C49-BEB5-15381AB67471}" destId="{ED717D7A-04D5-404E-997D-447DAD807094}" srcOrd="2" destOrd="0" presId="urn:microsoft.com/office/officeart/2005/8/layout/process4"/>
    <dgm:cxn modelId="{61B1D40E-F8CF-F747-9D29-3FEF1F7DBD2B}" type="presParOf" srcId="{ED717D7A-04D5-404E-997D-447DAD807094}" destId="{C855899C-3359-BC42-B702-7B19BFD7775F}" srcOrd="0" destOrd="0" presId="urn:microsoft.com/office/officeart/2005/8/layout/process4"/>
    <dgm:cxn modelId="{96A80757-BE63-2A43-9228-08E9D82EF3E1}" type="presParOf" srcId="{3EC2E495-1BB6-3C49-BEB5-15381AB67471}" destId="{27D8B6CE-2BE0-7C4E-BF72-3C02BC957C82}" srcOrd="3" destOrd="0" presId="urn:microsoft.com/office/officeart/2005/8/layout/process4"/>
    <dgm:cxn modelId="{2798F7B7-8267-694C-99F0-B06C666772DA}" type="presParOf" srcId="{3EC2E495-1BB6-3C49-BEB5-15381AB67471}" destId="{40E9725D-CB50-A04B-BF11-FA2848D78B88}" srcOrd="4" destOrd="0" presId="urn:microsoft.com/office/officeart/2005/8/layout/process4"/>
    <dgm:cxn modelId="{4661052B-2E16-5F45-AAD0-AEAD547A5F03}" type="presParOf" srcId="{40E9725D-CB50-A04B-BF11-FA2848D78B88}" destId="{C2FDEF33-5707-A54B-8838-F2A93974E259}" srcOrd="0" destOrd="0" presId="urn:microsoft.com/office/officeart/2005/8/layout/process4"/>
    <dgm:cxn modelId="{49CF437D-B10A-464F-AB9F-AB73153B1D4E}" type="presParOf" srcId="{3EC2E495-1BB6-3C49-BEB5-15381AB67471}" destId="{630406B5-6183-FB4B-862E-4F1B1C45FA7F}" srcOrd="5" destOrd="0" presId="urn:microsoft.com/office/officeart/2005/8/layout/process4"/>
    <dgm:cxn modelId="{B3547DE7-EEC2-E640-B1B3-CCF4F3B833D9}" type="presParOf" srcId="{3EC2E495-1BB6-3C49-BEB5-15381AB67471}" destId="{58DA30C0-16B9-4B48-8967-93FFD3787F53}" srcOrd="6" destOrd="0" presId="urn:microsoft.com/office/officeart/2005/8/layout/process4"/>
    <dgm:cxn modelId="{6F058EFE-92AD-E948-88DA-2B327BD11D37}" type="presParOf" srcId="{58DA30C0-16B9-4B48-8967-93FFD3787F53}" destId="{14F70437-8E80-CB41-85FC-BB60B7BDF93F}"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B15256-B591-4F4C-A3ED-147186A1FEDE}">
      <dsp:nvSpPr>
        <dsp:cNvPr id="0" name=""/>
        <dsp:cNvSpPr/>
      </dsp:nvSpPr>
      <dsp:spPr>
        <a:xfrm>
          <a:off x="0" y="3782152"/>
          <a:ext cx="5288759" cy="827442"/>
        </a:xfrm>
        <a:prstGeom prst="rect">
          <a:avLst/>
        </a:prstGeom>
        <a:solidFill>
          <a:schemeClr val="accent2">
            <a:hueOff val="0"/>
            <a:satOff val="0"/>
            <a:lumOff val="0"/>
            <a:alphaOff val="0"/>
          </a:schemeClr>
        </a:solidFill>
        <a:ln w="6350" cap="flat" cmpd="sng" algn="ctr">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kern="1200"/>
            <a:t>Use half the adult population (the female population) and the wild and captive productivity rates, respectively, to determine this year’s hatchling populating</a:t>
          </a:r>
        </a:p>
      </dsp:txBody>
      <dsp:txXfrm>
        <a:off x="0" y="3782152"/>
        <a:ext cx="5288759" cy="827442"/>
      </dsp:txXfrm>
    </dsp:sp>
    <dsp:sp modelId="{C855899C-3359-BC42-B702-7B19BFD7775F}">
      <dsp:nvSpPr>
        <dsp:cNvPr id="0" name=""/>
        <dsp:cNvSpPr/>
      </dsp:nvSpPr>
      <dsp:spPr>
        <a:xfrm rot="10800000">
          <a:off x="0" y="2521957"/>
          <a:ext cx="5288759" cy="1272606"/>
        </a:xfrm>
        <a:prstGeom prst="upArrowCallout">
          <a:avLst/>
        </a:prstGeom>
        <a:solidFill>
          <a:schemeClr val="accent3">
            <a:hueOff val="0"/>
            <a:satOff val="0"/>
            <a:lumOff val="0"/>
            <a:alphaOff val="0"/>
          </a:schemeClr>
        </a:solidFill>
        <a:ln w="6350" cap="flat" cmpd="sng" algn="ctr">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kern="1200"/>
            <a:t>Then, subtract 80% of our 1 y/o captive condors from the captive population and add them to our wild population’s corresponding age stock.</a:t>
          </a:r>
        </a:p>
      </dsp:txBody>
      <dsp:txXfrm rot="10800000">
        <a:off x="0" y="2521957"/>
        <a:ext cx="5288759" cy="826901"/>
      </dsp:txXfrm>
    </dsp:sp>
    <dsp:sp modelId="{C2FDEF33-5707-A54B-8838-F2A93974E259}">
      <dsp:nvSpPr>
        <dsp:cNvPr id="0" name=""/>
        <dsp:cNvSpPr/>
      </dsp:nvSpPr>
      <dsp:spPr>
        <a:xfrm rot="10800000">
          <a:off x="0" y="1261762"/>
          <a:ext cx="5288759" cy="1272606"/>
        </a:xfrm>
        <a:prstGeom prst="upArrowCallout">
          <a:avLst/>
        </a:prstGeom>
        <a:solidFill>
          <a:schemeClr val="accent4">
            <a:hueOff val="0"/>
            <a:satOff val="0"/>
            <a:lumOff val="0"/>
            <a:alphaOff val="0"/>
          </a:schemeClr>
        </a:solidFill>
        <a:ln w="6350" cap="flat" cmpd="sng" algn="ctr">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b="0" kern="1200"/>
            <a:t>That number becomes the population for the current year’s X+1 age group</a:t>
          </a:r>
          <a:endParaRPr lang="en-US" sz="1500" kern="1200"/>
        </a:p>
      </dsp:txBody>
      <dsp:txXfrm rot="10800000">
        <a:off x="0" y="1261762"/>
        <a:ext cx="5288759" cy="826901"/>
      </dsp:txXfrm>
    </dsp:sp>
    <dsp:sp modelId="{14F70437-8E80-CB41-85FC-BB60B7BDF93F}">
      <dsp:nvSpPr>
        <dsp:cNvPr id="0" name=""/>
        <dsp:cNvSpPr/>
      </dsp:nvSpPr>
      <dsp:spPr>
        <a:xfrm rot="10800000">
          <a:off x="0" y="1567"/>
          <a:ext cx="5288759" cy="1272606"/>
        </a:xfrm>
        <a:prstGeom prst="upArrowCallout">
          <a:avLst/>
        </a:prstGeom>
        <a:solidFill>
          <a:schemeClr val="accent5">
            <a:hueOff val="0"/>
            <a:satOff val="0"/>
            <a:lumOff val="0"/>
            <a:alphaOff val="0"/>
          </a:schemeClr>
        </a:solidFill>
        <a:ln w="6350" cap="flat" cmpd="sng" algn="ctr">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b="0" kern="1200"/>
            <a:t>At each 1-year time step, use the appropriate mortality rate to determine how many X-year-old condors from the last year survived</a:t>
          </a:r>
          <a:endParaRPr lang="en-US" sz="1500" kern="1200"/>
        </a:p>
      </dsp:txBody>
      <dsp:txXfrm rot="10800000">
        <a:off x="0" y="1567"/>
        <a:ext cx="5288759" cy="826901"/>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woObj" preserve="1">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6" name="PlaceHolder 2"/>
          <p:cNvSpPr>
            <a:spLocks noGrp="1"/>
          </p:cNvSpPr>
          <p:nvPr>
            <p:ph/>
          </p:nvPr>
        </p:nvSpPr>
        <p:spPr>
          <a:xfrm>
            <a:off x="504000" y="1326600"/>
            <a:ext cx="4426920" cy="3288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7" name="PlaceHolder 3"/>
          <p:cNvSpPr>
            <a:spLocks noGrp="1"/>
          </p:cNvSpPr>
          <p:nvPr>
            <p:ph/>
          </p:nvPr>
        </p:nvSpPr>
        <p:spPr>
          <a:xfrm>
            <a:off x="5152680" y="1326600"/>
            <a:ext cx="4426920" cy="3288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2" name="PlaceHolder 4"/>
          <p:cNvSpPr>
            <a:spLocks noGrp="1"/>
          </p:cNvSpPr>
          <p:nvPr>
            <p:ph type="ftr" idx="2"/>
          </p:nvPr>
        </p:nvSpPr>
        <p:spPr/>
        <p:txBody>
          <a:bodyPr/>
          <a:lstStyle/>
          <a:p>
            <a:r>
              <a:t>Footer</a:t>
            </a:r>
          </a:p>
        </p:txBody>
      </p:sp>
      <p:sp>
        <p:nvSpPr>
          <p:cNvPr id="3" name="PlaceHolder 5"/>
          <p:cNvSpPr>
            <a:spLocks noGrp="1"/>
          </p:cNvSpPr>
          <p:nvPr>
            <p:ph type="sldNum" idx="3"/>
          </p:nvPr>
        </p:nvSpPr>
        <p:spPr/>
        <p:txBody>
          <a:bodyPr/>
          <a:lstStyle/>
          <a:p>
            <a:fld id="{E80AEFAB-4B32-41FA-AB2B-3E964E039B77}" type="slidenum">
              <a:t>‹#›</a:t>
            </a:fld>
            <a:endParaRPr/>
          </a:p>
        </p:txBody>
      </p:sp>
      <p:sp>
        <p:nvSpPr>
          <p:cNvPr id="4" name="PlaceHolder 6"/>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Default">
    <p:spTree>
      <p:nvGrpSpPr>
        <p:cNvPr id="1" name=""/>
        <p:cNvGrpSpPr/>
        <p:nvPr/>
      </p:nvGrpSpPr>
      <p:grpSpPr>
        <a:xfrm>
          <a:off x="0" y="0"/>
          <a:ext cx="0" cy="0"/>
          <a:chOff x="0" y="0"/>
          <a:chExt cx="0" cy="0"/>
        </a:xfrm>
      </p:grpSpPr>
      <p:sp>
        <p:nvSpPr>
          <p:cNvPr id="8"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9" name="PlaceHolder 2"/>
          <p:cNvSpPr>
            <a:spLocks noGrp="1"/>
          </p:cNvSpPr>
          <p:nvPr>
            <p:ph/>
          </p:nvPr>
        </p:nvSpPr>
        <p:spPr>
          <a:xfrm>
            <a:off x="504000" y="1326600"/>
            <a:ext cx="9071640" cy="328824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EAE98C01-BBBE-4493-B40C-90D53A675D9C}"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tIns="0" rIns="0" bIns="0" anchor="ctr">
            <a:noAutofit/>
          </a:bodyPr>
          <a:lstStyle/>
          <a:p>
            <a:pPr indent="0" algn="ctr">
              <a:buNone/>
            </a:pPr>
            <a:r>
              <a:rPr lang="en-US" sz="4400" b="0" u="none" strike="noStrike">
                <a:solidFill>
                  <a:srgbClr val="000000"/>
                </a:solidFill>
                <a:effectLst/>
                <a:uFillTx/>
                <a:latin typeface="Arial"/>
              </a:rPr>
              <a:t>Click to edit the title text format</a:t>
            </a:r>
          </a:p>
        </p:txBody>
      </p:sp>
      <p:sp>
        <p:nvSpPr>
          <p:cNvPr id="6" name="PlaceHolder 2"/>
          <p:cNvSpPr>
            <a:spLocks noGrp="1"/>
          </p:cNvSpPr>
          <p:nvPr>
            <p:ph type="body"/>
          </p:nvPr>
        </p:nvSpPr>
        <p:spPr>
          <a:xfrm>
            <a:off x="504000" y="1326600"/>
            <a:ext cx="9071640" cy="328824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p>
        </p:txBody>
      </p:sp>
      <p:sp>
        <p:nvSpPr>
          <p:cNvPr id="2" name="PlaceHolder 3"/>
          <p:cNvSpPr>
            <a:spLocks noGrp="1"/>
          </p:cNvSpPr>
          <p:nvPr>
            <p:ph type="dt" idx="1"/>
          </p:nvPr>
        </p:nvSpPr>
        <p:spPr>
          <a:xfrm>
            <a:off x="504000" y="5165280"/>
            <a:ext cx="2348280" cy="390600"/>
          </a:xfrm>
          <a:prstGeom prst="rect">
            <a:avLst/>
          </a:prstGeom>
          <a:noFill/>
          <a:ln w="0">
            <a:noFill/>
          </a:ln>
        </p:spPr>
        <p:txBody>
          <a:bodyPr lIns="0" tIns="0" rIns="0" bIns="0" anchor="t">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&lt;date/time&gt;</a:t>
            </a:r>
          </a:p>
        </p:txBody>
      </p:sp>
      <p:sp>
        <p:nvSpPr>
          <p:cNvPr id="3" name="PlaceHolder 4"/>
          <p:cNvSpPr>
            <a:spLocks noGrp="1"/>
          </p:cNvSpPr>
          <p:nvPr>
            <p:ph type="ftr" idx="2"/>
          </p:nvPr>
        </p:nvSpPr>
        <p:spPr>
          <a:xfrm>
            <a:off x="3447360" y="516528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 name="PlaceHolder 5"/>
          <p:cNvSpPr>
            <a:spLocks noGrp="1"/>
          </p:cNvSpPr>
          <p:nvPr>
            <p:ph type="sldNum" idx="3"/>
          </p:nvPr>
        </p:nvSpPr>
        <p:spPr>
          <a:xfrm>
            <a:off x="7227360" y="516528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fld id="{8E027E64-33DA-4E69-83C3-A4B2CA248E61}"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15420" y="0"/>
            <a:ext cx="6849784" cy="567055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51508" y="0"/>
            <a:ext cx="6577608" cy="567055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0FD8159-5BC8-B0C1-D21A-26900C30C5E1}"/>
              </a:ext>
            </a:extLst>
          </p:cNvPr>
          <p:cNvSpPr>
            <a:spLocks noGrp="1"/>
          </p:cNvSpPr>
          <p:nvPr>
            <p:ph type="title"/>
          </p:nvPr>
        </p:nvSpPr>
        <p:spPr>
          <a:xfrm>
            <a:off x="2113054" y="1192269"/>
            <a:ext cx="5854516" cy="3286011"/>
          </a:xfrm>
        </p:spPr>
        <p:txBody>
          <a:bodyPr vert="horz" lIns="91440" tIns="45720" rIns="91440" bIns="45720" rtlCol="0" anchor="ctr">
            <a:normAutofit/>
          </a:bodyPr>
          <a:lstStyle/>
          <a:p>
            <a:pPr algn="ctr"/>
            <a:r>
              <a:rPr lang="en-US" b="1">
                <a:solidFill>
                  <a:schemeClr val="bg1">
                    <a:lumMod val="95000"/>
                    <a:lumOff val="5000"/>
                  </a:schemeClr>
                </a:solidFill>
                <a:latin typeface="Aptos" panose="020B0004020202020204" pitchFamily="34" charset="0"/>
                <a:cs typeface="AL BAYAN PLAIN" pitchFamily="2" charset="-78"/>
              </a:rPr>
              <a:t>Condor Populations</a:t>
            </a:r>
          </a:p>
        </p:txBody>
      </p:sp>
    </p:spTree>
    <p:extLst>
      <p:ext uri="{BB962C8B-B14F-4D97-AF65-F5344CB8AC3E}">
        <p14:creationId xmlns:p14="http://schemas.microsoft.com/office/powerpoint/2010/main" val="389346825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EA86598-DA2C-41D5-BC0C-E877F8818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5040304"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laceHolder 1"/>
          <p:cNvSpPr>
            <a:spLocks noGrp="1"/>
          </p:cNvSpPr>
          <p:nvPr>
            <p:ph type="title"/>
          </p:nvPr>
        </p:nvSpPr>
        <p:spPr>
          <a:xfrm>
            <a:off x="955441" y="527335"/>
            <a:ext cx="3564183" cy="1345515"/>
          </a:xfrm>
          <a:prstGeom prst="rect">
            <a:avLst/>
          </a:prstGeom>
        </p:spPr>
        <p:txBody>
          <a:bodyPr vert="horz" lIns="91440" tIns="45720" rIns="91440" bIns="45720" rtlCol="0" anchor="t">
            <a:normAutofit/>
          </a:bodyPr>
          <a:lstStyle/>
          <a:p>
            <a:pPr indent="0"/>
            <a:r>
              <a:rPr lang="en-US" sz="3900" b="0" u="none" strike="noStrike" kern="1200">
                <a:solidFill>
                  <a:schemeClr val="bg1"/>
                </a:solidFill>
                <a:effectLst/>
                <a:uFillTx/>
                <a:latin typeface="Aptos" panose="020B0004020202020204" pitchFamily="34" charset="0"/>
              </a:rPr>
              <a:t>The California Condor</a:t>
            </a:r>
          </a:p>
        </p:txBody>
      </p:sp>
      <p:sp>
        <p:nvSpPr>
          <p:cNvPr id="19" name="Rectangle 18">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5440" y="1961421"/>
            <a:ext cx="378023" cy="378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laceHolder 2"/>
          <p:cNvSpPr>
            <a:spLocks noGrp="1"/>
          </p:cNvSpPr>
          <p:nvPr>
            <p:ph/>
          </p:nvPr>
        </p:nvSpPr>
        <p:spPr>
          <a:xfrm>
            <a:off x="510140" y="1155032"/>
            <a:ext cx="3987754" cy="3983465"/>
          </a:xfrm>
          <a:prstGeom prst="rect">
            <a:avLst/>
          </a:prstGeom>
        </p:spPr>
        <p:txBody>
          <a:bodyPr vert="horz" lIns="91440" tIns="45720" rIns="91440" bIns="45720" rtlCol="0">
            <a:normAutofit/>
          </a:bodyPr>
          <a:lstStyle/>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Largest North American Vulture</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~9.9ft wingspan</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Soars at ~15,000 ft</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Native to western California</a:t>
            </a:r>
          </a:p>
          <a:p>
            <a:pPr marL="4889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Wild population in 1987: </a:t>
            </a:r>
            <a:r>
              <a:rPr lang="en-US" sz="1600">
                <a:solidFill>
                  <a:schemeClr val="bg1"/>
                </a:solidFill>
                <a:latin typeface="+mn-lt"/>
                <a:ea typeface="+mn-ea"/>
                <a:cs typeface="+mn-cs"/>
              </a:rPr>
              <a:t>?</a:t>
            </a:r>
            <a:endParaRPr lang="en-US" sz="1600" b="0" u="none" strike="noStrike">
              <a:solidFill>
                <a:schemeClr val="bg1"/>
              </a:solidFill>
              <a:effectLst/>
              <a:uFillTx/>
              <a:latin typeface="+mn-lt"/>
              <a:ea typeface="+mn-ea"/>
              <a:cs typeface="+mn-cs"/>
            </a:endParaRPr>
          </a:p>
        </p:txBody>
      </p:sp>
      <p:sp>
        <p:nvSpPr>
          <p:cNvPr id="21" name="Rectangle 20">
            <a:extLst>
              <a:ext uri="{FF2B5EF4-FFF2-40B4-BE49-F238E27FC236}">
                <a16:creationId xmlns:a16="http://schemas.microsoft.com/office/drawing/2014/main" id="{87F16C5A-0D41-47A9-B0A2-9C2AD7A8CF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40312" y="0"/>
            <a:ext cx="5040304"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p:nvPr/>
        </p:nvPicPr>
        <p:blipFill>
          <a:blip r:embed="rId2"/>
          <a:stretch/>
        </p:blipFill>
        <p:spPr>
          <a:xfrm>
            <a:off x="5836292" y="183515"/>
            <a:ext cx="3701906" cy="5303520"/>
          </a:xfrm>
          <a:prstGeom prst="rect">
            <a:avLst/>
          </a:prstGeom>
          <a:noFill/>
        </p:spPr>
      </p:pic>
      <p:sp>
        <p:nvSpPr>
          <p:cNvPr id="2" name="TextBox 1">
            <a:extLst>
              <a:ext uri="{FF2B5EF4-FFF2-40B4-BE49-F238E27FC236}">
                <a16:creationId xmlns:a16="http://schemas.microsoft.com/office/drawing/2014/main" id="{CCD57FD5-C863-7EA3-FE51-3FCCB98FEF7F}"/>
              </a:ext>
            </a:extLst>
          </p:cNvPr>
          <p:cNvSpPr txBox="1"/>
          <p:nvPr/>
        </p:nvSpPr>
        <p:spPr>
          <a:xfrm>
            <a:off x="1039" y="5415019"/>
            <a:ext cx="594331"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000">
                <a:solidFill>
                  <a:schemeClr val="bg2">
                    <a:lumMod val="95000"/>
                  </a:schemeClr>
                </a:solidFill>
              </a:rPr>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a:extLst>
            <a:ext uri="{FF2B5EF4-FFF2-40B4-BE49-F238E27FC236}">
              <a16:creationId xmlns:a16="http://schemas.microsoft.com/office/drawing/2014/main" id="{A6ACC17B-A8D6-E029-1FA2-2A1FFFC90AB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303470B4-FF79-AF2F-FC69-04EDA84F37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5040304"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laceHolder 1">
            <a:extLst>
              <a:ext uri="{FF2B5EF4-FFF2-40B4-BE49-F238E27FC236}">
                <a16:creationId xmlns:a16="http://schemas.microsoft.com/office/drawing/2014/main" id="{F93AAD01-C815-09CA-AF8B-7CB72BA3D91F}"/>
              </a:ext>
            </a:extLst>
          </p:cNvPr>
          <p:cNvSpPr>
            <a:spLocks noGrp="1"/>
          </p:cNvSpPr>
          <p:nvPr>
            <p:ph type="title"/>
          </p:nvPr>
        </p:nvSpPr>
        <p:spPr>
          <a:xfrm>
            <a:off x="955441" y="527335"/>
            <a:ext cx="3564183" cy="1345515"/>
          </a:xfrm>
          <a:prstGeom prst="rect">
            <a:avLst/>
          </a:prstGeom>
        </p:spPr>
        <p:txBody>
          <a:bodyPr vert="horz" lIns="91440" tIns="45720" rIns="91440" bIns="45720" rtlCol="0" anchor="t">
            <a:normAutofit/>
          </a:bodyPr>
          <a:lstStyle/>
          <a:p>
            <a:pPr indent="0"/>
            <a:r>
              <a:rPr lang="en-US" sz="3900" b="0" u="none" strike="noStrike" kern="1200">
                <a:solidFill>
                  <a:schemeClr val="bg1"/>
                </a:solidFill>
                <a:effectLst/>
                <a:uFillTx/>
                <a:latin typeface="Aptos" panose="020B0004020202020204" pitchFamily="34" charset="0"/>
              </a:rPr>
              <a:t>The California Condor</a:t>
            </a:r>
          </a:p>
        </p:txBody>
      </p:sp>
      <p:sp>
        <p:nvSpPr>
          <p:cNvPr id="19" name="Rectangle 18">
            <a:extLst>
              <a:ext uri="{FF2B5EF4-FFF2-40B4-BE49-F238E27FC236}">
                <a16:creationId xmlns:a16="http://schemas.microsoft.com/office/drawing/2014/main" id="{4F1FAF3D-6D9F-6071-8B0A-AC7F0ED1D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5440" y="1961421"/>
            <a:ext cx="378023" cy="378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laceHolder 2">
            <a:extLst>
              <a:ext uri="{FF2B5EF4-FFF2-40B4-BE49-F238E27FC236}">
                <a16:creationId xmlns:a16="http://schemas.microsoft.com/office/drawing/2014/main" id="{63A652D6-37C3-2744-3D24-4EEC4211EEBA}"/>
              </a:ext>
            </a:extLst>
          </p:cNvPr>
          <p:cNvSpPr>
            <a:spLocks noGrp="1"/>
          </p:cNvSpPr>
          <p:nvPr>
            <p:ph/>
          </p:nvPr>
        </p:nvSpPr>
        <p:spPr>
          <a:xfrm>
            <a:off x="510140" y="1155032"/>
            <a:ext cx="3987754" cy="3983465"/>
          </a:xfrm>
          <a:prstGeom prst="rect">
            <a:avLst/>
          </a:prstGeom>
        </p:spPr>
        <p:txBody>
          <a:bodyPr vert="horz" lIns="91440" tIns="45720" rIns="91440" bIns="45720" rtlCol="0">
            <a:normAutofit/>
          </a:bodyPr>
          <a:lstStyle/>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Largest North American Vulture</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~9.9ft wingspan</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Soars at ~15,000 ft</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Native to western California</a:t>
            </a:r>
          </a:p>
          <a:p>
            <a:pPr marL="489150" indent="-285750">
              <a:spcBef>
                <a:spcPts val="1417"/>
              </a:spcBef>
              <a:buClr>
                <a:schemeClr val="bg1"/>
              </a:buClr>
              <a:buSzPct val="45000"/>
              <a:buFont typeface="Wingdings" pitchFamily="2" charset="2"/>
              <a:buChar char="§"/>
            </a:pPr>
            <a:r>
              <a:rPr lang="en-US" sz="1600" b="0" u="none" strike="noStrike">
                <a:solidFill>
                  <a:schemeClr val="bg1"/>
                </a:solidFill>
                <a:effectLst/>
                <a:uFillTx/>
                <a:latin typeface="+mn-lt"/>
                <a:ea typeface="+mn-ea"/>
                <a:cs typeface="+mn-cs"/>
              </a:rPr>
              <a:t>Wild population in 1987: 22</a:t>
            </a:r>
          </a:p>
        </p:txBody>
      </p:sp>
      <p:sp>
        <p:nvSpPr>
          <p:cNvPr id="21" name="Rectangle 20">
            <a:extLst>
              <a:ext uri="{FF2B5EF4-FFF2-40B4-BE49-F238E27FC236}">
                <a16:creationId xmlns:a16="http://schemas.microsoft.com/office/drawing/2014/main" id="{FAC7E030-DAC6-0514-5437-39ACF04CF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40312" y="0"/>
            <a:ext cx="5040304"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0544B03-1AED-FD0F-8531-648A87A6CC86}"/>
              </a:ext>
            </a:extLst>
          </p:cNvPr>
          <p:cNvPicPr/>
          <p:nvPr/>
        </p:nvPicPr>
        <p:blipFill>
          <a:blip r:embed="rId2"/>
          <a:stretch/>
        </p:blipFill>
        <p:spPr>
          <a:xfrm>
            <a:off x="5836292" y="183515"/>
            <a:ext cx="3701906" cy="5303520"/>
          </a:xfrm>
          <a:prstGeom prst="rect">
            <a:avLst/>
          </a:prstGeom>
          <a:noFill/>
        </p:spPr>
      </p:pic>
      <p:sp>
        <p:nvSpPr>
          <p:cNvPr id="2" name="TextBox 1">
            <a:extLst>
              <a:ext uri="{FF2B5EF4-FFF2-40B4-BE49-F238E27FC236}">
                <a16:creationId xmlns:a16="http://schemas.microsoft.com/office/drawing/2014/main" id="{0265EBFB-18EB-EF14-F4A8-437EF1075F17}"/>
              </a:ext>
            </a:extLst>
          </p:cNvPr>
          <p:cNvSpPr txBox="1"/>
          <p:nvPr/>
        </p:nvSpPr>
        <p:spPr>
          <a:xfrm>
            <a:off x="1039" y="5415019"/>
            <a:ext cx="594331"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000">
                <a:solidFill>
                  <a:schemeClr val="bg2">
                    <a:lumMod val="95000"/>
                  </a:schemeClr>
                </a:solidFill>
              </a:rPr>
              <a:t>//</a:t>
            </a:r>
          </a:p>
        </p:txBody>
      </p:sp>
    </p:spTree>
    <p:extLst>
      <p:ext uri="{BB962C8B-B14F-4D97-AF65-F5344CB8AC3E}">
        <p14:creationId xmlns:p14="http://schemas.microsoft.com/office/powerpoint/2010/main" val="1770463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5040304"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40312" y="0"/>
            <a:ext cx="5040304"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laceHolder 1"/>
          <p:cNvSpPr>
            <a:spLocks noGrp="1"/>
          </p:cNvSpPr>
          <p:nvPr>
            <p:ph type="title"/>
          </p:nvPr>
        </p:nvSpPr>
        <p:spPr>
          <a:xfrm>
            <a:off x="5568362" y="527335"/>
            <a:ext cx="3564184" cy="1345515"/>
          </a:xfrm>
          <a:prstGeom prst="rect">
            <a:avLst/>
          </a:prstGeom>
        </p:spPr>
        <p:txBody>
          <a:bodyPr vert="horz" lIns="91440" tIns="45720" rIns="91440" bIns="45720" rtlCol="0" anchor="t">
            <a:normAutofit/>
          </a:bodyPr>
          <a:lstStyle/>
          <a:p>
            <a:pPr indent="0"/>
            <a:r>
              <a:rPr lang="en-US" sz="3100" b="0" u="none" strike="noStrike">
                <a:effectLst/>
                <a:uFillTx/>
                <a:latin typeface="Aptos" panose="020B0004020202020204" pitchFamily="34" charset="0"/>
              </a:rPr>
              <a:t>Condor Conservation Effort</a:t>
            </a:r>
          </a:p>
        </p:txBody>
      </p:sp>
      <p:pic>
        <p:nvPicPr>
          <p:cNvPr id="15" name="Picture 14"/>
          <p:cNvPicPr/>
          <p:nvPr/>
        </p:nvPicPr>
        <p:blipFill>
          <a:blip r:embed="rId2"/>
          <a:srcRect t="555" r="-3" b="13531"/>
          <a:stretch>
            <a:fillRect/>
          </a:stretch>
        </p:blipFill>
        <p:spPr>
          <a:xfrm>
            <a:off x="955432" y="527334"/>
            <a:ext cx="3542447" cy="4611163"/>
          </a:xfrm>
          <a:prstGeom prst="rect">
            <a:avLst/>
          </a:prstGeom>
          <a:noFill/>
        </p:spPr>
      </p:pic>
      <p:sp>
        <p:nvSpPr>
          <p:cNvPr id="24" name="Rectangle 23">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68362" y="1942599"/>
            <a:ext cx="378024" cy="3780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laceHolder 2"/>
          <p:cNvSpPr>
            <a:spLocks noGrp="1"/>
          </p:cNvSpPr>
          <p:nvPr>
            <p:ph/>
          </p:nvPr>
        </p:nvSpPr>
        <p:spPr>
          <a:xfrm>
            <a:off x="5568362" y="2113415"/>
            <a:ext cx="3564184" cy="3025082"/>
          </a:xfrm>
          <a:prstGeom prst="rect">
            <a:avLst/>
          </a:prstGeom>
        </p:spPr>
        <p:txBody>
          <a:bodyPr vert="horz" lIns="91440" tIns="45720" rIns="91440" bIns="45720" rtlCol="0">
            <a:normAutofit lnSpcReduction="10000"/>
          </a:bodyPr>
          <a:lstStyle/>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Starting in 1987, all 22 wild Condors were captured</a:t>
            </a:r>
          </a:p>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Condor pairs will only naturally produce 1 chick every ~3 years</a:t>
            </a:r>
          </a:p>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In captivity, ~ 1 chick per year</a:t>
            </a:r>
          </a:p>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“Double Clutching” effectively doubles this rate</a:t>
            </a:r>
          </a:p>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Juveniles are periodically released to the wild</a:t>
            </a:r>
          </a:p>
          <a:p>
            <a:pPr marL="432000" indent="-228600">
              <a:spcBef>
                <a:spcPts val="1417"/>
              </a:spcBef>
              <a:buClr>
                <a:srgbClr val="000000"/>
              </a:buClr>
              <a:buSzPct val="45000"/>
              <a:buFont typeface="Arial" panose="020B0604020202020204" pitchFamily="34" charset="0"/>
              <a:buChar char="•"/>
            </a:pPr>
            <a:r>
              <a:rPr lang="en-US" sz="1400" b="0" u="none" strike="noStrike">
                <a:effectLst/>
                <a:uFillTx/>
                <a:latin typeface="+mn-lt"/>
                <a:ea typeface="+mn-ea"/>
                <a:cs typeface="+mn-cs"/>
              </a:rPr>
              <a:t>Estimated 2024 wild population:  369</a:t>
            </a:r>
            <a:r>
              <a:rPr lang="en-US" sz="1400" b="0" u="none" strike="noStrike" baseline="33000">
                <a:effectLst/>
                <a:uFillTx/>
                <a:latin typeface="+mn-lt"/>
                <a:ea typeface="+mn-ea"/>
                <a:cs typeface="+mn-cs"/>
              </a:rPr>
              <a:t>1</a:t>
            </a:r>
            <a:endParaRPr lang="en-US" sz="1400" b="0" u="none" strike="noStrike">
              <a:effectLst/>
              <a:uFillTx/>
              <a:latin typeface="+mn-lt"/>
              <a:ea typeface="+mn-ea"/>
              <a:cs typeface="+mn-cs"/>
            </a:endParaRPr>
          </a:p>
        </p:txBody>
      </p:sp>
      <p:sp>
        <p:nvSpPr>
          <p:cNvPr id="3" name="TextBox 2">
            <a:extLst>
              <a:ext uri="{FF2B5EF4-FFF2-40B4-BE49-F238E27FC236}">
                <a16:creationId xmlns:a16="http://schemas.microsoft.com/office/drawing/2014/main" id="{3D907508-D58C-9AF2-85DA-78A73221EA41}"/>
              </a:ext>
            </a:extLst>
          </p:cNvPr>
          <p:cNvSpPr txBox="1"/>
          <p:nvPr/>
        </p:nvSpPr>
        <p:spPr>
          <a:xfrm>
            <a:off x="1039" y="5415019"/>
            <a:ext cx="594331"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000">
                <a:solidFill>
                  <a:schemeClr val="bg2">
                    <a:lumMod val="95000"/>
                  </a:schemeClr>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92634" y="0"/>
            <a:ext cx="6987982"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3096598"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laceHolder 1"/>
          <p:cNvSpPr>
            <a:spLocks noGrp="1"/>
          </p:cNvSpPr>
          <p:nvPr>
            <p:ph type="title"/>
          </p:nvPr>
        </p:nvSpPr>
        <p:spPr>
          <a:xfrm>
            <a:off x="250257" y="527334"/>
            <a:ext cx="2517643" cy="4611163"/>
          </a:xfrm>
          <a:prstGeom prst="rect">
            <a:avLst/>
          </a:prstGeom>
        </p:spPr>
        <p:txBody>
          <a:bodyPr vert="horz" lIns="91440" tIns="45720" rIns="91440" bIns="45720" rtlCol="0" anchor="t">
            <a:normAutofit/>
          </a:bodyPr>
          <a:lstStyle/>
          <a:p>
            <a:pPr indent="0"/>
            <a:r>
              <a:rPr lang="en-US" sz="3000" b="0" u="none" strike="noStrike" kern="1200">
                <a:solidFill>
                  <a:schemeClr val="bg1"/>
                </a:solidFill>
                <a:effectLst/>
                <a:uFillTx/>
                <a:latin typeface="Aptos" panose="020B0004020202020204" pitchFamily="34" charset="0"/>
              </a:rPr>
              <a:t>Guiding Questions</a:t>
            </a:r>
          </a:p>
        </p:txBody>
      </p:sp>
      <p:sp>
        <p:nvSpPr>
          <p:cNvPr id="26" name="Rectangle 25">
            <a:extLst>
              <a:ext uri="{FF2B5EF4-FFF2-40B4-BE49-F238E27FC236}">
                <a16:creationId xmlns:a16="http://schemas.microsoft.com/office/drawing/2014/main" id="{B8EAE243-3A9F-4A46-B0D9-04C723A8A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48639" y="532050"/>
            <a:ext cx="378024" cy="3780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laceHolder 2"/>
          <p:cNvSpPr>
            <a:spLocks noGrp="1"/>
          </p:cNvSpPr>
          <p:nvPr>
            <p:ph/>
          </p:nvPr>
        </p:nvSpPr>
        <p:spPr>
          <a:xfrm>
            <a:off x="3848639" y="702867"/>
            <a:ext cx="5283913" cy="4404566"/>
          </a:xfrm>
          <a:prstGeom prst="rect">
            <a:avLst/>
          </a:prstGeom>
        </p:spPr>
        <p:txBody>
          <a:bodyPr vert="horz" lIns="91440" tIns="45720" rIns="91440" bIns="45720" rtlCol="0">
            <a:normAutofit/>
          </a:bodyPr>
          <a:lstStyle/>
          <a:p>
            <a:pPr marL="431800" indent="-228600">
              <a:spcBef>
                <a:spcPts val="1417"/>
              </a:spcBef>
              <a:buClr>
                <a:srgbClr val="000000"/>
              </a:buClr>
              <a:buSzPct val="45000"/>
              <a:buFont typeface="Arial" panose="020B0604020202020204" pitchFamily="34" charset="0"/>
              <a:buChar char="•"/>
            </a:pPr>
            <a:r>
              <a:rPr lang="en-US" sz="2000" b="0" u="none" strike="noStrike" dirty="0">
                <a:effectLst/>
                <a:uFillTx/>
                <a:latin typeface="+mn-lt"/>
                <a:ea typeface="+mn-ea"/>
                <a:cs typeface="+mn-cs"/>
              </a:rPr>
              <a:t>In a species with low birth rates, how does a breeding program influence population growth? </a:t>
            </a:r>
            <a:endParaRPr lang="en-US" dirty="0"/>
          </a:p>
          <a:p>
            <a:pPr marL="431800" indent="-228600">
              <a:spcBef>
                <a:spcPts val="1417"/>
              </a:spcBef>
              <a:buClr>
                <a:srgbClr val="000000"/>
              </a:buClr>
              <a:buSzPct val="45000"/>
              <a:buFont typeface="Arial" panose="020B0604020202020204" pitchFamily="34" charset="0"/>
              <a:buChar char="•"/>
            </a:pPr>
            <a:r>
              <a:rPr lang="en-US" sz="2000" b="0" u="none" strike="noStrike" dirty="0">
                <a:effectLst/>
                <a:uFillTx/>
                <a:latin typeface="+mn-lt"/>
                <a:ea typeface="+mn-ea"/>
                <a:cs typeface="+mn-cs"/>
              </a:rPr>
              <a:t>Does this program accomplish its goal?</a:t>
            </a:r>
            <a:endParaRPr lang="en-US" dirty="0">
              <a:latin typeface="+mn-lt"/>
              <a:ea typeface="+mn-ea"/>
              <a:cs typeface="+mn-cs"/>
            </a:endParaRPr>
          </a:p>
          <a:p>
            <a:pPr marL="431800" indent="-228600">
              <a:spcBef>
                <a:spcPts val="1417"/>
              </a:spcBef>
              <a:buClr>
                <a:srgbClr val="000000"/>
              </a:buClr>
              <a:buSzPct val="45000"/>
              <a:buFont typeface="Arial" panose="020B0604020202020204" pitchFamily="34" charset="0"/>
              <a:buChar char="•"/>
            </a:pPr>
            <a:r>
              <a:rPr lang="en-US" sz="2000" dirty="0">
                <a:latin typeface="+mn-lt"/>
                <a:ea typeface="+mn-ea"/>
                <a:cs typeface="+mn-cs"/>
              </a:rPr>
              <a:t>Given current population statistics and varying initial conditions, can we infer true mortality rates from this model?</a:t>
            </a:r>
            <a:endParaRPr lang="en-US" b="0" u="none" strike="noStrike">
              <a:effectLst/>
              <a:uFillTx/>
              <a:latin typeface="+mn-lt"/>
              <a:ea typeface="+mn-ea"/>
              <a:cs typeface="+mn-cs"/>
            </a:endParaRPr>
          </a:p>
        </p:txBody>
      </p:sp>
      <p:pic>
        <p:nvPicPr>
          <p:cNvPr id="4" name="Graphic 3">
            <a:extLst>
              <a:ext uri="{FF2B5EF4-FFF2-40B4-BE49-F238E27FC236}">
                <a16:creationId xmlns:a16="http://schemas.microsoft.com/office/drawing/2014/main" id="{1BB8E2C2-FCF6-922F-1334-F08E78BF2D1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0456" y="2098979"/>
            <a:ext cx="1628775" cy="1819275"/>
          </a:xfrm>
          <a:prstGeom prst="rect">
            <a:avLst/>
          </a:prstGeom>
        </p:spPr>
      </p:pic>
      <p:sp>
        <p:nvSpPr>
          <p:cNvPr id="2" name="TextBox 1">
            <a:extLst>
              <a:ext uri="{FF2B5EF4-FFF2-40B4-BE49-F238E27FC236}">
                <a16:creationId xmlns:a16="http://schemas.microsoft.com/office/drawing/2014/main" id="{ABD026BF-D236-D770-0F0B-FEBB1369479A}"/>
              </a:ext>
            </a:extLst>
          </p:cNvPr>
          <p:cNvSpPr txBox="1"/>
          <p:nvPr/>
        </p:nvSpPr>
        <p:spPr>
          <a:xfrm>
            <a:off x="4396" y="5385050"/>
            <a:ext cx="5040312" cy="7925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lnSpc>
                <a:spcPts val="1200"/>
              </a:lnSpc>
            </a:pPr>
            <a:r>
              <a:rPr lang="en-US" sz="1000" b="0" i="0" u="none" strike="noStrike" baseline="0" dirty="0">
                <a:solidFill>
                  <a:schemeClr val="bg1"/>
                </a:solidFill>
                <a:latin typeface="Arial"/>
                <a:ea typeface="Segoe UI"/>
                <a:cs typeface="Segoe UI"/>
              </a:rPr>
              <a:t>//</a:t>
            </a:r>
            <a:r>
              <a:rPr lang="en-US" sz="1000" b="0" i="0" dirty="0">
                <a:solidFill>
                  <a:schemeClr val="bg1"/>
                </a:solidFill>
                <a:latin typeface="Arial"/>
                <a:ea typeface="Segoe UI"/>
                <a:cs typeface="Segoe UI"/>
              </a:rPr>
              <a:t>​</a:t>
            </a:r>
            <a:r>
              <a:rPr lang="en-US" sz="1000" dirty="0">
                <a:solidFill>
                  <a:schemeClr val="bg1"/>
                </a:solidFill>
                <a:latin typeface="Arial"/>
                <a:ea typeface="Segoe UI"/>
                <a:cs typeface="Segoe UI"/>
              </a:rPr>
              <a:t>/</a:t>
            </a:r>
            <a:endParaRPr lang="en-US" sz="1000" b="0" i="0" dirty="0">
              <a:solidFill>
                <a:schemeClr val="bg1"/>
              </a:solidFill>
              <a:latin typeface="Arial"/>
              <a:ea typeface="Segoe UI"/>
              <a:cs typeface="Segoe UI"/>
            </a:endParaRPr>
          </a:p>
          <a:p>
            <a:pPr algn="l" rtl="0">
              <a:lnSpc>
                <a:spcPts val="2100"/>
              </a:lnSpc>
            </a:pPr>
            <a:r>
              <a:rPr lang="en-US" sz="1800" b="0" i="0" dirty="0">
                <a:solidFill>
                  <a:srgbClr val="000000"/>
                </a:solidFill>
                <a:latin typeface="Arial"/>
                <a:ea typeface="Segoe UI"/>
                <a:cs typeface="Segoe UI"/>
              </a:rPr>
              <a:t>​</a:t>
            </a:r>
          </a:p>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92634" y="0"/>
            <a:ext cx="6987982"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3096598"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laceHolder 1"/>
          <p:cNvSpPr>
            <a:spLocks noGrp="1"/>
          </p:cNvSpPr>
          <p:nvPr>
            <p:ph type="title"/>
          </p:nvPr>
        </p:nvSpPr>
        <p:spPr>
          <a:xfrm>
            <a:off x="433137" y="527334"/>
            <a:ext cx="2334763" cy="4611163"/>
          </a:xfrm>
          <a:prstGeom prst="rect">
            <a:avLst/>
          </a:prstGeom>
        </p:spPr>
        <p:txBody>
          <a:bodyPr vert="horz" lIns="91440" tIns="45720" rIns="91440" bIns="45720" rtlCol="0" anchor="t">
            <a:normAutofit/>
          </a:bodyPr>
          <a:lstStyle/>
          <a:p>
            <a:pPr indent="0"/>
            <a:r>
              <a:rPr lang="en-US" sz="2800" b="0" u="none" strike="noStrike" kern="1200">
                <a:solidFill>
                  <a:schemeClr val="bg1"/>
                </a:solidFill>
                <a:effectLst/>
                <a:uFillTx/>
                <a:latin typeface="Aptos" panose="020B0004020202020204" pitchFamily="34" charset="0"/>
              </a:rPr>
              <a:t>Assumptions</a:t>
            </a:r>
          </a:p>
        </p:txBody>
      </p:sp>
      <p:sp>
        <p:nvSpPr>
          <p:cNvPr id="28" name="Rectangle 27">
            <a:extLst>
              <a:ext uri="{FF2B5EF4-FFF2-40B4-BE49-F238E27FC236}">
                <a16:creationId xmlns:a16="http://schemas.microsoft.com/office/drawing/2014/main" id="{B8EAE243-3A9F-4A46-B0D9-04C723A8A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48639" y="532050"/>
            <a:ext cx="378024" cy="3780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laceHolder 2"/>
          <p:cNvSpPr>
            <a:spLocks noGrp="1"/>
          </p:cNvSpPr>
          <p:nvPr>
            <p:ph/>
          </p:nvPr>
        </p:nvSpPr>
        <p:spPr>
          <a:xfrm>
            <a:off x="3848639" y="702867"/>
            <a:ext cx="5283913" cy="4404566"/>
          </a:xfrm>
          <a:prstGeom prst="rect">
            <a:avLst/>
          </a:prstGeom>
        </p:spPr>
        <p:txBody>
          <a:bodyPr vert="horz" lIns="91440" tIns="45720" rIns="91440" bIns="45720" rtlCol="0">
            <a:normAutofit/>
          </a:bodyPr>
          <a:lstStyle/>
          <a:p>
            <a:pPr marL="431800" indent="-228600">
              <a:spcBef>
                <a:spcPts val="1417"/>
              </a:spcBef>
              <a:buClr>
                <a:srgbClr val="000000"/>
              </a:buClr>
              <a:buSzPct val="45000"/>
              <a:buFont typeface="Arial" panose="020B0604020202020204" pitchFamily="34" charset="0"/>
              <a:buChar char="•"/>
            </a:pPr>
            <a:r>
              <a:rPr lang="en-US" sz="2000" b="0" u="none" strike="noStrike" dirty="0">
                <a:effectLst/>
                <a:uFillTx/>
                <a:latin typeface="+mn-lt"/>
                <a:ea typeface="+mn-ea"/>
                <a:cs typeface="+mn-cs"/>
              </a:rPr>
              <a:t>Reproductive maturity: </a:t>
            </a:r>
            <a:r>
              <a:rPr lang="en-US" sz="2000" b="0" u="sng" strike="noStrike" dirty="0">
                <a:effectLst/>
                <a:uFillTx/>
                <a:latin typeface="+mn-lt"/>
                <a:ea typeface="+mn-ea"/>
                <a:cs typeface="+mn-cs"/>
              </a:rPr>
              <a:t>7</a:t>
            </a:r>
            <a:r>
              <a:rPr lang="en-US" sz="2000" b="0" u="none" strike="noStrike" dirty="0">
                <a:effectLst/>
                <a:uFillTx/>
                <a:latin typeface="+mn-lt"/>
                <a:ea typeface="+mn-ea"/>
                <a:cs typeface="+mn-cs"/>
              </a:rPr>
              <a:t> (captive) or </a:t>
            </a:r>
            <a:r>
              <a:rPr lang="en-US" sz="2000" b="0" u="sng" strike="noStrike" dirty="0">
                <a:effectLst/>
                <a:uFillTx/>
                <a:latin typeface="+mn-lt"/>
                <a:ea typeface="+mn-ea"/>
                <a:cs typeface="+mn-cs"/>
              </a:rPr>
              <a:t>8</a:t>
            </a:r>
            <a:r>
              <a:rPr lang="en-US" sz="2000" b="0" u="none" strike="noStrike" dirty="0">
                <a:effectLst/>
                <a:uFillTx/>
                <a:latin typeface="+mn-lt"/>
                <a:ea typeface="+mn-ea"/>
                <a:cs typeface="+mn-cs"/>
              </a:rPr>
              <a:t> (wild) years</a:t>
            </a:r>
            <a:endParaRPr lang="en-US" dirty="0"/>
          </a:p>
          <a:p>
            <a:pPr marL="431800" indent="-228600">
              <a:spcBef>
                <a:spcPts val="1417"/>
              </a:spcBef>
              <a:buClr>
                <a:srgbClr val="000000"/>
              </a:buClr>
              <a:buSzPct val="45000"/>
              <a:buFont typeface="Arial" panose="020B0604020202020204" pitchFamily="34" charset="0"/>
              <a:buChar char="•"/>
            </a:pPr>
            <a:r>
              <a:rPr lang="en-US" sz="2000" b="0" u="none" strike="noStrike" dirty="0">
                <a:effectLst/>
                <a:uFillTx/>
                <a:latin typeface="+mn-lt"/>
                <a:ea typeface="+mn-ea"/>
                <a:cs typeface="+mn-cs"/>
              </a:rPr>
              <a:t>Captive productivity rate: </a:t>
            </a:r>
            <a:r>
              <a:rPr lang="en-US" sz="2000" b="0" u="sng" strike="noStrike" dirty="0">
                <a:effectLst/>
                <a:uFillTx/>
                <a:latin typeface="+mn-lt"/>
                <a:ea typeface="+mn-ea"/>
                <a:cs typeface="+mn-cs"/>
              </a:rPr>
              <a:t>0.9/yr </a:t>
            </a:r>
            <a:r>
              <a:rPr lang="en-US" sz="2000" u="sng" dirty="0">
                <a:latin typeface="+mn-lt"/>
                <a:ea typeface="+mn-ea"/>
                <a:cs typeface="+mn-cs"/>
              </a:rPr>
              <a:t>(1.8</a:t>
            </a:r>
            <a:r>
              <a:rPr lang="en-US" sz="2000" b="0" u="sng" strike="noStrike" dirty="0">
                <a:effectLst/>
                <a:uFillTx/>
                <a:latin typeface="+mn-lt"/>
                <a:ea typeface="+mn-ea"/>
                <a:cs typeface="+mn-cs"/>
              </a:rPr>
              <a:t>/yr with double clutching)</a:t>
            </a:r>
          </a:p>
          <a:p>
            <a:pPr marL="431800" indent="-228600">
              <a:spcBef>
                <a:spcPts val="1417"/>
              </a:spcBef>
              <a:buClr>
                <a:srgbClr val="000000"/>
              </a:buClr>
              <a:buSzPct val="45000"/>
              <a:buFont typeface="Arial" panose="020B0604020202020204" pitchFamily="34" charset="0"/>
              <a:buChar char="•"/>
            </a:pPr>
            <a:r>
              <a:rPr lang="en-US" sz="2000" b="0" u="none" strike="noStrike" dirty="0">
                <a:effectLst/>
                <a:uFillTx/>
                <a:latin typeface="+mn-lt"/>
                <a:ea typeface="+mn-ea"/>
                <a:cs typeface="+mn-cs"/>
              </a:rPr>
              <a:t>Wild productivity rate: </a:t>
            </a:r>
            <a:r>
              <a:rPr lang="en-US" sz="2000" b="0" u="sng" strike="noStrike" dirty="0">
                <a:effectLst/>
                <a:uFillTx/>
                <a:latin typeface="+mn-lt"/>
                <a:ea typeface="+mn-ea"/>
                <a:cs typeface="+mn-cs"/>
              </a:rPr>
              <a:t>0.3729/yr</a:t>
            </a:r>
            <a:endParaRPr lang="en-US" sz="2000" b="0" u="none" strike="noStrike" dirty="0">
              <a:effectLst/>
              <a:uFillTx/>
              <a:latin typeface="+mn-lt"/>
              <a:ea typeface="+mn-ea"/>
              <a:cs typeface="+mn-cs"/>
            </a:endParaRPr>
          </a:p>
          <a:p>
            <a:pPr marL="431800" indent="-228600">
              <a:spcBef>
                <a:spcPts val="1417"/>
              </a:spcBef>
              <a:buClr>
                <a:srgbClr val="000000"/>
              </a:buClr>
              <a:buSzPct val="45000"/>
              <a:buFont typeface="Arial" panose="020B0604020202020204" pitchFamily="34" charset="0"/>
              <a:buChar char="•"/>
            </a:pPr>
            <a:r>
              <a:rPr lang="en-US" sz="2000" b="0" u="sng" strike="noStrike" dirty="0">
                <a:effectLst/>
                <a:uFillTx/>
                <a:latin typeface="+mn-lt"/>
                <a:ea typeface="+mn-ea"/>
                <a:cs typeface="+mn-cs"/>
              </a:rPr>
              <a:t>Equal</a:t>
            </a:r>
            <a:r>
              <a:rPr lang="en-US" sz="2000" b="0" u="none" strike="noStrike" dirty="0">
                <a:effectLst/>
                <a:uFillTx/>
                <a:latin typeface="+mn-lt"/>
                <a:ea typeface="+mn-ea"/>
                <a:cs typeface="+mn-cs"/>
              </a:rPr>
              <a:t> male/female population</a:t>
            </a:r>
          </a:p>
          <a:p>
            <a:pPr marL="431800" indent="-228600">
              <a:spcBef>
                <a:spcPts val="1417"/>
              </a:spcBef>
              <a:buClr>
                <a:srgbClr val="000000"/>
              </a:buClr>
              <a:buSzPct val="45000"/>
              <a:buFont typeface="Arial" panose="020B0604020202020204" pitchFamily="34" charset="0"/>
              <a:buChar char="•"/>
            </a:pPr>
            <a:r>
              <a:rPr lang="en-US" sz="2000" dirty="0">
                <a:latin typeface="+mn-lt"/>
                <a:ea typeface="+mn-ea"/>
                <a:cs typeface="+mn-cs"/>
              </a:rPr>
              <a:t>All adults mate</a:t>
            </a:r>
            <a:endParaRPr lang="en-US" sz="2000" b="0" u="none" strike="noStrike" dirty="0">
              <a:effectLst/>
              <a:uFillTx/>
              <a:latin typeface="+mn-lt"/>
              <a:ea typeface="+mn-ea"/>
              <a:cs typeface="+mn-cs"/>
            </a:endParaRPr>
          </a:p>
        </p:txBody>
      </p:sp>
      <p:sp>
        <p:nvSpPr>
          <p:cNvPr id="2" name="TextBox 1">
            <a:extLst>
              <a:ext uri="{FF2B5EF4-FFF2-40B4-BE49-F238E27FC236}">
                <a16:creationId xmlns:a16="http://schemas.microsoft.com/office/drawing/2014/main" id="{32AEC3D2-8FD7-838A-0D24-2255C4530B3B}"/>
              </a:ext>
            </a:extLst>
          </p:cNvPr>
          <p:cNvSpPr txBox="1"/>
          <p:nvPr/>
        </p:nvSpPr>
        <p:spPr>
          <a:xfrm>
            <a:off x="-470" y="5404514"/>
            <a:ext cx="5040312" cy="7925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lnSpc>
                <a:spcPts val="1200"/>
              </a:lnSpc>
            </a:pPr>
            <a:r>
              <a:rPr lang="en-US" sz="1000" b="0" i="0" u="none" strike="noStrike" baseline="0" dirty="0">
                <a:solidFill>
                  <a:schemeClr val="bg1"/>
                </a:solidFill>
                <a:latin typeface="Arial"/>
                <a:ea typeface="Segoe UI"/>
                <a:cs typeface="Segoe UI"/>
              </a:rPr>
              <a:t>//</a:t>
            </a:r>
            <a:r>
              <a:rPr lang="en-US" sz="1000" b="0" i="0" dirty="0">
                <a:solidFill>
                  <a:schemeClr val="bg1"/>
                </a:solidFill>
                <a:latin typeface="Arial"/>
                <a:ea typeface="Segoe UI"/>
                <a:cs typeface="Segoe UI"/>
              </a:rPr>
              <a:t>​</a:t>
            </a:r>
            <a:r>
              <a:rPr lang="en-US" sz="1000" dirty="0">
                <a:solidFill>
                  <a:schemeClr val="bg1"/>
                </a:solidFill>
                <a:latin typeface="Arial"/>
                <a:ea typeface="Segoe UI"/>
                <a:cs typeface="Segoe UI"/>
              </a:rPr>
              <a:t>/</a:t>
            </a:r>
            <a:endParaRPr lang="en-US" sz="1000" b="0" i="0" dirty="0">
              <a:solidFill>
                <a:schemeClr val="bg1"/>
              </a:solidFill>
              <a:latin typeface="Arial"/>
              <a:ea typeface="Segoe UI"/>
              <a:cs typeface="Segoe UI"/>
            </a:endParaRPr>
          </a:p>
          <a:p>
            <a:pPr algn="l" rtl="0">
              <a:lnSpc>
                <a:spcPts val="2100"/>
              </a:lnSpc>
            </a:pPr>
            <a:r>
              <a:rPr lang="en-US" sz="1800" b="0" i="0" dirty="0">
                <a:solidFill>
                  <a:srgbClr val="000000"/>
                </a:solidFill>
                <a:latin typeface="Arial"/>
                <a:ea typeface="Segoe UI"/>
                <a:cs typeface="Segoe UI"/>
              </a:rPr>
              <a:t>​</a:t>
            </a:r>
          </a:p>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92634" y="0"/>
            <a:ext cx="6987982"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3096598"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8EAE243-3A9F-4A46-B0D9-04C723A8A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48639" y="532050"/>
            <a:ext cx="378024" cy="3780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laceHolder 2"/>
          <p:cNvSpPr>
            <a:spLocks noGrp="1"/>
          </p:cNvSpPr>
          <p:nvPr>
            <p:ph/>
          </p:nvPr>
        </p:nvSpPr>
        <p:spPr>
          <a:xfrm>
            <a:off x="3848639" y="702867"/>
            <a:ext cx="5283913" cy="4404566"/>
          </a:xfrm>
          <a:prstGeom prst="rect">
            <a:avLst/>
          </a:prstGeom>
        </p:spPr>
        <p:txBody>
          <a:bodyPr vert="horz" lIns="91440" tIns="45720" rIns="91440" bIns="45720" rtlCol="0">
            <a:normAutofit/>
          </a:bodyPr>
          <a:lstStyle/>
          <a:p>
            <a:pPr marL="432000" indent="-228600">
              <a:spcBef>
                <a:spcPts val="1417"/>
              </a:spcBef>
              <a:buClr>
                <a:srgbClr val="000000"/>
              </a:buClr>
              <a:buSzPct val="45000"/>
              <a:buFont typeface="Arial" panose="020B0604020202020204" pitchFamily="34" charset="0"/>
              <a:buChar char="•"/>
            </a:pPr>
            <a:r>
              <a:rPr lang="en-US" sz="2000" b="0" u="none" strike="noStrike">
                <a:effectLst/>
                <a:uFillTx/>
                <a:latin typeface="+mn-lt"/>
                <a:ea typeface="+mn-ea"/>
                <a:cs typeface="+mn-cs"/>
              </a:rPr>
              <a:t>80% of year 1 juveniles are released each year</a:t>
            </a:r>
          </a:p>
          <a:p>
            <a:pPr marL="432000" indent="-228600">
              <a:spcBef>
                <a:spcPts val="1417"/>
              </a:spcBef>
              <a:buClr>
                <a:srgbClr val="000000"/>
              </a:buClr>
              <a:buSzPct val="45000"/>
              <a:buFont typeface="Arial" panose="020B0604020202020204" pitchFamily="34" charset="0"/>
              <a:buChar char="•"/>
            </a:pPr>
            <a:r>
              <a:rPr lang="en-US" sz="2000"/>
              <a:t>Captive population capacity: </a:t>
            </a:r>
            <a:r>
              <a:rPr lang="en-US" sz="2000" u="sng"/>
              <a:t>150</a:t>
            </a:r>
            <a:endParaRPr lang="en-US" sz="2000"/>
          </a:p>
          <a:p>
            <a:pPr marL="432000" indent="-228600">
              <a:spcBef>
                <a:spcPts val="1417"/>
              </a:spcBef>
              <a:buClr>
                <a:srgbClr val="000000"/>
              </a:buClr>
              <a:buSzPct val="45000"/>
              <a:buFont typeface="Arial" panose="020B0604020202020204" pitchFamily="34" charset="0"/>
              <a:buChar char="•"/>
            </a:pPr>
            <a:r>
              <a:rPr lang="en-US" sz="2000"/>
              <a:t>Wild population capacity: </a:t>
            </a:r>
            <a:r>
              <a:rPr lang="en-US" sz="2000" u="sng"/>
              <a:t>400</a:t>
            </a:r>
            <a:endParaRPr lang="en-US" sz="2000" b="0" u="none" strike="noStrike">
              <a:effectLst/>
              <a:uFillTx/>
              <a:latin typeface="+mn-lt"/>
              <a:ea typeface="+mn-ea"/>
              <a:cs typeface="+mn-cs"/>
            </a:endParaRPr>
          </a:p>
          <a:p>
            <a:pPr marL="432000" indent="-228600">
              <a:spcBef>
                <a:spcPts val="1417"/>
              </a:spcBef>
              <a:buClr>
                <a:srgbClr val="000000"/>
              </a:buClr>
              <a:buSzPct val="45000"/>
              <a:buFont typeface="Arial" panose="020B0604020202020204" pitchFamily="34" charset="0"/>
              <a:buChar char="•"/>
            </a:pPr>
            <a:r>
              <a:rPr lang="en-US" sz="2000" b="0" u="none" strike="noStrike">
                <a:effectLst/>
                <a:uFillTx/>
                <a:latin typeface="+mn-lt"/>
                <a:ea typeface="+mn-ea"/>
                <a:cs typeface="+mn-cs"/>
              </a:rPr>
              <a:t>If captive capacity exceeds 150, release all juveniles to the wild</a:t>
            </a:r>
          </a:p>
        </p:txBody>
      </p:sp>
      <p:sp>
        <p:nvSpPr>
          <p:cNvPr id="7" name="TextBox 6">
            <a:extLst>
              <a:ext uri="{FF2B5EF4-FFF2-40B4-BE49-F238E27FC236}">
                <a16:creationId xmlns:a16="http://schemas.microsoft.com/office/drawing/2014/main" id="{8DA6F36F-53D3-88F5-E844-6B973B9216C0}"/>
              </a:ext>
            </a:extLst>
          </p:cNvPr>
          <p:cNvSpPr txBox="1"/>
          <p:nvPr/>
        </p:nvSpPr>
        <p:spPr>
          <a:xfrm>
            <a:off x="350642" y="441257"/>
            <a:ext cx="2395330" cy="523220"/>
          </a:xfrm>
          <a:prstGeom prst="rect">
            <a:avLst/>
          </a:prstGeom>
          <a:noFill/>
        </p:spPr>
        <p:txBody>
          <a:bodyPr wrap="square">
            <a:spAutoFit/>
          </a:bodyPr>
          <a:lstStyle/>
          <a:p>
            <a:r>
              <a:rPr lang="en-US" sz="2800" b="0" u="none" strike="noStrike" kern="1200">
                <a:solidFill>
                  <a:schemeClr val="bg1"/>
                </a:solidFill>
                <a:effectLst/>
                <a:uFillTx/>
                <a:latin typeface="Aptos" panose="020B0004020202020204" pitchFamily="34" charset="0"/>
              </a:rPr>
              <a:t>Assumptions</a:t>
            </a:r>
            <a:endParaRPr lang="en-US" sz="2800">
              <a:latin typeface="Aptos" panose="020B0004020202020204" pitchFamily="34" charset="0"/>
            </a:endParaRPr>
          </a:p>
        </p:txBody>
      </p:sp>
      <p:sp>
        <p:nvSpPr>
          <p:cNvPr id="2" name="TextBox 1">
            <a:extLst>
              <a:ext uri="{FF2B5EF4-FFF2-40B4-BE49-F238E27FC236}">
                <a16:creationId xmlns:a16="http://schemas.microsoft.com/office/drawing/2014/main" id="{61E82709-BF8E-77B3-7ABD-C9AEE2F4FD6B}"/>
              </a:ext>
            </a:extLst>
          </p:cNvPr>
          <p:cNvSpPr txBox="1"/>
          <p:nvPr/>
        </p:nvSpPr>
        <p:spPr>
          <a:xfrm>
            <a:off x="4396" y="5375318"/>
            <a:ext cx="5040312" cy="7925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lnSpc>
                <a:spcPts val="1200"/>
              </a:lnSpc>
            </a:pPr>
            <a:r>
              <a:rPr lang="en-US" sz="1000" b="0" i="0" u="none" strike="noStrike" baseline="0" dirty="0">
                <a:solidFill>
                  <a:schemeClr val="bg1"/>
                </a:solidFill>
                <a:latin typeface="Arial"/>
                <a:ea typeface="Segoe UI"/>
                <a:cs typeface="Segoe UI"/>
              </a:rPr>
              <a:t>//</a:t>
            </a:r>
            <a:r>
              <a:rPr lang="en-US" sz="1000" b="0" i="0" dirty="0">
                <a:solidFill>
                  <a:schemeClr val="bg1"/>
                </a:solidFill>
                <a:latin typeface="Arial"/>
                <a:ea typeface="Segoe UI"/>
                <a:cs typeface="Segoe UI"/>
              </a:rPr>
              <a:t>​</a:t>
            </a:r>
            <a:r>
              <a:rPr lang="en-US" sz="1000" dirty="0">
                <a:solidFill>
                  <a:schemeClr val="bg1"/>
                </a:solidFill>
                <a:latin typeface="Arial"/>
                <a:ea typeface="Segoe UI"/>
                <a:cs typeface="Segoe UI"/>
              </a:rPr>
              <a:t>/</a:t>
            </a:r>
            <a:endParaRPr lang="en-US" sz="1000" b="0" i="0" dirty="0">
              <a:solidFill>
                <a:schemeClr val="bg1"/>
              </a:solidFill>
              <a:latin typeface="Arial"/>
              <a:ea typeface="Segoe UI"/>
              <a:cs typeface="Segoe UI"/>
            </a:endParaRPr>
          </a:p>
          <a:p>
            <a:pPr algn="l" rtl="0">
              <a:lnSpc>
                <a:spcPts val="2100"/>
              </a:lnSpc>
            </a:pPr>
            <a:r>
              <a:rPr lang="en-US" sz="1800" b="0" i="0" dirty="0">
                <a:solidFill>
                  <a:srgbClr val="000000"/>
                </a:solidFill>
                <a:latin typeface="Arial"/>
                <a:ea typeface="Segoe UI"/>
                <a:cs typeface="Segoe UI"/>
              </a:rPr>
              <a:t>​</a:t>
            </a:r>
          </a:p>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92634" y="0"/>
            <a:ext cx="6987982"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3096598"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laceHolder 1"/>
          <p:cNvSpPr>
            <a:spLocks noGrp="1"/>
          </p:cNvSpPr>
          <p:nvPr>
            <p:ph type="title"/>
          </p:nvPr>
        </p:nvSpPr>
        <p:spPr>
          <a:xfrm>
            <a:off x="365760" y="527334"/>
            <a:ext cx="2402140" cy="4611163"/>
          </a:xfrm>
          <a:prstGeom prst="rect">
            <a:avLst/>
          </a:prstGeom>
        </p:spPr>
        <p:txBody>
          <a:bodyPr vert="horz" lIns="91440" tIns="45720" rIns="91440" bIns="45720" rtlCol="0" anchor="t">
            <a:normAutofit/>
          </a:bodyPr>
          <a:lstStyle/>
          <a:p>
            <a:pPr indent="0"/>
            <a:r>
              <a:rPr lang="en-US" sz="2800" b="0" u="none" strike="noStrike" kern="1200">
                <a:solidFill>
                  <a:schemeClr val="bg1"/>
                </a:solidFill>
                <a:effectLst/>
                <a:uFillTx/>
                <a:latin typeface="Aptos" panose="020B0004020202020204" pitchFamily="34" charset="0"/>
              </a:rPr>
              <a:t>Initial Conditions</a:t>
            </a:r>
          </a:p>
        </p:txBody>
      </p:sp>
      <p:sp>
        <p:nvSpPr>
          <p:cNvPr id="32" name="Rectangle 31">
            <a:extLst>
              <a:ext uri="{FF2B5EF4-FFF2-40B4-BE49-F238E27FC236}">
                <a16:creationId xmlns:a16="http://schemas.microsoft.com/office/drawing/2014/main" id="{B8EAE243-3A9F-4A46-B0D9-04C723A8A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48639" y="532050"/>
            <a:ext cx="378024" cy="3780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PlaceHolder 2"/>
          <p:cNvSpPr>
            <a:spLocks noGrp="1"/>
          </p:cNvSpPr>
          <p:nvPr>
            <p:ph/>
          </p:nvPr>
        </p:nvSpPr>
        <p:spPr>
          <a:xfrm>
            <a:off x="3848639" y="702867"/>
            <a:ext cx="5283913" cy="4404566"/>
          </a:xfrm>
          <a:prstGeom prst="rect">
            <a:avLst/>
          </a:prstGeom>
        </p:spPr>
        <p:txBody>
          <a:bodyPr vert="horz" lIns="91440" tIns="45720" rIns="91440" bIns="45720" rtlCol="0">
            <a:normAutofit/>
          </a:bodyPr>
          <a:lstStyle/>
          <a:p>
            <a:pPr marL="203400">
              <a:spcBef>
                <a:spcPts val="1417"/>
              </a:spcBef>
              <a:buClr>
                <a:srgbClr val="000000"/>
              </a:buClr>
              <a:buSzPct val="45000"/>
            </a:pPr>
            <a:r>
              <a:rPr lang="en-US" sz="2000"/>
              <a:t>1987 captive condor population</a:t>
            </a:r>
          </a:p>
          <a:p>
            <a:pPr marL="546300" indent="-342900">
              <a:spcBef>
                <a:spcPts val="1417"/>
              </a:spcBef>
              <a:buClr>
                <a:srgbClr val="000000"/>
              </a:buClr>
              <a:buSzPct val="45000"/>
              <a:buFont typeface="Arial" panose="020B0604020202020204" pitchFamily="34" charset="0"/>
              <a:buChar char="•"/>
            </a:pPr>
            <a:r>
              <a:rPr lang="en-US" sz="2000" u="sng"/>
              <a:t>22</a:t>
            </a:r>
            <a:r>
              <a:rPr lang="en-US" sz="2000"/>
              <a:t> adults</a:t>
            </a:r>
          </a:p>
          <a:p>
            <a:pPr marL="203400">
              <a:spcBef>
                <a:spcPts val="1417"/>
              </a:spcBef>
              <a:buClr>
                <a:srgbClr val="000000"/>
              </a:buClr>
              <a:buSzPct val="45000"/>
            </a:pPr>
            <a:r>
              <a:rPr lang="en-US" sz="2000" b="0" u="none" strike="noStrike">
                <a:effectLst/>
                <a:uFillTx/>
                <a:latin typeface="+mn-lt"/>
                <a:ea typeface="+mn-ea"/>
                <a:cs typeface="+mn-cs"/>
              </a:rPr>
              <a:t>2022 captive Condor population</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44</a:t>
            </a:r>
            <a:r>
              <a:rPr lang="en-US" sz="2000" b="0" u="none" strike="noStrike">
                <a:effectLst/>
                <a:uFillTx/>
                <a:latin typeface="+mn-lt"/>
                <a:ea typeface="+mn-ea"/>
                <a:cs typeface="+mn-cs"/>
              </a:rPr>
              <a:t> hatchlings</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39</a:t>
            </a:r>
            <a:r>
              <a:rPr lang="en-US" sz="2000" b="0" u="none" strike="noStrike">
                <a:effectLst/>
                <a:uFillTx/>
                <a:latin typeface="+mn-lt"/>
                <a:ea typeface="+mn-ea"/>
                <a:cs typeface="+mn-cs"/>
              </a:rPr>
              <a:t> 1y/o</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45</a:t>
            </a:r>
            <a:r>
              <a:rPr lang="en-US" sz="2000" b="0" u="none" strike="noStrike">
                <a:effectLst/>
                <a:uFillTx/>
                <a:latin typeface="+mn-lt"/>
                <a:ea typeface="+mn-ea"/>
                <a:cs typeface="+mn-cs"/>
              </a:rPr>
              <a:t> 2-7y/o, distributed evenly</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86</a:t>
            </a:r>
            <a:r>
              <a:rPr lang="en-US" sz="2000" b="0" u="none" strike="noStrike">
                <a:effectLst/>
                <a:uFillTx/>
                <a:latin typeface="+mn-lt"/>
                <a:ea typeface="+mn-ea"/>
                <a:cs typeface="+mn-cs"/>
              </a:rPr>
              <a:t> adults</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214</a:t>
            </a:r>
            <a:r>
              <a:rPr lang="en-US" sz="2000" b="0" u="none" strike="noStrike">
                <a:effectLst/>
                <a:uFillTx/>
                <a:latin typeface="+mn-lt"/>
                <a:ea typeface="+mn-ea"/>
                <a:cs typeface="+mn-cs"/>
              </a:rPr>
              <a:t> total</a:t>
            </a:r>
          </a:p>
          <a:p>
            <a:pPr marL="432000" indent="-228600">
              <a:spcBef>
                <a:spcPts val="1417"/>
              </a:spcBef>
              <a:buClr>
                <a:srgbClr val="000000"/>
              </a:buClr>
              <a:buSzPct val="45000"/>
              <a:buFont typeface="Arial" panose="020B0604020202020204" pitchFamily="34" charset="0"/>
              <a:buChar char="•"/>
            </a:pPr>
            <a:r>
              <a:rPr lang="en-US" sz="2000" b="0" u="sng" strike="noStrike">
                <a:effectLst/>
                <a:uFillTx/>
                <a:latin typeface="+mn-lt"/>
                <a:ea typeface="+mn-ea"/>
                <a:cs typeface="+mn-cs"/>
              </a:rPr>
              <a:t>0</a:t>
            </a:r>
            <a:r>
              <a:rPr lang="en-US" sz="2000" b="0" u="none" strike="noStrike">
                <a:effectLst/>
                <a:uFillTx/>
                <a:latin typeface="+mn-lt"/>
                <a:ea typeface="+mn-ea"/>
                <a:cs typeface="+mn-cs"/>
              </a:rPr>
              <a:t> wild Condors</a:t>
            </a:r>
          </a:p>
        </p:txBody>
      </p:sp>
      <p:sp>
        <p:nvSpPr>
          <p:cNvPr id="2" name="TextBox 1">
            <a:extLst>
              <a:ext uri="{FF2B5EF4-FFF2-40B4-BE49-F238E27FC236}">
                <a16:creationId xmlns:a16="http://schemas.microsoft.com/office/drawing/2014/main" id="{FB9D8A1B-09FE-1A77-E806-C7354253DC5F}"/>
              </a:ext>
            </a:extLst>
          </p:cNvPr>
          <p:cNvSpPr txBox="1"/>
          <p:nvPr/>
        </p:nvSpPr>
        <p:spPr>
          <a:xfrm>
            <a:off x="4396" y="5360720"/>
            <a:ext cx="5040312" cy="7925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lnSpc>
                <a:spcPts val="1200"/>
              </a:lnSpc>
            </a:pPr>
            <a:r>
              <a:rPr lang="en-US" sz="1000" b="0" i="0" u="none" strike="noStrike" baseline="0" dirty="0">
                <a:solidFill>
                  <a:schemeClr val="bg1"/>
                </a:solidFill>
                <a:latin typeface="Arial"/>
                <a:ea typeface="Segoe UI"/>
                <a:cs typeface="Segoe UI"/>
              </a:rPr>
              <a:t>//</a:t>
            </a:r>
            <a:r>
              <a:rPr lang="en-US" sz="1000" b="0" i="0" dirty="0">
                <a:solidFill>
                  <a:schemeClr val="bg1"/>
                </a:solidFill>
                <a:latin typeface="Arial"/>
                <a:ea typeface="Segoe UI"/>
                <a:cs typeface="Segoe UI"/>
              </a:rPr>
              <a:t>​</a:t>
            </a:r>
            <a:r>
              <a:rPr lang="en-US" sz="1000" dirty="0">
                <a:solidFill>
                  <a:schemeClr val="bg1"/>
                </a:solidFill>
                <a:latin typeface="Arial"/>
                <a:ea typeface="Segoe UI"/>
                <a:cs typeface="Segoe UI"/>
              </a:rPr>
              <a:t>/</a:t>
            </a:r>
            <a:endParaRPr lang="en-US" sz="1000" b="0" i="0" dirty="0">
              <a:solidFill>
                <a:schemeClr val="bg1"/>
              </a:solidFill>
              <a:latin typeface="Arial"/>
              <a:ea typeface="Segoe UI"/>
              <a:cs typeface="Segoe UI"/>
            </a:endParaRPr>
          </a:p>
          <a:p>
            <a:pPr algn="l" rtl="0">
              <a:lnSpc>
                <a:spcPts val="2100"/>
              </a:lnSpc>
            </a:pPr>
            <a:r>
              <a:rPr lang="en-US" sz="1800" b="0" i="0" dirty="0">
                <a:solidFill>
                  <a:srgbClr val="000000"/>
                </a:solidFill>
                <a:latin typeface="Arial"/>
                <a:ea typeface="Segoe UI"/>
                <a:cs typeface="Segoe UI"/>
              </a:rPr>
              <a:t>​</a:t>
            </a:r>
          </a:p>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0078104" cy="56705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118024A-8D16-843D-94A3-7BE1B2127608}"/>
              </a:ext>
            </a:extLst>
          </p:cNvPr>
          <p:cNvPicPr>
            <a:picLocks noChangeAspect="1"/>
          </p:cNvPicPr>
          <p:nvPr/>
        </p:nvPicPr>
        <p:blipFill>
          <a:blip r:embed="rId2"/>
          <a:stretch>
            <a:fillRect/>
          </a:stretch>
        </p:blipFill>
        <p:spPr>
          <a:xfrm>
            <a:off x="724951" y="583173"/>
            <a:ext cx="8946678" cy="5084686"/>
          </a:xfrm>
          <a:prstGeom prst="rect">
            <a:avLst/>
          </a:prstGeom>
        </p:spPr>
      </p:pic>
      <p:sp>
        <p:nvSpPr>
          <p:cNvPr id="2" name="Title 1">
            <a:extLst>
              <a:ext uri="{FF2B5EF4-FFF2-40B4-BE49-F238E27FC236}">
                <a16:creationId xmlns:a16="http://schemas.microsoft.com/office/drawing/2014/main" id="{53519FCF-5917-29CA-BAB1-D9E1DCF4CA05}"/>
              </a:ext>
            </a:extLst>
          </p:cNvPr>
          <p:cNvSpPr>
            <a:spLocks noGrp="1"/>
          </p:cNvSpPr>
          <p:nvPr>
            <p:ph type="title"/>
          </p:nvPr>
        </p:nvSpPr>
        <p:spPr>
          <a:xfrm>
            <a:off x="241666" y="302848"/>
            <a:ext cx="5621190" cy="784993"/>
          </a:xfrm>
        </p:spPr>
        <p:txBody>
          <a:bodyPr vert="horz" lIns="91440" tIns="45720" rIns="91440" bIns="45720" rtlCol="0" anchor="b">
            <a:normAutofit/>
          </a:bodyPr>
          <a:lstStyle/>
          <a:p>
            <a:r>
              <a:rPr lang="en-US" sz="3300">
                <a:latin typeface="Aptos" panose="020B0004020202020204" pitchFamily="34" charset="0"/>
              </a:rPr>
              <a:t>Model Diagram</a:t>
            </a:r>
          </a:p>
        </p:txBody>
      </p:sp>
      <p:sp>
        <p:nvSpPr>
          <p:cNvPr id="4" name="TextBox 3">
            <a:extLst>
              <a:ext uri="{FF2B5EF4-FFF2-40B4-BE49-F238E27FC236}">
                <a16:creationId xmlns:a16="http://schemas.microsoft.com/office/drawing/2014/main" id="{AE7A8B93-6FCB-76EA-589B-A914884BB6F7}"/>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Tree>
    <p:extLst>
      <p:ext uri="{BB962C8B-B14F-4D97-AF65-F5344CB8AC3E}">
        <p14:creationId xmlns:p14="http://schemas.microsoft.com/office/powerpoint/2010/main" val="19943959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92634" y="0"/>
            <a:ext cx="6987982" cy="56705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0"/>
            <a:ext cx="3096598" cy="567055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PlaceHolder 1"/>
          <p:cNvSpPr>
            <a:spLocks noGrp="1"/>
          </p:cNvSpPr>
          <p:nvPr>
            <p:ph type="title"/>
          </p:nvPr>
        </p:nvSpPr>
        <p:spPr>
          <a:xfrm>
            <a:off x="956511" y="527334"/>
            <a:ext cx="1811389" cy="4611163"/>
          </a:xfrm>
          <a:prstGeom prst="rect">
            <a:avLst/>
          </a:prstGeom>
        </p:spPr>
        <p:txBody>
          <a:bodyPr vert="horz" lIns="91440" tIns="45720" rIns="91440" bIns="45720" rtlCol="0" anchor="t">
            <a:normAutofit/>
          </a:bodyPr>
          <a:lstStyle/>
          <a:p>
            <a:pPr indent="0"/>
            <a:r>
              <a:rPr lang="en-US" sz="3000" b="0" u="none" strike="noStrike" kern="1200">
                <a:solidFill>
                  <a:schemeClr val="bg1"/>
                </a:solidFill>
                <a:effectLst/>
                <a:uFillTx/>
                <a:latin typeface="+mj-lt"/>
                <a:ea typeface="+mj-ea"/>
                <a:cs typeface="+mj-cs"/>
              </a:rPr>
              <a:t>Methods</a:t>
            </a:r>
          </a:p>
        </p:txBody>
      </p:sp>
      <p:graphicFrame>
        <p:nvGraphicFramePr>
          <p:cNvPr id="49" name="PlaceHolder 2">
            <a:extLst>
              <a:ext uri="{FF2B5EF4-FFF2-40B4-BE49-F238E27FC236}">
                <a16:creationId xmlns:a16="http://schemas.microsoft.com/office/drawing/2014/main" id="{E519D3E0-E1A6-3E1D-5076-F6E32EC5105A}"/>
              </a:ext>
            </a:extLst>
          </p:cNvPr>
          <p:cNvGraphicFramePr>
            <a:graphicFrameLocks noGrp="1"/>
          </p:cNvGraphicFramePr>
          <p:nvPr>
            <p:ph/>
            <p:extLst>
              <p:ext uri="{D42A27DB-BD31-4B8C-83A1-F6EECF244321}">
                <p14:modId xmlns:p14="http://schemas.microsoft.com/office/powerpoint/2010/main" val="3621938641"/>
              </p:ext>
            </p:extLst>
          </p:nvPr>
        </p:nvGraphicFramePr>
        <p:xfrm>
          <a:off x="3843793" y="527334"/>
          <a:ext cx="5288759" cy="46111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a:extLst>
              <a:ext uri="{FF2B5EF4-FFF2-40B4-BE49-F238E27FC236}">
                <a16:creationId xmlns:a16="http://schemas.microsoft.com/office/drawing/2014/main" id="{F81F2EBE-D4F4-45D2-3F9B-3A8917B4CEC5}"/>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solidFill>
                  <a:srgbClr val="FFFFFF"/>
                </a:solidFill>
                <a:cs typeface="Arial"/>
              </a:rPr>
              <a:t>/</a:t>
            </a:r>
          </a:p>
          <a:p>
            <a:pPr algn="l"/>
            <a:endParaRPr lang="en-US" dirty="0">
              <a:solidFill>
                <a:srgbClr val="FFFF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0078104" cy="56705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PlaceHolder 1"/>
          <p:cNvSpPr>
            <a:spLocks noGrp="1"/>
          </p:cNvSpPr>
          <p:nvPr>
            <p:ph type="title"/>
          </p:nvPr>
        </p:nvSpPr>
        <p:spPr>
          <a:xfrm>
            <a:off x="990683" y="463765"/>
            <a:ext cx="8099258" cy="921427"/>
          </a:xfrm>
          <a:prstGeom prst="rect">
            <a:avLst/>
          </a:prstGeom>
        </p:spPr>
        <p:txBody>
          <a:bodyPr vert="horz" lIns="91440" tIns="45720" rIns="91440" bIns="45720" rtlCol="0" anchor="b">
            <a:normAutofit/>
          </a:bodyPr>
          <a:lstStyle/>
          <a:p>
            <a:pPr indent="0" algn="ctr"/>
            <a:r>
              <a:rPr lang="en-US" sz="4300" b="0" u="none" strike="noStrike">
                <a:effectLst/>
                <a:uFillTx/>
              </a:rPr>
              <a:t>Simulation Results</a:t>
            </a:r>
          </a:p>
        </p:txBody>
      </p:sp>
      <p:sp>
        <p:nvSpPr>
          <p:cNvPr id="42" name="PlaceHolder 2"/>
          <p:cNvSpPr>
            <a:spLocks noGrp="1"/>
          </p:cNvSpPr>
          <p:nvPr>
            <p:ph/>
          </p:nvPr>
        </p:nvSpPr>
        <p:spPr>
          <a:xfrm>
            <a:off x="990683" y="1521072"/>
            <a:ext cx="8099258" cy="779820"/>
          </a:xfrm>
          <a:prstGeom prst="rect">
            <a:avLst/>
          </a:prstGeom>
        </p:spPr>
        <p:txBody>
          <a:bodyPr vert="horz" lIns="91440" tIns="45720" rIns="91440" bIns="45720" rtlCol="0" anchor="t">
            <a:normAutofit/>
          </a:bodyPr>
          <a:lstStyle/>
          <a:p>
            <a:pPr algn="ctr">
              <a:spcBef>
                <a:spcPts val="1000"/>
              </a:spcBef>
              <a:buClr>
                <a:srgbClr val="000000"/>
              </a:buClr>
              <a:buSzPct val="45000"/>
            </a:pPr>
            <a:r>
              <a:rPr lang="en-US" sz="1900" b="0" u="none" strike="noStrike">
                <a:effectLst/>
                <a:uFillTx/>
                <a:latin typeface="+mn-lt"/>
                <a:ea typeface="+mn-ea"/>
                <a:cs typeface="+mn-cs"/>
              </a:rPr>
              <a:t>Assume captive and wild mortality rates of M</a:t>
            </a:r>
            <a:r>
              <a:rPr lang="en-US" sz="1900" b="0" u="none" strike="noStrike" baseline="-8000">
                <a:effectLst/>
                <a:uFillTx/>
                <a:latin typeface="+mn-lt"/>
                <a:ea typeface="+mn-ea"/>
                <a:cs typeface="+mn-cs"/>
              </a:rPr>
              <a:t>y1 </a:t>
            </a:r>
            <a:r>
              <a:rPr lang="en-US" sz="1900" b="0" u="none" strike="noStrike">
                <a:effectLst/>
                <a:uFillTx/>
                <a:latin typeface="+mn-lt"/>
                <a:ea typeface="+mn-ea"/>
                <a:cs typeface="+mn-cs"/>
              </a:rPr>
              <a:t>= 8.6%, M</a:t>
            </a:r>
            <a:r>
              <a:rPr lang="en-US" sz="1900" b="0" u="none" strike="noStrike" baseline="-8000">
                <a:effectLst/>
                <a:uFillTx/>
                <a:latin typeface="+mn-lt"/>
                <a:ea typeface="+mn-ea"/>
                <a:cs typeface="+mn-cs"/>
              </a:rPr>
              <a:t>i</a:t>
            </a:r>
            <a:r>
              <a:rPr lang="en-US" sz="1900" b="0" u="none" strike="noStrike">
                <a:effectLst/>
                <a:uFillTx/>
                <a:latin typeface="+mn-lt"/>
                <a:ea typeface="+mn-ea"/>
                <a:cs typeface="+mn-cs"/>
              </a:rPr>
              <a:t> = 8.6%, M</a:t>
            </a:r>
            <a:r>
              <a:rPr lang="en-US" sz="1900" b="0" u="none" strike="noStrike" baseline="-8000">
                <a:effectLst/>
                <a:uFillTx/>
                <a:latin typeface="+mn-lt"/>
                <a:ea typeface="+mn-ea"/>
                <a:cs typeface="+mn-cs"/>
              </a:rPr>
              <a:t>a</a:t>
            </a:r>
            <a:r>
              <a:rPr lang="en-US" sz="1900" b="0" u="none" strike="noStrike">
                <a:effectLst/>
                <a:uFillTx/>
                <a:latin typeface="+mn-lt"/>
                <a:ea typeface="+mn-ea"/>
                <a:cs typeface="+mn-cs"/>
              </a:rPr>
              <a:t> = 8.6%</a:t>
            </a:r>
          </a:p>
        </p:txBody>
      </p:sp>
      <p:sp>
        <p:nvSpPr>
          <p:cNvPr id="6" name="TextBox 5">
            <a:extLst>
              <a:ext uri="{FF2B5EF4-FFF2-40B4-BE49-F238E27FC236}">
                <a16:creationId xmlns:a16="http://schemas.microsoft.com/office/drawing/2014/main" id="{95F1200C-3F15-A9F5-DD9E-DCD9B0167867}"/>
              </a:ext>
            </a:extLst>
          </p:cNvPr>
          <p:cNvSpPr txBox="1"/>
          <p:nvPr/>
        </p:nvSpPr>
        <p:spPr>
          <a:xfrm>
            <a:off x="2208343" y="1998951"/>
            <a:ext cx="69945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10" name="TextBox 9">
            <a:extLst>
              <a:ext uri="{FF2B5EF4-FFF2-40B4-BE49-F238E27FC236}">
                <a16:creationId xmlns:a16="http://schemas.microsoft.com/office/drawing/2014/main" id="{06D71B07-0475-F3EE-8020-A1DDC841CABF}"/>
              </a:ext>
            </a:extLst>
          </p:cNvPr>
          <p:cNvSpPr txBox="1"/>
          <p:nvPr/>
        </p:nvSpPr>
        <p:spPr>
          <a:xfrm>
            <a:off x="7125299" y="1998924"/>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pic>
        <p:nvPicPr>
          <p:cNvPr id="4" name="Picture 3">
            <a:extLst>
              <a:ext uri="{FF2B5EF4-FFF2-40B4-BE49-F238E27FC236}">
                <a16:creationId xmlns:a16="http://schemas.microsoft.com/office/drawing/2014/main" id="{F34E2E31-D3ED-AFCD-8EFE-89574964904F}"/>
              </a:ext>
            </a:extLst>
          </p:cNvPr>
          <p:cNvPicPr>
            <a:picLocks noChangeAspect="1"/>
          </p:cNvPicPr>
          <p:nvPr/>
        </p:nvPicPr>
        <p:blipFill>
          <a:blip r:embed="rId2"/>
          <a:stretch>
            <a:fillRect/>
          </a:stretch>
        </p:blipFill>
        <p:spPr>
          <a:xfrm>
            <a:off x="141470" y="2372332"/>
            <a:ext cx="4971860" cy="2939321"/>
          </a:xfrm>
          <a:prstGeom prst="rect">
            <a:avLst/>
          </a:prstGeom>
        </p:spPr>
      </p:pic>
      <p:pic>
        <p:nvPicPr>
          <p:cNvPr id="5" name="Picture 4">
            <a:extLst>
              <a:ext uri="{FF2B5EF4-FFF2-40B4-BE49-F238E27FC236}">
                <a16:creationId xmlns:a16="http://schemas.microsoft.com/office/drawing/2014/main" id="{8C522362-CC6F-B191-793E-AACECC3E6201}"/>
              </a:ext>
            </a:extLst>
          </p:cNvPr>
          <p:cNvPicPr>
            <a:picLocks noChangeAspect="1"/>
          </p:cNvPicPr>
          <p:nvPr/>
        </p:nvPicPr>
        <p:blipFill>
          <a:blip r:embed="rId3"/>
          <a:stretch>
            <a:fillRect/>
          </a:stretch>
        </p:blipFill>
        <p:spPr>
          <a:xfrm>
            <a:off x="5099538" y="2380885"/>
            <a:ext cx="4732941" cy="2832411"/>
          </a:xfrm>
          <a:prstGeom prst="rect">
            <a:avLst/>
          </a:prstGeom>
        </p:spPr>
      </p:pic>
      <p:sp>
        <p:nvSpPr>
          <p:cNvPr id="8" name="TextBox 7">
            <a:extLst>
              <a:ext uri="{FF2B5EF4-FFF2-40B4-BE49-F238E27FC236}">
                <a16:creationId xmlns:a16="http://schemas.microsoft.com/office/drawing/2014/main" id="{C3635FC5-3E84-6791-D1D2-749FCE012BA0}"/>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190656-13FB-59F9-6299-77AC266D52E6}"/>
            </a:ext>
          </a:extLst>
        </p:cNvPr>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AFC47C1B-C253-761E-4A8B-BCE70BD66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0078104" cy="56705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PlaceHolder 1">
            <a:extLst>
              <a:ext uri="{FF2B5EF4-FFF2-40B4-BE49-F238E27FC236}">
                <a16:creationId xmlns:a16="http://schemas.microsoft.com/office/drawing/2014/main" id="{DC3FC037-EA95-21D0-EA5F-2DA3BF61831B}"/>
              </a:ext>
            </a:extLst>
          </p:cNvPr>
          <p:cNvSpPr>
            <a:spLocks noGrp="1"/>
          </p:cNvSpPr>
          <p:nvPr>
            <p:ph type="title"/>
          </p:nvPr>
        </p:nvSpPr>
        <p:spPr>
          <a:xfrm>
            <a:off x="990683" y="463765"/>
            <a:ext cx="8099258" cy="921427"/>
          </a:xfrm>
          <a:prstGeom prst="rect">
            <a:avLst/>
          </a:prstGeom>
        </p:spPr>
        <p:txBody>
          <a:bodyPr vert="horz" lIns="91440" tIns="45720" rIns="91440" bIns="45720" rtlCol="0" anchor="b">
            <a:normAutofit/>
          </a:bodyPr>
          <a:lstStyle/>
          <a:p>
            <a:pPr indent="0" algn="ctr"/>
            <a:r>
              <a:rPr lang="en-US" sz="4300" b="0" u="none" strike="noStrike">
                <a:effectLst/>
                <a:uFillTx/>
              </a:rPr>
              <a:t>Simulation Results</a:t>
            </a:r>
          </a:p>
        </p:txBody>
      </p:sp>
      <p:sp>
        <p:nvSpPr>
          <p:cNvPr id="42" name="PlaceHolder 2">
            <a:extLst>
              <a:ext uri="{FF2B5EF4-FFF2-40B4-BE49-F238E27FC236}">
                <a16:creationId xmlns:a16="http://schemas.microsoft.com/office/drawing/2014/main" id="{BC8C670E-1F49-9A6A-8C99-E27165B4E4E0}"/>
              </a:ext>
            </a:extLst>
          </p:cNvPr>
          <p:cNvSpPr>
            <a:spLocks noGrp="1"/>
          </p:cNvSpPr>
          <p:nvPr>
            <p:ph/>
          </p:nvPr>
        </p:nvSpPr>
        <p:spPr>
          <a:xfrm>
            <a:off x="990683" y="1521072"/>
            <a:ext cx="8099258" cy="779820"/>
          </a:xfrm>
          <a:prstGeom prst="rect">
            <a:avLst/>
          </a:prstGeom>
        </p:spPr>
        <p:txBody>
          <a:bodyPr vert="horz" lIns="91440" tIns="45720" rIns="91440" bIns="45720" rtlCol="0" anchor="t">
            <a:normAutofit/>
          </a:bodyPr>
          <a:lstStyle/>
          <a:p>
            <a:pPr algn="ctr">
              <a:spcBef>
                <a:spcPts val="1000"/>
              </a:spcBef>
              <a:buClr>
                <a:srgbClr val="000000"/>
              </a:buClr>
              <a:buSzPct val="45000"/>
            </a:pPr>
            <a:r>
              <a:rPr lang="en-US" sz="1900" b="0" u="none" strike="noStrike">
                <a:effectLst/>
                <a:uFillTx/>
                <a:latin typeface="+mn-lt"/>
                <a:ea typeface="+mn-ea"/>
                <a:cs typeface="+mn-cs"/>
              </a:rPr>
              <a:t>Assume captive and wild mortality rates of M</a:t>
            </a:r>
            <a:r>
              <a:rPr lang="en-US" sz="1900" b="0" u="none" strike="noStrike" baseline="-8000">
                <a:effectLst/>
                <a:uFillTx/>
                <a:latin typeface="+mn-lt"/>
                <a:ea typeface="+mn-ea"/>
                <a:cs typeface="+mn-cs"/>
              </a:rPr>
              <a:t>y1 </a:t>
            </a:r>
            <a:r>
              <a:rPr lang="en-US" sz="1900" b="0" u="none" strike="noStrike">
                <a:effectLst/>
                <a:uFillTx/>
                <a:latin typeface="+mn-lt"/>
                <a:ea typeface="+mn-ea"/>
                <a:cs typeface="+mn-cs"/>
              </a:rPr>
              <a:t>= </a:t>
            </a:r>
            <a:r>
              <a:rPr lang="en-US" sz="1900">
                <a:latin typeface="+mn-lt"/>
                <a:ea typeface="+mn-ea"/>
                <a:cs typeface="+mn-cs"/>
              </a:rPr>
              <a:t>13.8%,</a:t>
            </a:r>
            <a:r>
              <a:rPr lang="en-US" sz="1900" b="0" u="none" strike="noStrike">
                <a:effectLst/>
                <a:uFillTx/>
                <a:latin typeface="+mn-lt"/>
                <a:ea typeface="+mn-ea"/>
                <a:cs typeface="+mn-cs"/>
              </a:rPr>
              <a:t> M</a:t>
            </a:r>
            <a:r>
              <a:rPr lang="en-US" sz="1900" b="0" u="none" strike="noStrike" baseline="-8000">
                <a:effectLst/>
                <a:uFillTx/>
                <a:latin typeface="+mn-lt"/>
                <a:ea typeface="+mn-ea"/>
                <a:cs typeface="+mn-cs"/>
              </a:rPr>
              <a:t>i</a:t>
            </a:r>
            <a:r>
              <a:rPr lang="en-US" sz="1900" b="0" u="none" strike="noStrike">
                <a:effectLst/>
                <a:uFillTx/>
                <a:latin typeface="+mn-lt"/>
                <a:ea typeface="+mn-ea"/>
                <a:cs typeface="+mn-cs"/>
              </a:rPr>
              <a:t> = </a:t>
            </a:r>
            <a:r>
              <a:rPr lang="en-US" sz="1900">
                <a:latin typeface="+mn-lt"/>
                <a:ea typeface="+mn-ea"/>
                <a:cs typeface="+mn-cs"/>
              </a:rPr>
              <a:t>13.8</a:t>
            </a:r>
            <a:r>
              <a:rPr lang="en-US" sz="1900" b="0" u="none" strike="noStrike">
                <a:effectLst/>
                <a:uFillTx/>
                <a:latin typeface="+mn-lt"/>
                <a:ea typeface="+mn-ea"/>
                <a:cs typeface="+mn-cs"/>
              </a:rPr>
              <a:t>%, M</a:t>
            </a:r>
            <a:r>
              <a:rPr lang="en-US" sz="1900" b="0" u="none" strike="noStrike" baseline="-8000">
                <a:effectLst/>
                <a:uFillTx/>
                <a:latin typeface="+mn-lt"/>
                <a:ea typeface="+mn-ea"/>
                <a:cs typeface="+mn-cs"/>
              </a:rPr>
              <a:t>a</a:t>
            </a:r>
            <a:r>
              <a:rPr lang="en-US" sz="1900" b="0" u="none" strike="noStrike">
                <a:effectLst/>
                <a:uFillTx/>
                <a:latin typeface="+mn-lt"/>
                <a:ea typeface="+mn-ea"/>
                <a:cs typeface="+mn-cs"/>
              </a:rPr>
              <a:t> = </a:t>
            </a:r>
            <a:r>
              <a:rPr lang="en-US" sz="1900">
                <a:latin typeface="+mn-lt"/>
                <a:ea typeface="+mn-ea"/>
                <a:cs typeface="+mn-cs"/>
              </a:rPr>
              <a:t>6.9%</a:t>
            </a:r>
            <a:endParaRPr lang="en-US" sz="1900" b="0" u="none" strike="noStrike">
              <a:effectLst/>
              <a:uFillTx/>
              <a:latin typeface="+mn-lt"/>
              <a:ea typeface="+mn-ea"/>
              <a:cs typeface="+mn-cs"/>
            </a:endParaRPr>
          </a:p>
        </p:txBody>
      </p:sp>
      <p:sp>
        <p:nvSpPr>
          <p:cNvPr id="6" name="TextBox 5">
            <a:extLst>
              <a:ext uri="{FF2B5EF4-FFF2-40B4-BE49-F238E27FC236}">
                <a16:creationId xmlns:a16="http://schemas.microsoft.com/office/drawing/2014/main" id="{A8D32E74-5B13-FDA3-276F-C12180550ACB}"/>
              </a:ext>
            </a:extLst>
          </p:cNvPr>
          <p:cNvSpPr txBox="1"/>
          <p:nvPr/>
        </p:nvSpPr>
        <p:spPr>
          <a:xfrm>
            <a:off x="2215397" y="1930819"/>
            <a:ext cx="819157"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10" name="TextBox 9">
            <a:extLst>
              <a:ext uri="{FF2B5EF4-FFF2-40B4-BE49-F238E27FC236}">
                <a16:creationId xmlns:a16="http://schemas.microsoft.com/office/drawing/2014/main" id="{EB04A33F-D765-8C7D-E4D1-9D774F3D795C}"/>
              </a:ext>
            </a:extLst>
          </p:cNvPr>
          <p:cNvSpPr txBox="1"/>
          <p:nvPr/>
        </p:nvSpPr>
        <p:spPr>
          <a:xfrm>
            <a:off x="7144763" y="1930801"/>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pic>
        <p:nvPicPr>
          <p:cNvPr id="5" name="Picture 4">
            <a:extLst>
              <a:ext uri="{FF2B5EF4-FFF2-40B4-BE49-F238E27FC236}">
                <a16:creationId xmlns:a16="http://schemas.microsoft.com/office/drawing/2014/main" id="{BF6177E9-9CF7-DB7F-1809-16B42879CB0E}"/>
              </a:ext>
            </a:extLst>
          </p:cNvPr>
          <p:cNvPicPr>
            <a:picLocks noChangeAspect="1"/>
          </p:cNvPicPr>
          <p:nvPr/>
        </p:nvPicPr>
        <p:blipFill>
          <a:blip r:embed="rId2"/>
          <a:stretch>
            <a:fillRect/>
          </a:stretch>
        </p:blipFill>
        <p:spPr>
          <a:xfrm>
            <a:off x="146328" y="2300241"/>
            <a:ext cx="5273820" cy="3165662"/>
          </a:xfrm>
          <a:prstGeom prst="rect">
            <a:avLst/>
          </a:prstGeom>
        </p:spPr>
      </p:pic>
      <p:pic>
        <p:nvPicPr>
          <p:cNvPr id="7" name="Picture 6">
            <a:extLst>
              <a:ext uri="{FF2B5EF4-FFF2-40B4-BE49-F238E27FC236}">
                <a16:creationId xmlns:a16="http://schemas.microsoft.com/office/drawing/2014/main" id="{47F490D2-E89A-0C25-A374-66EED32A436D}"/>
              </a:ext>
            </a:extLst>
          </p:cNvPr>
          <p:cNvPicPr>
            <a:picLocks noChangeAspect="1"/>
          </p:cNvPicPr>
          <p:nvPr/>
        </p:nvPicPr>
        <p:blipFill>
          <a:blip r:embed="rId3"/>
          <a:stretch>
            <a:fillRect/>
          </a:stretch>
        </p:blipFill>
        <p:spPr>
          <a:xfrm>
            <a:off x="5039146" y="2300204"/>
            <a:ext cx="4747729" cy="2986052"/>
          </a:xfrm>
          <a:prstGeom prst="rect">
            <a:avLst/>
          </a:prstGeom>
        </p:spPr>
      </p:pic>
      <p:sp>
        <p:nvSpPr>
          <p:cNvPr id="9" name="TextBox 8">
            <a:extLst>
              <a:ext uri="{FF2B5EF4-FFF2-40B4-BE49-F238E27FC236}">
                <a16:creationId xmlns:a16="http://schemas.microsoft.com/office/drawing/2014/main" id="{1D0D9395-F04D-9FBD-EB6E-2CD4D2366584}"/>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Tree>
    <p:extLst>
      <p:ext uri="{BB962C8B-B14F-4D97-AF65-F5344CB8AC3E}">
        <p14:creationId xmlns:p14="http://schemas.microsoft.com/office/powerpoint/2010/main" val="162595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r>
              <a:rPr lang="en-US" sz="4400" b="0" u="none" strike="noStrike">
                <a:solidFill>
                  <a:srgbClr val="000000"/>
                </a:solidFill>
                <a:effectLst/>
                <a:uFillTx/>
                <a:latin typeface="Arial"/>
              </a:rPr>
              <a:t>Simulation Results</a:t>
            </a:r>
          </a:p>
        </p:txBody>
      </p:sp>
      <p:sp>
        <p:nvSpPr>
          <p:cNvPr id="48" name="PlaceHolder 2"/>
          <p:cNvSpPr>
            <a:spLocks noGrp="1"/>
          </p:cNvSpPr>
          <p:nvPr>
            <p:ph/>
          </p:nvPr>
        </p:nvSpPr>
        <p:spPr>
          <a:xfrm>
            <a:off x="134755" y="1326600"/>
            <a:ext cx="8898034" cy="403346"/>
          </a:xfrm>
          <a:prstGeom prst="rect">
            <a:avLst/>
          </a:prstGeom>
          <a:noFill/>
          <a:ln w="0">
            <a:noFill/>
          </a:ln>
        </p:spPr>
        <p:txBody>
          <a:bodyPr lIns="0" tIns="0" rIns="0" bIns="0" anchor="t">
            <a:normAutofit lnSpcReduction="9999"/>
          </a:bodyPr>
          <a:lstStyle/>
          <a:p>
            <a:pPr marL="108000">
              <a:spcBef>
                <a:spcPts val="1417"/>
              </a:spcBef>
              <a:buClr>
                <a:srgbClr val="000000"/>
              </a:buClr>
              <a:buSzPct val="45000"/>
            </a:pPr>
            <a:r>
              <a:rPr lang="en-US" sz="2000">
                <a:solidFill>
                  <a:srgbClr val="000000"/>
                </a:solidFill>
              </a:rPr>
              <a:t>Assume captive and wild mortality rates of M</a:t>
            </a:r>
            <a:r>
              <a:rPr lang="en-US" sz="2000" b="0" u="none" strike="noStrike" baseline="-8000">
                <a:solidFill>
                  <a:srgbClr val="000000"/>
                </a:solidFill>
                <a:effectLst/>
                <a:uFillTx/>
                <a:latin typeface="Arial"/>
              </a:rPr>
              <a:t>y1 </a:t>
            </a:r>
            <a:r>
              <a:rPr lang="en-US" sz="2000" b="0" u="none" strike="noStrike">
                <a:solidFill>
                  <a:srgbClr val="000000"/>
                </a:solidFill>
                <a:effectLst/>
                <a:uFillTx/>
                <a:latin typeface="Arial"/>
              </a:rPr>
              <a:t>= 65.9%, M</a:t>
            </a:r>
            <a:r>
              <a:rPr lang="en-US" sz="2000" b="0" u="none" strike="noStrike" baseline="-8000">
                <a:solidFill>
                  <a:srgbClr val="000000"/>
                </a:solidFill>
                <a:effectLst/>
                <a:uFillTx/>
                <a:latin typeface="Arial"/>
              </a:rPr>
              <a:t>i</a:t>
            </a:r>
            <a:r>
              <a:rPr lang="en-US" sz="2000" b="0" u="none" strike="noStrike">
                <a:solidFill>
                  <a:srgbClr val="000000"/>
                </a:solidFill>
                <a:effectLst/>
                <a:uFillTx/>
                <a:latin typeface="Arial"/>
              </a:rPr>
              <a:t> = 8.6%, M</a:t>
            </a:r>
            <a:r>
              <a:rPr lang="en-US" sz="2000" b="0" u="none" strike="noStrike" baseline="-8000">
                <a:solidFill>
                  <a:srgbClr val="000000"/>
                </a:solidFill>
                <a:effectLst/>
                <a:uFillTx/>
                <a:latin typeface="Arial"/>
              </a:rPr>
              <a:t>a</a:t>
            </a:r>
            <a:r>
              <a:rPr lang="en-US" sz="2000" b="0" u="none" strike="noStrike">
                <a:solidFill>
                  <a:srgbClr val="000000"/>
                </a:solidFill>
                <a:effectLst/>
                <a:uFillTx/>
                <a:latin typeface="Arial"/>
              </a:rPr>
              <a:t> = 8.6%</a:t>
            </a:r>
          </a:p>
        </p:txBody>
      </p:sp>
      <p:sp>
        <p:nvSpPr>
          <p:cNvPr id="3" name="TextBox 2">
            <a:extLst>
              <a:ext uri="{FF2B5EF4-FFF2-40B4-BE49-F238E27FC236}">
                <a16:creationId xmlns:a16="http://schemas.microsoft.com/office/drawing/2014/main" id="{72C3F841-46C2-8228-BCEC-6D62E228E534}"/>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pic>
        <p:nvPicPr>
          <p:cNvPr id="5" name="Picture 4">
            <a:extLst>
              <a:ext uri="{FF2B5EF4-FFF2-40B4-BE49-F238E27FC236}">
                <a16:creationId xmlns:a16="http://schemas.microsoft.com/office/drawing/2014/main" id="{3A3451D5-59B2-1883-4391-C8F3C93CEB6C}"/>
              </a:ext>
            </a:extLst>
          </p:cNvPr>
          <p:cNvPicPr>
            <a:picLocks noChangeAspect="1"/>
          </p:cNvPicPr>
          <p:nvPr/>
        </p:nvPicPr>
        <p:blipFill>
          <a:blip r:embed="rId2"/>
          <a:stretch>
            <a:fillRect/>
          </a:stretch>
        </p:blipFill>
        <p:spPr>
          <a:xfrm>
            <a:off x="133302" y="2042934"/>
            <a:ext cx="5034000" cy="3118621"/>
          </a:xfrm>
          <a:prstGeom prst="rect">
            <a:avLst/>
          </a:prstGeom>
        </p:spPr>
      </p:pic>
      <p:pic>
        <p:nvPicPr>
          <p:cNvPr id="6" name="Picture 5">
            <a:extLst>
              <a:ext uri="{FF2B5EF4-FFF2-40B4-BE49-F238E27FC236}">
                <a16:creationId xmlns:a16="http://schemas.microsoft.com/office/drawing/2014/main" id="{598F007B-BF56-F62A-E023-5F5BB46176E6}"/>
              </a:ext>
            </a:extLst>
          </p:cNvPr>
          <p:cNvPicPr>
            <a:picLocks noChangeAspect="1"/>
          </p:cNvPicPr>
          <p:nvPr/>
        </p:nvPicPr>
        <p:blipFill>
          <a:blip r:embed="rId3"/>
          <a:stretch>
            <a:fillRect/>
          </a:stretch>
        </p:blipFill>
        <p:spPr>
          <a:xfrm>
            <a:off x="4722230" y="2102828"/>
            <a:ext cx="4759817" cy="2998880"/>
          </a:xfrm>
          <a:prstGeom prst="rect">
            <a:avLst/>
          </a:prstGeom>
        </p:spPr>
      </p:pic>
      <p:sp>
        <p:nvSpPr>
          <p:cNvPr id="9" name="TextBox 8">
            <a:extLst>
              <a:ext uri="{FF2B5EF4-FFF2-40B4-BE49-F238E27FC236}">
                <a16:creationId xmlns:a16="http://schemas.microsoft.com/office/drawing/2014/main" id="{3FF26A2D-410E-FD55-5902-B7C72606EA4D}"/>
              </a:ext>
            </a:extLst>
          </p:cNvPr>
          <p:cNvSpPr txBox="1"/>
          <p:nvPr/>
        </p:nvSpPr>
        <p:spPr>
          <a:xfrm>
            <a:off x="2292372" y="1734222"/>
            <a:ext cx="69945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11" name="TextBox 10">
            <a:extLst>
              <a:ext uri="{FF2B5EF4-FFF2-40B4-BE49-F238E27FC236}">
                <a16:creationId xmlns:a16="http://schemas.microsoft.com/office/drawing/2014/main" id="{92870F47-A3D1-C87B-BEFE-13D299A21210}"/>
              </a:ext>
            </a:extLst>
          </p:cNvPr>
          <p:cNvSpPr txBox="1"/>
          <p:nvPr/>
        </p:nvSpPr>
        <p:spPr>
          <a:xfrm>
            <a:off x="6802949" y="1734195"/>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r>
              <a:rPr lang="en-US" sz="4400" b="0" u="none" strike="noStrike">
                <a:solidFill>
                  <a:srgbClr val="000000"/>
                </a:solidFill>
                <a:effectLst/>
                <a:uFillTx/>
                <a:latin typeface="Arial"/>
              </a:rPr>
              <a:t>Simulation Results</a:t>
            </a:r>
          </a:p>
        </p:txBody>
      </p:sp>
      <p:sp>
        <p:nvSpPr>
          <p:cNvPr id="51" name="PlaceHolder 2"/>
          <p:cNvSpPr>
            <a:spLocks noGrp="1"/>
          </p:cNvSpPr>
          <p:nvPr>
            <p:ph/>
          </p:nvPr>
        </p:nvSpPr>
        <p:spPr>
          <a:xfrm>
            <a:off x="77002" y="1326600"/>
            <a:ext cx="9388274" cy="3288240"/>
          </a:xfrm>
          <a:prstGeom prst="rect">
            <a:avLst/>
          </a:prstGeom>
          <a:noFill/>
          <a:ln w="0">
            <a:noFill/>
          </a:ln>
        </p:spPr>
        <p:txBody>
          <a:bodyPr lIns="0" tIns="0" rIns="0" bIns="0" anchor="t">
            <a:normAutofit fontScale="92500" lnSpcReduction="9999"/>
          </a:bodyPr>
          <a:lstStyle/>
          <a:p>
            <a:pPr marL="108000">
              <a:spcBef>
                <a:spcPts val="1417"/>
              </a:spcBef>
              <a:buClr>
                <a:srgbClr val="000000"/>
              </a:buClr>
              <a:buSzPct val="45000"/>
            </a:pPr>
            <a:r>
              <a:rPr lang="en-US" sz="2000">
                <a:solidFill>
                  <a:srgbClr val="000000"/>
                </a:solidFill>
              </a:rPr>
              <a:t>Assume captive and wild mortality rates of M</a:t>
            </a:r>
            <a:r>
              <a:rPr lang="en-US" sz="2000" b="0" u="none" strike="noStrike" baseline="-8000">
                <a:solidFill>
                  <a:srgbClr val="000000"/>
                </a:solidFill>
                <a:effectLst/>
                <a:uFillTx/>
                <a:latin typeface="Arial"/>
              </a:rPr>
              <a:t>y1 </a:t>
            </a:r>
            <a:r>
              <a:rPr lang="en-US" sz="2000" b="0" u="none" strike="noStrike">
                <a:solidFill>
                  <a:srgbClr val="000000"/>
                </a:solidFill>
                <a:effectLst/>
                <a:uFillTx/>
                <a:latin typeface="Arial"/>
              </a:rPr>
              <a:t>= 65.9%, M</a:t>
            </a:r>
            <a:r>
              <a:rPr lang="en-US" sz="2000" b="0" u="none" strike="noStrike" baseline="-8000">
                <a:solidFill>
                  <a:srgbClr val="000000"/>
                </a:solidFill>
                <a:effectLst/>
                <a:uFillTx/>
                <a:latin typeface="Arial"/>
              </a:rPr>
              <a:t>i</a:t>
            </a:r>
            <a:r>
              <a:rPr lang="en-US" sz="2000" b="0" u="none" strike="noStrike">
                <a:solidFill>
                  <a:srgbClr val="000000"/>
                </a:solidFill>
                <a:effectLst/>
                <a:uFillTx/>
                <a:latin typeface="Arial"/>
              </a:rPr>
              <a:t> = 13.8%, M</a:t>
            </a:r>
            <a:r>
              <a:rPr lang="en-US" sz="2000" b="0" u="none" strike="noStrike" baseline="-8000">
                <a:solidFill>
                  <a:srgbClr val="000000"/>
                </a:solidFill>
                <a:effectLst/>
                <a:uFillTx/>
                <a:latin typeface="Arial"/>
              </a:rPr>
              <a:t>a</a:t>
            </a:r>
            <a:r>
              <a:rPr lang="en-US" sz="2000" b="0" u="none" strike="noStrike">
                <a:solidFill>
                  <a:srgbClr val="000000"/>
                </a:solidFill>
                <a:effectLst/>
                <a:uFillTx/>
                <a:latin typeface="Arial"/>
              </a:rPr>
              <a:t> = 6.9%</a:t>
            </a:r>
          </a:p>
        </p:txBody>
      </p:sp>
      <p:sp>
        <p:nvSpPr>
          <p:cNvPr id="3" name="TextBox 2">
            <a:extLst>
              <a:ext uri="{FF2B5EF4-FFF2-40B4-BE49-F238E27FC236}">
                <a16:creationId xmlns:a16="http://schemas.microsoft.com/office/drawing/2014/main" id="{D5554039-74D6-A5D2-FB8A-7BDC77F5F287}"/>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
        <p:nvSpPr>
          <p:cNvPr id="6" name="TextBox 5">
            <a:extLst>
              <a:ext uri="{FF2B5EF4-FFF2-40B4-BE49-F238E27FC236}">
                <a16:creationId xmlns:a16="http://schemas.microsoft.com/office/drawing/2014/main" id="{57217310-9462-D425-D68B-DF9A462DF5AF}"/>
              </a:ext>
            </a:extLst>
          </p:cNvPr>
          <p:cNvSpPr txBox="1"/>
          <p:nvPr/>
        </p:nvSpPr>
        <p:spPr>
          <a:xfrm>
            <a:off x="2164192" y="1614549"/>
            <a:ext cx="69945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8" name="TextBox 7">
            <a:extLst>
              <a:ext uri="{FF2B5EF4-FFF2-40B4-BE49-F238E27FC236}">
                <a16:creationId xmlns:a16="http://schemas.microsoft.com/office/drawing/2014/main" id="{28D7B3B1-3E75-A44A-5563-B29FFBB242D7}"/>
              </a:ext>
            </a:extLst>
          </p:cNvPr>
          <p:cNvSpPr txBox="1"/>
          <p:nvPr/>
        </p:nvSpPr>
        <p:spPr>
          <a:xfrm>
            <a:off x="7016583" y="1682907"/>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pic>
        <p:nvPicPr>
          <p:cNvPr id="9" name="Picture 8">
            <a:extLst>
              <a:ext uri="{FF2B5EF4-FFF2-40B4-BE49-F238E27FC236}">
                <a16:creationId xmlns:a16="http://schemas.microsoft.com/office/drawing/2014/main" id="{A9670258-6DDB-FB66-FB4E-A4CD69E3FACA}"/>
              </a:ext>
            </a:extLst>
          </p:cNvPr>
          <p:cNvPicPr>
            <a:picLocks noChangeAspect="1"/>
          </p:cNvPicPr>
          <p:nvPr/>
        </p:nvPicPr>
        <p:blipFill>
          <a:blip r:embed="rId2"/>
          <a:stretch>
            <a:fillRect/>
          </a:stretch>
        </p:blipFill>
        <p:spPr>
          <a:xfrm>
            <a:off x="23243" y="2145463"/>
            <a:ext cx="4715217" cy="3033092"/>
          </a:xfrm>
          <a:prstGeom prst="rect">
            <a:avLst/>
          </a:prstGeom>
        </p:spPr>
      </p:pic>
      <p:pic>
        <p:nvPicPr>
          <p:cNvPr id="10" name="Picture 9">
            <a:extLst>
              <a:ext uri="{FF2B5EF4-FFF2-40B4-BE49-F238E27FC236}">
                <a16:creationId xmlns:a16="http://schemas.microsoft.com/office/drawing/2014/main" id="{AEB0FF55-D915-DCAC-7678-A4B2A5A6AE7C}"/>
              </a:ext>
            </a:extLst>
          </p:cNvPr>
          <p:cNvPicPr>
            <a:picLocks noChangeAspect="1"/>
          </p:cNvPicPr>
          <p:nvPr/>
        </p:nvPicPr>
        <p:blipFill>
          <a:blip r:embed="rId3"/>
          <a:stretch>
            <a:fillRect/>
          </a:stretch>
        </p:blipFill>
        <p:spPr>
          <a:xfrm>
            <a:off x="4735402" y="2145581"/>
            <a:ext cx="5049741" cy="303309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r>
              <a:rPr lang="en-US" sz="4400" b="0" u="none" strike="noStrike">
                <a:solidFill>
                  <a:srgbClr val="000000"/>
                </a:solidFill>
                <a:effectLst/>
                <a:uFillTx/>
                <a:latin typeface="Arial"/>
              </a:rPr>
              <a:t>Simulation Results</a:t>
            </a:r>
          </a:p>
        </p:txBody>
      </p:sp>
      <p:sp>
        <p:nvSpPr>
          <p:cNvPr id="54" name="PlaceHolder 2"/>
          <p:cNvSpPr>
            <a:spLocks noGrp="1"/>
          </p:cNvSpPr>
          <p:nvPr>
            <p:ph/>
          </p:nvPr>
        </p:nvSpPr>
        <p:spPr>
          <a:xfrm>
            <a:off x="504000" y="1326600"/>
            <a:ext cx="8961276" cy="3288240"/>
          </a:xfrm>
          <a:prstGeom prst="rect">
            <a:avLst/>
          </a:prstGeom>
          <a:noFill/>
          <a:ln w="0">
            <a:noFill/>
          </a:ln>
        </p:spPr>
        <p:txBody>
          <a:bodyPr lIns="0" tIns="0" rIns="0" bIns="0" anchor="t">
            <a:normAutofit fontScale="92500" lnSpcReduction="9999"/>
          </a:bodyPr>
          <a:lstStyle/>
          <a:p>
            <a:pPr marL="108000">
              <a:spcBef>
                <a:spcPts val="1417"/>
              </a:spcBef>
              <a:buClr>
                <a:srgbClr val="000000"/>
              </a:buClr>
              <a:buSzPct val="45000"/>
            </a:pPr>
            <a:r>
              <a:rPr lang="en-US" sz="2000">
                <a:solidFill>
                  <a:srgbClr val="000000"/>
                </a:solidFill>
              </a:rPr>
              <a:t>Assume captive and wild mortality rates of M</a:t>
            </a:r>
            <a:r>
              <a:rPr lang="en-US" sz="2000" b="0" u="none" strike="noStrike" baseline="-8000">
                <a:solidFill>
                  <a:srgbClr val="000000"/>
                </a:solidFill>
                <a:effectLst/>
                <a:uFillTx/>
                <a:latin typeface="Arial"/>
              </a:rPr>
              <a:t>y1 </a:t>
            </a:r>
            <a:r>
              <a:rPr lang="en-US" sz="2000" b="0" u="none" strike="noStrike">
                <a:solidFill>
                  <a:srgbClr val="000000"/>
                </a:solidFill>
                <a:effectLst/>
                <a:uFillTx/>
                <a:latin typeface="Arial"/>
              </a:rPr>
              <a:t>= 65.9%, M</a:t>
            </a:r>
            <a:r>
              <a:rPr lang="en-US" sz="2000" b="0" u="none" strike="noStrike" baseline="-8000">
                <a:solidFill>
                  <a:srgbClr val="000000"/>
                </a:solidFill>
                <a:effectLst/>
                <a:uFillTx/>
                <a:latin typeface="Arial"/>
              </a:rPr>
              <a:t>i</a:t>
            </a:r>
            <a:r>
              <a:rPr lang="en-US" sz="2000" b="0" u="none" strike="noStrike">
                <a:solidFill>
                  <a:srgbClr val="000000"/>
                </a:solidFill>
                <a:effectLst/>
                <a:uFillTx/>
                <a:latin typeface="Arial"/>
              </a:rPr>
              <a:t> = 9.9%, M</a:t>
            </a:r>
            <a:r>
              <a:rPr lang="en-US" sz="2000" b="0" u="none" strike="noStrike" baseline="-8000">
                <a:solidFill>
                  <a:srgbClr val="000000"/>
                </a:solidFill>
                <a:effectLst/>
                <a:uFillTx/>
                <a:latin typeface="Arial"/>
              </a:rPr>
              <a:t>a</a:t>
            </a:r>
            <a:r>
              <a:rPr lang="en-US" sz="2000" b="0" u="none" strike="noStrike">
                <a:solidFill>
                  <a:srgbClr val="000000"/>
                </a:solidFill>
                <a:effectLst/>
                <a:uFillTx/>
                <a:latin typeface="Arial"/>
              </a:rPr>
              <a:t> = 9.9%</a:t>
            </a:r>
          </a:p>
        </p:txBody>
      </p:sp>
      <p:sp>
        <p:nvSpPr>
          <p:cNvPr id="3" name="TextBox 2">
            <a:extLst>
              <a:ext uri="{FF2B5EF4-FFF2-40B4-BE49-F238E27FC236}">
                <a16:creationId xmlns:a16="http://schemas.microsoft.com/office/drawing/2014/main" id="{114C23F6-FF5E-D259-C265-C3D7C87FB51C}"/>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
        <p:nvSpPr>
          <p:cNvPr id="6" name="TextBox 5">
            <a:extLst>
              <a:ext uri="{FF2B5EF4-FFF2-40B4-BE49-F238E27FC236}">
                <a16:creationId xmlns:a16="http://schemas.microsoft.com/office/drawing/2014/main" id="{05FE633D-79D9-A8DB-5411-D82380E3492B}"/>
              </a:ext>
            </a:extLst>
          </p:cNvPr>
          <p:cNvSpPr txBox="1"/>
          <p:nvPr/>
        </p:nvSpPr>
        <p:spPr>
          <a:xfrm>
            <a:off x="2053102" y="1537616"/>
            <a:ext cx="69945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8" name="TextBox 7">
            <a:extLst>
              <a:ext uri="{FF2B5EF4-FFF2-40B4-BE49-F238E27FC236}">
                <a16:creationId xmlns:a16="http://schemas.microsoft.com/office/drawing/2014/main" id="{5C137472-CD50-49B9-9AEA-3A63C8A8F0CD}"/>
              </a:ext>
            </a:extLst>
          </p:cNvPr>
          <p:cNvSpPr txBox="1"/>
          <p:nvPr/>
        </p:nvSpPr>
        <p:spPr>
          <a:xfrm>
            <a:off x="7127672" y="1614522"/>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pic>
        <p:nvPicPr>
          <p:cNvPr id="9" name="Picture 8">
            <a:extLst>
              <a:ext uri="{FF2B5EF4-FFF2-40B4-BE49-F238E27FC236}">
                <a16:creationId xmlns:a16="http://schemas.microsoft.com/office/drawing/2014/main" id="{1F4FD2FE-F6F1-BABE-C2CF-7EE1CCAE3F04}"/>
              </a:ext>
            </a:extLst>
          </p:cNvPr>
          <p:cNvPicPr>
            <a:picLocks noChangeAspect="1"/>
          </p:cNvPicPr>
          <p:nvPr/>
        </p:nvPicPr>
        <p:blipFill>
          <a:blip r:embed="rId2"/>
          <a:stretch>
            <a:fillRect/>
          </a:stretch>
        </p:blipFill>
        <p:spPr>
          <a:xfrm>
            <a:off x="-119935" y="1983154"/>
            <a:ext cx="4907372" cy="3298232"/>
          </a:xfrm>
          <a:prstGeom prst="rect">
            <a:avLst/>
          </a:prstGeom>
        </p:spPr>
      </p:pic>
      <p:pic>
        <p:nvPicPr>
          <p:cNvPr id="10" name="Picture 9">
            <a:extLst>
              <a:ext uri="{FF2B5EF4-FFF2-40B4-BE49-F238E27FC236}">
                <a16:creationId xmlns:a16="http://schemas.microsoft.com/office/drawing/2014/main" id="{2B852CA5-7E4D-71DE-3F75-1B4FC0A0A4FC}"/>
              </a:ext>
            </a:extLst>
          </p:cNvPr>
          <p:cNvPicPr>
            <a:picLocks noChangeAspect="1"/>
          </p:cNvPicPr>
          <p:nvPr/>
        </p:nvPicPr>
        <p:blipFill>
          <a:blip r:embed="rId3"/>
          <a:stretch>
            <a:fillRect/>
          </a:stretch>
        </p:blipFill>
        <p:spPr>
          <a:xfrm>
            <a:off x="4610109" y="1983154"/>
            <a:ext cx="5043759" cy="329823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11269-82DC-FBA4-7D68-A368158B66C8}"/>
            </a:ext>
          </a:extLst>
        </p:cNvPr>
        <p:cNvGrpSpPr/>
        <p:nvPr/>
      </p:nvGrpSpPr>
      <p:grpSpPr>
        <a:xfrm>
          <a:off x="0" y="0"/>
          <a:ext cx="0" cy="0"/>
          <a:chOff x="0" y="0"/>
          <a:chExt cx="0" cy="0"/>
        </a:xfrm>
      </p:grpSpPr>
      <p:sp>
        <p:nvSpPr>
          <p:cNvPr id="47" name="PlaceHolder 1">
            <a:extLst>
              <a:ext uri="{FF2B5EF4-FFF2-40B4-BE49-F238E27FC236}">
                <a16:creationId xmlns:a16="http://schemas.microsoft.com/office/drawing/2014/main" id="{C5B8599E-2E43-DE3D-01DB-3DDD5CCD69C7}"/>
              </a:ext>
            </a:extLst>
          </p:cNvPr>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r>
              <a:rPr lang="en-US" sz="4400" b="0" u="none" strike="noStrike">
                <a:solidFill>
                  <a:srgbClr val="000000"/>
                </a:solidFill>
                <a:effectLst/>
                <a:uFillTx/>
                <a:latin typeface="Arial"/>
              </a:rPr>
              <a:t>Simulation Results</a:t>
            </a:r>
          </a:p>
        </p:txBody>
      </p:sp>
      <p:sp>
        <p:nvSpPr>
          <p:cNvPr id="48" name="PlaceHolder 2">
            <a:extLst>
              <a:ext uri="{FF2B5EF4-FFF2-40B4-BE49-F238E27FC236}">
                <a16:creationId xmlns:a16="http://schemas.microsoft.com/office/drawing/2014/main" id="{9CDFF5A1-0E70-E686-622B-F4E71A132459}"/>
              </a:ext>
            </a:extLst>
          </p:cNvPr>
          <p:cNvSpPr>
            <a:spLocks noGrp="1"/>
          </p:cNvSpPr>
          <p:nvPr>
            <p:ph/>
          </p:nvPr>
        </p:nvSpPr>
        <p:spPr>
          <a:xfrm>
            <a:off x="503999" y="1326600"/>
            <a:ext cx="3351309" cy="3494372"/>
          </a:xfrm>
          <a:prstGeom prst="rect">
            <a:avLst/>
          </a:prstGeom>
          <a:noFill/>
          <a:ln w="0">
            <a:noFill/>
          </a:ln>
        </p:spPr>
        <p:txBody>
          <a:bodyPr lIns="0" tIns="0" rIns="0" bIns="0" anchor="t">
            <a:normAutofit fontScale="92500" lnSpcReduction="20000"/>
          </a:bodyPr>
          <a:lstStyle/>
          <a:p>
            <a:pPr marL="107950">
              <a:spcBef>
                <a:spcPts val="1417"/>
              </a:spcBef>
              <a:buClr>
                <a:srgbClr val="000000"/>
              </a:buClr>
              <a:buSzPct val="45000"/>
            </a:pPr>
            <a:r>
              <a:rPr lang="en-US" sz="2000" b="0" u="none" strike="noStrike">
                <a:solidFill>
                  <a:srgbClr val="000000"/>
                </a:solidFill>
                <a:effectLst/>
                <a:uFillTx/>
                <a:latin typeface="Arial"/>
              </a:rPr>
              <a:t>Wild: </a:t>
            </a:r>
            <a:endParaRPr lang="en-US"/>
          </a:p>
          <a:p>
            <a:pPr marL="431800" indent="-323850">
              <a:spcBef>
                <a:spcPts val="1417"/>
              </a:spcBef>
              <a:buClr>
                <a:srgbClr val="000000"/>
              </a:buClr>
              <a:buSzPct val="45000"/>
              <a:buFont typeface="Wingdings" charset="2"/>
              <a:buChar char=""/>
            </a:pPr>
            <a:r>
              <a:rPr lang="en-US" sz="2000" b="0" u="none" strike="noStrike">
                <a:solidFill>
                  <a:srgbClr val="000000"/>
                </a:solidFill>
                <a:effectLst/>
                <a:uFillTx/>
                <a:latin typeface="Arial"/>
              </a:rPr>
              <a:t>M</a:t>
            </a:r>
            <a:r>
              <a:rPr lang="en-US" sz="2000" b="0" u="none" strike="noStrike" baseline="-8000">
                <a:solidFill>
                  <a:srgbClr val="000000"/>
                </a:solidFill>
                <a:effectLst/>
                <a:uFillTx/>
                <a:latin typeface="Arial"/>
              </a:rPr>
              <a:t>y1 </a:t>
            </a:r>
            <a:r>
              <a:rPr lang="en-US" sz="2000" b="0" u="none" strike="noStrike">
                <a:solidFill>
                  <a:srgbClr val="000000"/>
                </a:solidFill>
                <a:effectLst/>
                <a:uFillTx/>
                <a:latin typeface="Arial"/>
              </a:rPr>
              <a:t>= 65.9%, </a:t>
            </a:r>
          </a:p>
          <a:p>
            <a:pPr marL="431800" indent="-323850">
              <a:spcBef>
                <a:spcPts val="1417"/>
              </a:spcBef>
              <a:buClr>
                <a:srgbClr val="000000"/>
              </a:buClr>
              <a:buSzPct val="45000"/>
              <a:buFont typeface="Wingdings" charset="2"/>
              <a:buChar char=""/>
            </a:pPr>
            <a:r>
              <a:rPr lang="en-US" sz="2000" b="0" u="none" strike="noStrike">
                <a:solidFill>
                  <a:srgbClr val="000000"/>
                </a:solidFill>
                <a:effectLst/>
                <a:uFillTx/>
                <a:latin typeface="Arial"/>
              </a:rPr>
              <a:t>M</a:t>
            </a:r>
            <a:r>
              <a:rPr lang="en-US" sz="2000" b="0" u="none" strike="noStrike" baseline="-8000">
                <a:solidFill>
                  <a:srgbClr val="000000"/>
                </a:solidFill>
                <a:effectLst/>
                <a:uFillTx/>
                <a:latin typeface="Arial"/>
              </a:rPr>
              <a:t>i</a:t>
            </a:r>
            <a:r>
              <a:rPr lang="en-US" sz="2000" b="0" u="none" strike="noStrike">
                <a:solidFill>
                  <a:srgbClr val="000000"/>
                </a:solidFill>
                <a:effectLst/>
                <a:uFillTx/>
                <a:latin typeface="Arial"/>
              </a:rPr>
              <a:t> = </a:t>
            </a:r>
            <a:r>
              <a:rPr lang="en-US" sz="2000">
                <a:solidFill>
                  <a:srgbClr val="000000"/>
                </a:solidFill>
                <a:latin typeface="Arial"/>
              </a:rPr>
              <a:t>13.8%,</a:t>
            </a:r>
            <a:r>
              <a:rPr lang="en-US" sz="2000" b="0" u="none" strike="noStrike">
                <a:solidFill>
                  <a:srgbClr val="000000"/>
                </a:solidFill>
                <a:effectLst/>
                <a:uFillTx/>
                <a:latin typeface="Arial"/>
              </a:rPr>
              <a:t> </a:t>
            </a:r>
          </a:p>
          <a:p>
            <a:pPr marL="431800" indent="-323850">
              <a:spcBef>
                <a:spcPts val="1417"/>
              </a:spcBef>
              <a:buClr>
                <a:srgbClr val="000000"/>
              </a:buClr>
              <a:buSzPct val="45000"/>
              <a:buFont typeface="Wingdings" charset="2"/>
              <a:buChar char=""/>
            </a:pPr>
            <a:r>
              <a:rPr lang="en-US" sz="2000" b="0" u="none" strike="noStrike">
                <a:solidFill>
                  <a:srgbClr val="000000"/>
                </a:solidFill>
                <a:effectLst/>
                <a:uFillTx/>
                <a:latin typeface="Arial"/>
              </a:rPr>
              <a:t>M</a:t>
            </a:r>
            <a:r>
              <a:rPr lang="en-US" sz="2000" b="0" u="none" strike="noStrike" baseline="-8000">
                <a:solidFill>
                  <a:srgbClr val="000000"/>
                </a:solidFill>
                <a:effectLst/>
                <a:uFillTx/>
                <a:latin typeface="Arial"/>
              </a:rPr>
              <a:t>a</a:t>
            </a:r>
            <a:r>
              <a:rPr lang="en-US" sz="2000" b="0" u="none" strike="noStrike">
                <a:solidFill>
                  <a:srgbClr val="000000"/>
                </a:solidFill>
                <a:effectLst/>
                <a:uFillTx/>
                <a:latin typeface="Arial"/>
              </a:rPr>
              <a:t> = </a:t>
            </a:r>
            <a:r>
              <a:rPr lang="en-US" sz="2000">
                <a:solidFill>
                  <a:srgbClr val="000000"/>
                </a:solidFill>
                <a:latin typeface="Arial"/>
              </a:rPr>
              <a:t>9.9%</a:t>
            </a:r>
            <a:endParaRPr lang="en-US" sz="2000" b="0" u="none" strike="noStrike">
              <a:solidFill>
                <a:srgbClr val="000000"/>
              </a:solidFill>
              <a:effectLst/>
              <a:uFillTx/>
              <a:latin typeface="Arial"/>
            </a:endParaRPr>
          </a:p>
          <a:p>
            <a:pPr marL="107950">
              <a:spcBef>
                <a:spcPts val="1417"/>
              </a:spcBef>
              <a:buClr>
                <a:srgbClr val="000000"/>
              </a:buClr>
              <a:buSzPct val="45000"/>
            </a:pPr>
            <a:r>
              <a:rPr lang="en-US" sz="2000">
                <a:solidFill>
                  <a:srgbClr val="000000"/>
                </a:solidFill>
                <a:latin typeface="Arial"/>
              </a:rPr>
              <a:t>Captive: </a:t>
            </a:r>
          </a:p>
          <a:p>
            <a:pPr marL="431800" indent="-323850">
              <a:spcBef>
                <a:spcPts val="1417"/>
              </a:spcBef>
              <a:buClr>
                <a:srgbClr val="000000"/>
              </a:buClr>
              <a:buSzPct val="45000"/>
              <a:buFont typeface="Wingdings" charset="2"/>
              <a:buChar char=""/>
            </a:pPr>
            <a:r>
              <a:rPr lang="en-US" sz="2000">
                <a:solidFill>
                  <a:srgbClr val="000000"/>
                </a:solidFill>
              </a:rPr>
              <a:t>M</a:t>
            </a:r>
            <a:r>
              <a:rPr lang="en-US" sz="2000" baseline="-8000">
                <a:solidFill>
                  <a:srgbClr val="000000"/>
                </a:solidFill>
              </a:rPr>
              <a:t>y1 </a:t>
            </a:r>
            <a:r>
              <a:rPr lang="en-US" sz="2000">
                <a:solidFill>
                  <a:srgbClr val="000000"/>
                </a:solidFill>
              </a:rPr>
              <a:t>= 8.6%, </a:t>
            </a:r>
          </a:p>
          <a:p>
            <a:pPr marL="431800" indent="-323850">
              <a:spcBef>
                <a:spcPts val="1417"/>
              </a:spcBef>
              <a:buClr>
                <a:srgbClr val="000000"/>
              </a:buClr>
              <a:buSzPct val="45000"/>
              <a:buFont typeface="Wingdings" charset="2"/>
              <a:buChar char=""/>
            </a:pPr>
            <a:r>
              <a:rPr lang="en-US" sz="2000">
                <a:solidFill>
                  <a:srgbClr val="000000"/>
                </a:solidFill>
              </a:rPr>
              <a:t>M</a:t>
            </a:r>
            <a:r>
              <a:rPr lang="en-US" sz="2000" baseline="-8000">
                <a:solidFill>
                  <a:srgbClr val="000000"/>
                </a:solidFill>
              </a:rPr>
              <a:t>i</a:t>
            </a:r>
            <a:r>
              <a:rPr lang="en-US" sz="2000">
                <a:solidFill>
                  <a:srgbClr val="000000"/>
                </a:solidFill>
              </a:rPr>
              <a:t> = 8.6%, </a:t>
            </a:r>
          </a:p>
          <a:p>
            <a:pPr marL="431800" indent="-323850">
              <a:spcBef>
                <a:spcPts val="1417"/>
              </a:spcBef>
              <a:buClr>
                <a:srgbClr val="000000"/>
              </a:buClr>
              <a:buSzPct val="45000"/>
              <a:buFont typeface="Wingdings" charset="2"/>
              <a:buChar char=""/>
            </a:pPr>
            <a:r>
              <a:rPr lang="en-US" sz="2000">
                <a:solidFill>
                  <a:srgbClr val="000000"/>
                </a:solidFill>
              </a:rPr>
              <a:t>M</a:t>
            </a:r>
            <a:r>
              <a:rPr lang="en-US" sz="2000" baseline="-8000">
                <a:solidFill>
                  <a:srgbClr val="000000"/>
                </a:solidFill>
              </a:rPr>
              <a:t>a</a:t>
            </a:r>
            <a:r>
              <a:rPr lang="en-US" sz="2000">
                <a:solidFill>
                  <a:srgbClr val="000000"/>
                </a:solidFill>
              </a:rPr>
              <a:t> = 8.6%</a:t>
            </a:r>
          </a:p>
          <a:p>
            <a:pPr marL="107950">
              <a:spcBef>
                <a:spcPts val="1417"/>
              </a:spcBef>
              <a:buClr>
                <a:srgbClr val="000000"/>
              </a:buClr>
              <a:buSzPct val="45000"/>
            </a:pPr>
            <a:r>
              <a:rPr lang="en-US" sz="2000">
                <a:solidFill>
                  <a:srgbClr val="000000"/>
                </a:solidFill>
                <a:latin typeface="Arial"/>
              </a:rPr>
              <a:t>22 Adults</a:t>
            </a:r>
            <a:endParaRPr lang="en-US" sz="2000" b="0" u="none" strike="noStrike">
              <a:solidFill>
                <a:srgbClr val="000000"/>
              </a:solidFill>
              <a:effectLst/>
              <a:uFillTx/>
              <a:latin typeface="Arial"/>
            </a:endParaRPr>
          </a:p>
        </p:txBody>
      </p:sp>
      <p:sp>
        <p:nvSpPr>
          <p:cNvPr id="4" name="TextBox 3">
            <a:extLst>
              <a:ext uri="{FF2B5EF4-FFF2-40B4-BE49-F238E27FC236}">
                <a16:creationId xmlns:a16="http://schemas.microsoft.com/office/drawing/2014/main" id="{FCD3FA90-2167-8D03-007D-3A860053AA22}"/>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pic>
        <p:nvPicPr>
          <p:cNvPr id="3" name="Picture 2">
            <a:extLst>
              <a:ext uri="{FF2B5EF4-FFF2-40B4-BE49-F238E27FC236}">
                <a16:creationId xmlns:a16="http://schemas.microsoft.com/office/drawing/2014/main" id="{BAC740B8-70AD-4D16-2910-1F70E230CFB3}"/>
              </a:ext>
            </a:extLst>
          </p:cNvPr>
          <p:cNvPicPr>
            <a:picLocks noChangeAspect="1"/>
          </p:cNvPicPr>
          <p:nvPr/>
        </p:nvPicPr>
        <p:blipFill>
          <a:blip r:embed="rId2"/>
          <a:stretch>
            <a:fillRect/>
          </a:stretch>
        </p:blipFill>
        <p:spPr>
          <a:xfrm>
            <a:off x="2991445" y="1072008"/>
            <a:ext cx="6585410" cy="4322294"/>
          </a:xfrm>
          <a:prstGeom prst="rect">
            <a:avLst/>
          </a:prstGeom>
        </p:spPr>
      </p:pic>
    </p:spTree>
    <p:extLst>
      <p:ext uri="{BB962C8B-B14F-4D97-AF65-F5344CB8AC3E}">
        <p14:creationId xmlns:p14="http://schemas.microsoft.com/office/powerpoint/2010/main" val="40962088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lstStyle/>
          <a:p>
            <a:pPr indent="0" algn="ctr">
              <a:buNone/>
            </a:pPr>
            <a:r>
              <a:rPr lang="en-US" sz="4400" b="0" u="none" strike="noStrike">
                <a:solidFill>
                  <a:srgbClr val="000000"/>
                </a:solidFill>
                <a:effectLst/>
                <a:uFillTx/>
                <a:latin typeface="Arial"/>
              </a:rPr>
              <a:t>Simulation Results</a:t>
            </a:r>
          </a:p>
        </p:txBody>
      </p:sp>
      <p:sp>
        <p:nvSpPr>
          <p:cNvPr id="57" name="PlaceHolder 2"/>
          <p:cNvSpPr>
            <a:spLocks noGrp="1"/>
          </p:cNvSpPr>
          <p:nvPr>
            <p:ph/>
          </p:nvPr>
        </p:nvSpPr>
        <p:spPr>
          <a:xfrm>
            <a:off x="503999" y="1326600"/>
            <a:ext cx="9071639" cy="3288240"/>
          </a:xfrm>
          <a:prstGeom prst="rect">
            <a:avLst/>
          </a:prstGeom>
          <a:noFill/>
          <a:ln w="0">
            <a:noFill/>
          </a:ln>
        </p:spPr>
        <p:txBody>
          <a:bodyPr lIns="0" tIns="0" rIns="0" bIns="0" anchor="t">
            <a:normAutofit fontScale="92500" lnSpcReduction="9999"/>
          </a:bodyPr>
          <a:lstStyle/>
          <a:p>
            <a:pPr marL="108000">
              <a:spcBef>
                <a:spcPts val="1417"/>
              </a:spcBef>
              <a:buClr>
                <a:srgbClr val="000000"/>
              </a:buClr>
              <a:buSzPct val="45000"/>
            </a:pPr>
            <a:r>
              <a:rPr lang="en-US" sz="2000" dirty="0">
                <a:solidFill>
                  <a:srgbClr val="000000"/>
                </a:solidFill>
              </a:rPr>
              <a:t>Assume captive and wild mortality rates of M</a:t>
            </a:r>
            <a:r>
              <a:rPr lang="en-US" sz="2000" baseline="-8000" dirty="0">
                <a:solidFill>
                  <a:srgbClr val="000000"/>
                </a:solidFill>
              </a:rPr>
              <a:t>y1 </a:t>
            </a:r>
            <a:r>
              <a:rPr lang="en-US" sz="2000" dirty="0">
                <a:solidFill>
                  <a:srgbClr val="000000"/>
                </a:solidFill>
              </a:rPr>
              <a:t>= 65.9%, M</a:t>
            </a:r>
            <a:r>
              <a:rPr lang="en-US" sz="2000" baseline="-8000" dirty="0">
                <a:solidFill>
                  <a:srgbClr val="000000"/>
                </a:solidFill>
              </a:rPr>
              <a:t>i</a:t>
            </a:r>
            <a:r>
              <a:rPr lang="en-US" sz="2000" dirty="0">
                <a:solidFill>
                  <a:srgbClr val="000000"/>
                </a:solidFill>
              </a:rPr>
              <a:t> = 13.8%, M</a:t>
            </a:r>
            <a:r>
              <a:rPr lang="en-US" sz="2000" baseline="-8000" dirty="0">
                <a:solidFill>
                  <a:srgbClr val="000000"/>
                </a:solidFill>
              </a:rPr>
              <a:t>a</a:t>
            </a:r>
            <a:r>
              <a:rPr lang="en-US" sz="2000" dirty="0">
                <a:solidFill>
                  <a:srgbClr val="000000"/>
                </a:solidFill>
              </a:rPr>
              <a:t> = 6.9%, and that captive repopulation efforts run for only 5 years. </a:t>
            </a:r>
          </a:p>
          <a:p>
            <a:pPr marL="108000">
              <a:spcBef>
                <a:spcPts val="1417"/>
              </a:spcBef>
              <a:buClr>
                <a:srgbClr val="000000"/>
              </a:buClr>
              <a:buSzPct val="45000"/>
            </a:pPr>
            <a:endParaRPr lang="en-US" sz="2000" b="0" u="none" strike="noStrike">
              <a:solidFill>
                <a:srgbClr val="000000"/>
              </a:solidFill>
              <a:effectLst/>
              <a:uFillTx/>
              <a:latin typeface="Arial"/>
            </a:endParaRPr>
          </a:p>
        </p:txBody>
      </p:sp>
      <p:sp>
        <p:nvSpPr>
          <p:cNvPr id="4" name="TextBox 3">
            <a:extLst>
              <a:ext uri="{FF2B5EF4-FFF2-40B4-BE49-F238E27FC236}">
                <a16:creationId xmlns:a16="http://schemas.microsoft.com/office/drawing/2014/main" id="{DF8DE2C9-F59A-E75B-083F-7B4B14076DD9}"/>
              </a:ext>
            </a:extLst>
          </p:cNvPr>
          <p:cNvSpPr txBox="1"/>
          <p:nvPr/>
        </p:nvSpPr>
        <p:spPr>
          <a:xfrm>
            <a:off x="19439" y="5388906"/>
            <a:ext cx="52528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cs typeface="Arial"/>
              </a:rPr>
              <a:t>//</a:t>
            </a:r>
          </a:p>
          <a:p>
            <a:pPr algn="l"/>
            <a:endParaRPr lang="en-US" dirty="0"/>
          </a:p>
        </p:txBody>
      </p:sp>
      <p:sp>
        <p:nvSpPr>
          <p:cNvPr id="6" name="TextBox 5">
            <a:extLst>
              <a:ext uri="{FF2B5EF4-FFF2-40B4-BE49-F238E27FC236}">
                <a16:creationId xmlns:a16="http://schemas.microsoft.com/office/drawing/2014/main" id="{1C4847BF-E5DA-0A7D-53E1-96B0A45FADFC}"/>
              </a:ext>
            </a:extLst>
          </p:cNvPr>
          <p:cNvSpPr txBox="1"/>
          <p:nvPr/>
        </p:nvSpPr>
        <p:spPr>
          <a:xfrm>
            <a:off x="2164192" y="1913732"/>
            <a:ext cx="69945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1987</a:t>
            </a:r>
          </a:p>
        </p:txBody>
      </p:sp>
      <p:sp>
        <p:nvSpPr>
          <p:cNvPr id="8" name="TextBox 7">
            <a:extLst>
              <a:ext uri="{FF2B5EF4-FFF2-40B4-BE49-F238E27FC236}">
                <a16:creationId xmlns:a16="http://schemas.microsoft.com/office/drawing/2014/main" id="{87619A70-8BBA-2F1B-79FB-11E5ABAD48B9}"/>
              </a:ext>
            </a:extLst>
          </p:cNvPr>
          <p:cNvSpPr txBox="1"/>
          <p:nvPr/>
        </p:nvSpPr>
        <p:spPr>
          <a:xfrm>
            <a:off x="7204581" y="1734195"/>
            <a:ext cx="787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2022</a:t>
            </a:r>
          </a:p>
        </p:txBody>
      </p:sp>
      <p:pic>
        <p:nvPicPr>
          <p:cNvPr id="9" name="Picture 8">
            <a:extLst>
              <a:ext uri="{FF2B5EF4-FFF2-40B4-BE49-F238E27FC236}">
                <a16:creationId xmlns:a16="http://schemas.microsoft.com/office/drawing/2014/main" id="{F95A9E68-3593-F504-272E-022F9C8DFBF1}"/>
              </a:ext>
            </a:extLst>
          </p:cNvPr>
          <p:cNvPicPr>
            <a:picLocks noChangeAspect="1"/>
          </p:cNvPicPr>
          <p:nvPr/>
        </p:nvPicPr>
        <p:blipFill>
          <a:blip r:embed="rId2"/>
          <a:stretch>
            <a:fillRect/>
          </a:stretch>
        </p:blipFill>
        <p:spPr>
          <a:xfrm>
            <a:off x="122346" y="2154037"/>
            <a:ext cx="4914245" cy="3110070"/>
          </a:xfrm>
          <a:prstGeom prst="rect">
            <a:avLst/>
          </a:prstGeom>
        </p:spPr>
      </p:pic>
      <p:pic>
        <p:nvPicPr>
          <p:cNvPr id="10" name="Picture 9">
            <a:extLst>
              <a:ext uri="{FF2B5EF4-FFF2-40B4-BE49-F238E27FC236}">
                <a16:creationId xmlns:a16="http://schemas.microsoft.com/office/drawing/2014/main" id="{44D4791F-8DC0-3843-B8D7-F90B9E9584D2}"/>
              </a:ext>
            </a:extLst>
          </p:cNvPr>
          <p:cNvPicPr>
            <a:picLocks noChangeAspect="1"/>
          </p:cNvPicPr>
          <p:nvPr/>
        </p:nvPicPr>
        <p:blipFill>
          <a:blip r:embed="rId3"/>
          <a:stretch>
            <a:fillRect/>
          </a:stretch>
        </p:blipFill>
        <p:spPr>
          <a:xfrm>
            <a:off x="4622096" y="2102827"/>
            <a:ext cx="5172920" cy="316138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778D4-41DA-E2CC-44D2-BB53F55B8A74}"/>
              </a:ext>
            </a:extLst>
          </p:cNvPr>
          <p:cNvSpPr>
            <a:spLocks noGrp="1"/>
          </p:cNvSpPr>
          <p:nvPr>
            <p:ph type="title"/>
          </p:nvPr>
        </p:nvSpPr>
        <p:spPr>
          <a:xfrm>
            <a:off x="504000" y="394601"/>
            <a:ext cx="9071640" cy="609398"/>
          </a:xfrm>
        </p:spPr>
        <p:txBody>
          <a:bodyPr/>
          <a:lstStyle/>
          <a:p>
            <a:pPr algn="ctr"/>
            <a:r>
              <a:rPr lang="en-US"/>
              <a:t>Conclusions and Future Work</a:t>
            </a:r>
          </a:p>
        </p:txBody>
      </p:sp>
      <p:sp>
        <p:nvSpPr>
          <p:cNvPr id="3" name="Content Placeholder 2">
            <a:extLst>
              <a:ext uri="{FF2B5EF4-FFF2-40B4-BE49-F238E27FC236}">
                <a16:creationId xmlns:a16="http://schemas.microsoft.com/office/drawing/2014/main" id="{B50EBEAB-7D0A-123B-4118-6CC8484447CA}"/>
              </a:ext>
            </a:extLst>
          </p:cNvPr>
          <p:cNvSpPr>
            <a:spLocks noGrp="1"/>
          </p:cNvSpPr>
          <p:nvPr>
            <p:ph/>
          </p:nvPr>
        </p:nvSpPr>
        <p:spPr>
          <a:xfrm>
            <a:off x="504000" y="1347536"/>
            <a:ext cx="9071640" cy="3267303"/>
          </a:xfrm>
        </p:spPr>
        <p:txBody>
          <a:bodyPr>
            <a:normAutofit/>
          </a:bodyPr>
          <a:lstStyle/>
          <a:p>
            <a:r>
              <a:rPr lang="en-US" sz="2000"/>
              <a:t>A captive repopulation program successfully increases wild populations over 50 years. </a:t>
            </a:r>
          </a:p>
          <a:p>
            <a:endParaRPr lang="en-US" sz="2000"/>
          </a:p>
          <a:p>
            <a:r>
              <a:rPr lang="en-US" sz="2000"/>
              <a:t>Given true population data, lower estimates for mortality rates may be assumed.</a:t>
            </a:r>
            <a:endParaRPr lang="en-US"/>
          </a:p>
          <a:p>
            <a:endParaRPr lang="en-US" sz="2000"/>
          </a:p>
          <a:p>
            <a:endParaRPr lang="en-US" sz="2000"/>
          </a:p>
          <a:p>
            <a:r>
              <a:rPr lang="en-US" sz="2000"/>
              <a:t>Future work might involve running models based on current estimates for mortality and birth rates to improve model accuracy, or to run simulations with different values for these parameters to get more specific true mortality and birth rates.   </a:t>
            </a:r>
            <a:endParaRPr lang="en-US"/>
          </a:p>
        </p:txBody>
      </p:sp>
      <p:sp>
        <p:nvSpPr>
          <p:cNvPr id="4" name="TextBox 3">
            <a:extLst>
              <a:ext uri="{FF2B5EF4-FFF2-40B4-BE49-F238E27FC236}">
                <a16:creationId xmlns:a16="http://schemas.microsoft.com/office/drawing/2014/main" id="{81543411-2D5D-7325-7396-E8EB866EFD10}"/>
              </a:ext>
            </a:extLst>
          </p:cNvPr>
          <p:cNvSpPr txBox="1"/>
          <p:nvPr/>
        </p:nvSpPr>
        <p:spPr>
          <a:xfrm>
            <a:off x="96851" y="5355854"/>
            <a:ext cx="5040312" cy="7925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lnSpc>
                <a:spcPts val="1200"/>
              </a:lnSpc>
            </a:pPr>
            <a:r>
              <a:rPr lang="en-US" sz="1000" b="0" i="0" u="none" strike="noStrike" baseline="0" dirty="0">
                <a:solidFill>
                  <a:srgbClr val="000000"/>
                </a:solidFill>
                <a:latin typeface="Arial"/>
                <a:ea typeface="Segoe UI"/>
                <a:cs typeface="Segoe UI"/>
              </a:rPr>
              <a:t>//</a:t>
            </a:r>
            <a:r>
              <a:rPr lang="en-US" sz="1000" b="0" i="0" dirty="0">
                <a:solidFill>
                  <a:srgbClr val="000000"/>
                </a:solidFill>
                <a:latin typeface="Arial"/>
                <a:ea typeface="Segoe UI"/>
                <a:cs typeface="Segoe UI"/>
              </a:rPr>
              <a:t>​</a:t>
            </a:r>
          </a:p>
          <a:p>
            <a:pPr algn="l" rtl="0">
              <a:lnSpc>
                <a:spcPts val="2100"/>
              </a:lnSpc>
            </a:pPr>
            <a:r>
              <a:rPr lang="en-US" sz="1800" b="0" i="0" dirty="0">
                <a:solidFill>
                  <a:srgbClr val="000000"/>
                </a:solidFill>
                <a:latin typeface="Arial"/>
                <a:ea typeface="Segoe UI"/>
                <a:cs typeface="Segoe UI"/>
              </a:rPr>
              <a:t>​</a:t>
            </a:r>
          </a:p>
          <a:p>
            <a:pPr algn="ctr"/>
            <a:endParaRPr lang="en-US"/>
          </a:p>
        </p:txBody>
      </p:sp>
    </p:spTree>
    <p:extLst>
      <p:ext uri="{BB962C8B-B14F-4D97-AF65-F5344CB8AC3E}">
        <p14:creationId xmlns:p14="http://schemas.microsoft.com/office/powerpoint/2010/main" val="1529607864"/>
      </p:ext>
    </p:extLst>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18</Slides>
  <Notes>0</Notes>
  <HiddenSlides>0</HiddenSlide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vt:lpstr>
      <vt:lpstr>Condor Populations</vt:lpstr>
      <vt:lpstr>The California Condor</vt:lpstr>
      <vt:lpstr>The California Condor</vt:lpstr>
      <vt:lpstr>Condor Conservation Effort</vt:lpstr>
      <vt:lpstr>Guiding Questions</vt:lpstr>
      <vt:lpstr>Assumptions</vt:lpstr>
      <vt:lpstr>PowerPoint Presentation</vt:lpstr>
      <vt:lpstr>Initial Conditions</vt:lpstr>
      <vt:lpstr>Model Diagram</vt:lpstr>
      <vt:lpstr>Methods</vt:lpstr>
      <vt:lpstr>Simulation Results</vt:lpstr>
      <vt:lpstr>Simulation Results</vt:lpstr>
      <vt:lpstr>Simulation Results</vt:lpstr>
      <vt:lpstr>Simulation Results</vt:lpstr>
      <vt:lpstr>Simulation Results</vt:lpstr>
      <vt:lpstr>Simulation Results</vt:lpstr>
      <vt:lpstr>Simulation Results</vt:lpstr>
      <vt:lpstr>Conclusions and Future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revision>142</cp:revision>
  <dcterms:created xsi:type="dcterms:W3CDTF">2026-09-12T13:06:47Z</dcterms:created>
  <dcterms:modified xsi:type="dcterms:W3CDTF">2026-09-23T19:40:41Z</dcterms:modified>
  <dc:language>en-US</dc:language>
</cp:coreProperties>
</file>