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73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72" r:id="rId10"/>
    <p:sldId id="264" r:id="rId11"/>
    <p:sldId id="266" r:id="rId12"/>
    <p:sldId id="267" r:id="rId13"/>
    <p:sldId id="268" r:id="rId14"/>
    <p:sldId id="269" r:id="rId15"/>
    <p:sldId id="270" r:id="rId16"/>
    <p:sldId id="271" r:id="rId17"/>
  </p:sldIdLst>
  <p:sldSz cx="10080625" cy="5670550"/>
  <p:notesSz cx="7772400" cy="10058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45"/>
    <p:restoredTop sz="94635"/>
  </p:normalViewPr>
  <p:slideViewPr>
    <p:cSldViewPr snapToGrid="0">
      <p:cViewPr varScale="1">
        <p:scale>
          <a:sx n="133" d="100"/>
          <a:sy n="133" d="100"/>
        </p:scale>
        <p:origin x="58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54753A6-9F0E-46B9-AC38-FA6420150EDA}" type="doc">
      <dgm:prSet loTypeId="urn:microsoft.com/office/officeart/2005/8/layout/process4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D43CB1EC-2789-4A4C-8C66-73DCA98F20C6}">
      <dgm:prSet/>
      <dgm:spPr/>
      <dgm:t>
        <a:bodyPr/>
        <a:lstStyle/>
        <a:p>
          <a:r>
            <a:rPr lang="en-US" b="0"/>
            <a:t>At each 1-year time step, use the appropriate mortality rate to determine how many X-year-old condors from the last year survived</a:t>
          </a:r>
          <a:endParaRPr lang="en-US"/>
        </a:p>
      </dgm:t>
    </dgm:pt>
    <dgm:pt modelId="{787A74CA-8BC7-4800-9E3C-346B59B616C4}" type="parTrans" cxnId="{3F003EA4-2F19-48F3-870C-3081DC836B28}">
      <dgm:prSet/>
      <dgm:spPr/>
      <dgm:t>
        <a:bodyPr/>
        <a:lstStyle/>
        <a:p>
          <a:endParaRPr lang="en-US"/>
        </a:p>
      </dgm:t>
    </dgm:pt>
    <dgm:pt modelId="{67C02529-8115-4B15-AE02-6A6AC3BBA6BD}" type="sibTrans" cxnId="{3F003EA4-2F19-48F3-870C-3081DC836B28}">
      <dgm:prSet/>
      <dgm:spPr/>
      <dgm:t>
        <a:bodyPr/>
        <a:lstStyle/>
        <a:p>
          <a:endParaRPr lang="en-US"/>
        </a:p>
      </dgm:t>
    </dgm:pt>
    <dgm:pt modelId="{C0089539-F78D-4937-8162-904A3C19B69A}">
      <dgm:prSet/>
      <dgm:spPr/>
      <dgm:t>
        <a:bodyPr/>
        <a:lstStyle/>
        <a:p>
          <a:r>
            <a:rPr lang="en-US" b="0"/>
            <a:t>That number becomes the population for the current year’s X+1 age group</a:t>
          </a:r>
          <a:endParaRPr lang="en-US"/>
        </a:p>
      </dgm:t>
    </dgm:pt>
    <dgm:pt modelId="{561AB489-F8F4-4AD3-8930-EFD11324207C}" type="parTrans" cxnId="{1E37A8E4-97EB-4063-A401-71F5215E44C5}">
      <dgm:prSet/>
      <dgm:spPr/>
      <dgm:t>
        <a:bodyPr/>
        <a:lstStyle/>
        <a:p>
          <a:endParaRPr lang="en-US"/>
        </a:p>
      </dgm:t>
    </dgm:pt>
    <dgm:pt modelId="{0DD17E10-9BB3-4DF1-8EAE-1E027F60124E}" type="sibTrans" cxnId="{1E37A8E4-97EB-4063-A401-71F5215E44C5}">
      <dgm:prSet/>
      <dgm:spPr/>
      <dgm:t>
        <a:bodyPr/>
        <a:lstStyle/>
        <a:p>
          <a:endParaRPr lang="en-US"/>
        </a:p>
      </dgm:t>
    </dgm:pt>
    <dgm:pt modelId="{40BA1092-02A5-4A6B-98E7-43AA116F3609}">
      <dgm:prSet/>
      <dgm:spPr/>
      <dgm:t>
        <a:bodyPr/>
        <a:lstStyle/>
        <a:p>
          <a:r>
            <a:rPr lang="en-US"/>
            <a:t>Then, subtract 80% of our 1 y/o captive condors from the captive population and add them to our wild population’s corresponding age stock.</a:t>
          </a:r>
        </a:p>
      </dgm:t>
    </dgm:pt>
    <dgm:pt modelId="{FD55DDD1-83DA-4E46-8F9A-14C378528A32}" type="parTrans" cxnId="{0B342E70-C980-423C-8161-7C68DAF815F2}">
      <dgm:prSet/>
      <dgm:spPr/>
      <dgm:t>
        <a:bodyPr/>
        <a:lstStyle/>
        <a:p>
          <a:endParaRPr lang="en-US"/>
        </a:p>
      </dgm:t>
    </dgm:pt>
    <dgm:pt modelId="{20231875-3D44-4A21-B564-205E0E139E01}" type="sibTrans" cxnId="{0B342E70-C980-423C-8161-7C68DAF815F2}">
      <dgm:prSet/>
      <dgm:spPr/>
      <dgm:t>
        <a:bodyPr/>
        <a:lstStyle/>
        <a:p>
          <a:endParaRPr lang="en-US"/>
        </a:p>
      </dgm:t>
    </dgm:pt>
    <dgm:pt modelId="{35DA436C-6C7C-4D17-BF84-8BD2AD752E98}">
      <dgm:prSet/>
      <dgm:spPr/>
      <dgm:t>
        <a:bodyPr/>
        <a:lstStyle/>
        <a:p>
          <a:r>
            <a:rPr lang="en-US"/>
            <a:t>Use half the adult population (the female population) and the wild and captive productivity rates, respectively, to determine this year’s hatchling populating</a:t>
          </a:r>
        </a:p>
      </dgm:t>
    </dgm:pt>
    <dgm:pt modelId="{5CC522DB-E9CA-4E9B-B650-F66172F79AF3}" type="parTrans" cxnId="{F22EFE00-A327-4F8A-929C-E854E89746DD}">
      <dgm:prSet/>
      <dgm:spPr/>
      <dgm:t>
        <a:bodyPr/>
        <a:lstStyle/>
        <a:p>
          <a:endParaRPr lang="en-US"/>
        </a:p>
      </dgm:t>
    </dgm:pt>
    <dgm:pt modelId="{1A8FBB12-3F32-474A-ADDA-C5A47A87E2EC}" type="sibTrans" cxnId="{F22EFE00-A327-4F8A-929C-E854E89746DD}">
      <dgm:prSet/>
      <dgm:spPr/>
      <dgm:t>
        <a:bodyPr/>
        <a:lstStyle/>
        <a:p>
          <a:endParaRPr lang="en-US"/>
        </a:p>
      </dgm:t>
    </dgm:pt>
    <dgm:pt modelId="{3EC2E495-1BB6-3C49-BEB5-15381AB67471}" type="pres">
      <dgm:prSet presAssocID="{D54753A6-9F0E-46B9-AC38-FA6420150EDA}" presName="Name0" presStyleCnt="0">
        <dgm:presLayoutVars>
          <dgm:dir/>
          <dgm:animLvl val="lvl"/>
          <dgm:resizeHandles val="exact"/>
        </dgm:presLayoutVars>
      </dgm:prSet>
      <dgm:spPr/>
    </dgm:pt>
    <dgm:pt modelId="{9533D6BA-D6AE-1A4E-8E66-2F4DE6765BBA}" type="pres">
      <dgm:prSet presAssocID="{35DA436C-6C7C-4D17-BF84-8BD2AD752E98}" presName="boxAndChildren" presStyleCnt="0"/>
      <dgm:spPr/>
    </dgm:pt>
    <dgm:pt modelId="{43B15256-B591-4F4C-A3ED-147186A1FEDE}" type="pres">
      <dgm:prSet presAssocID="{35DA436C-6C7C-4D17-BF84-8BD2AD752E98}" presName="parentTextBox" presStyleLbl="node1" presStyleIdx="0" presStyleCnt="4"/>
      <dgm:spPr/>
    </dgm:pt>
    <dgm:pt modelId="{249372B9-E9AD-6B45-A709-3DED2F9C9703}" type="pres">
      <dgm:prSet presAssocID="{20231875-3D44-4A21-B564-205E0E139E01}" presName="sp" presStyleCnt="0"/>
      <dgm:spPr/>
    </dgm:pt>
    <dgm:pt modelId="{ED717D7A-04D5-404E-997D-447DAD807094}" type="pres">
      <dgm:prSet presAssocID="{40BA1092-02A5-4A6B-98E7-43AA116F3609}" presName="arrowAndChildren" presStyleCnt="0"/>
      <dgm:spPr/>
    </dgm:pt>
    <dgm:pt modelId="{C855899C-3359-BC42-B702-7B19BFD7775F}" type="pres">
      <dgm:prSet presAssocID="{40BA1092-02A5-4A6B-98E7-43AA116F3609}" presName="parentTextArrow" presStyleLbl="node1" presStyleIdx="1" presStyleCnt="4"/>
      <dgm:spPr/>
    </dgm:pt>
    <dgm:pt modelId="{27D8B6CE-2BE0-7C4E-BF72-3C02BC957C82}" type="pres">
      <dgm:prSet presAssocID="{0DD17E10-9BB3-4DF1-8EAE-1E027F60124E}" presName="sp" presStyleCnt="0"/>
      <dgm:spPr/>
    </dgm:pt>
    <dgm:pt modelId="{40E9725D-CB50-A04B-BF11-FA2848D78B88}" type="pres">
      <dgm:prSet presAssocID="{C0089539-F78D-4937-8162-904A3C19B69A}" presName="arrowAndChildren" presStyleCnt="0"/>
      <dgm:spPr/>
    </dgm:pt>
    <dgm:pt modelId="{C2FDEF33-5707-A54B-8838-F2A93974E259}" type="pres">
      <dgm:prSet presAssocID="{C0089539-F78D-4937-8162-904A3C19B69A}" presName="parentTextArrow" presStyleLbl="node1" presStyleIdx="2" presStyleCnt="4"/>
      <dgm:spPr/>
    </dgm:pt>
    <dgm:pt modelId="{630406B5-6183-FB4B-862E-4F1B1C45FA7F}" type="pres">
      <dgm:prSet presAssocID="{67C02529-8115-4B15-AE02-6A6AC3BBA6BD}" presName="sp" presStyleCnt="0"/>
      <dgm:spPr/>
    </dgm:pt>
    <dgm:pt modelId="{58DA30C0-16B9-4B48-8967-93FFD3787F53}" type="pres">
      <dgm:prSet presAssocID="{D43CB1EC-2789-4A4C-8C66-73DCA98F20C6}" presName="arrowAndChildren" presStyleCnt="0"/>
      <dgm:spPr/>
    </dgm:pt>
    <dgm:pt modelId="{14F70437-8E80-CB41-85FC-BB60B7BDF93F}" type="pres">
      <dgm:prSet presAssocID="{D43CB1EC-2789-4A4C-8C66-73DCA98F20C6}" presName="parentTextArrow" presStyleLbl="node1" presStyleIdx="3" presStyleCnt="4"/>
      <dgm:spPr/>
    </dgm:pt>
  </dgm:ptLst>
  <dgm:cxnLst>
    <dgm:cxn modelId="{F22EFE00-A327-4F8A-929C-E854E89746DD}" srcId="{D54753A6-9F0E-46B9-AC38-FA6420150EDA}" destId="{35DA436C-6C7C-4D17-BF84-8BD2AD752E98}" srcOrd="3" destOrd="0" parTransId="{5CC522DB-E9CA-4E9B-B650-F66172F79AF3}" sibTransId="{1A8FBB12-3F32-474A-ADDA-C5A47A87E2EC}"/>
    <dgm:cxn modelId="{CE75344C-2D33-6B42-B4C0-2E37CBFCB2E2}" type="presOf" srcId="{40BA1092-02A5-4A6B-98E7-43AA116F3609}" destId="{C855899C-3359-BC42-B702-7B19BFD7775F}" srcOrd="0" destOrd="0" presId="urn:microsoft.com/office/officeart/2005/8/layout/process4"/>
    <dgm:cxn modelId="{7A599460-FF69-D740-81D8-955C392B2A36}" type="presOf" srcId="{C0089539-F78D-4937-8162-904A3C19B69A}" destId="{C2FDEF33-5707-A54B-8838-F2A93974E259}" srcOrd="0" destOrd="0" presId="urn:microsoft.com/office/officeart/2005/8/layout/process4"/>
    <dgm:cxn modelId="{0B342E70-C980-423C-8161-7C68DAF815F2}" srcId="{D54753A6-9F0E-46B9-AC38-FA6420150EDA}" destId="{40BA1092-02A5-4A6B-98E7-43AA116F3609}" srcOrd="2" destOrd="0" parTransId="{FD55DDD1-83DA-4E46-8F9A-14C378528A32}" sibTransId="{20231875-3D44-4A21-B564-205E0E139E01}"/>
    <dgm:cxn modelId="{3F003EA4-2F19-48F3-870C-3081DC836B28}" srcId="{D54753A6-9F0E-46B9-AC38-FA6420150EDA}" destId="{D43CB1EC-2789-4A4C-8C66-73DCA98F20C6}" srcOrd="0" destOrd="0" parTransId="{787A74CA-8BC7-4800-9E3C-346B59B616C4}" sibTransId="{67C02529-8115-4B15-AE02-6A6AC3BBA6BD}"/>
    <dgm:cxn modelId="{DB3D63D5-739E-1C40-8E5B-FE4AA08BE413}" type="presOf" srcId="{D54753A6-9F0E-46B9-AC38-FA6420150EDA}" destId="{3EC2E495-1BB6-3C49-BEB5-15381AB67471}" srcOrd="0" destOrd="0" presId="urn:microsoft.com/office/officeart/2005/8/layout/process4"/>
    <dgm:cxn modelId="{6A5975D9-870F-EB47-B352-7313B427868E}" type="presOf" srcId="{D43CB1EC-2789-4A4C-8C66-73DCA98F20C6}" destId="{14F70437-8E80-CB41-85FC-BB60B7BDF93F}" srcOrd="0" destOrd="0" presId="urn:microsoft.com/office/officeart/2005/8/layout/process4"/>
    <dgm:cxn modelId="{684180DD-5C1E-5B40-A4B0-51F7088AD1C7}" type="presOf" srcId="{35DA436C-6C7C-4D17-BF84-8BD2AD752E98}" destId="{43B15256-B591-4F4C-A3ED-147186A1FEDE}" srcOrd="0" destOrd="0" presId="urn:microsoft.com/office/officeart/2005/8/layout/process4"/>
    <dgm:cxn modelId="{1E37A8E4-97EB-4063-A401-71F5215E44C5}" srcId="{D54753A6-9F0E-46B9-AC38-FA6420150EDA}" destId="{C0089539-F78D-4937-8162-904A3C19B69A}" srcOrd="1" destOrd="0" parTransId="{561AB489-F8F4-4AD3-8930-EFD11324207C}" sibTransId="{0DD17E10-9BB3-4DF1-8EAE-1E027F60124E}"/>
    <dgm:cxn modelId="{AD8F5521-16B2-7A45-AD55-8984184F071F}" type="presParOf" srcId="{3EC2E495-1BB6-3C49-BEB5-15381AB67471}" destId="{9533D6BA-D6AE-1A4E-8E66-2F4DE6765BBA}" srcOrd="0" destOrd="0" presId="urn:microsoft.com/office/officeart/2005/8/layout/process4"/>
    <dgm:cxn modelId="{B5E2E037-7AF7-2B40-B4CB-0070F6DBB012}" type="presParOf" srcId="{9533D6BA-D6AE-1A4E-8E66-2F4DE6765BBA}" destId="{43B15256-B591-4F4C-A3ED-147186A1FEDE}" srcOrd="0" destOrd="0" presId="urn:microsoft.com/office/officeart/2005/8/layout/process4"/>
    <dgm:cxn modelId="{71191EA5-9985-0246-B348-64879EFAFBD2}" type="presParOf" srcId="{3EC2E495-1BB6-3C49-BEB5-15381AB67471}" destId="{249372B9-E9AD-6B45-A709-3DED2F9C9703}" srcOrd="1" destOrd="0" presId="urn:microsoft.com/office/officeart/2005/8/layout/process4"/>
    <dgm:cxn modelId="{7ED73BD7-525B-7244-930E-1402422BC914}" type="presParOf" srcId="{3EC2E495-1BB6-3C49-BEB5-15381AB67471}" destId="{ED717D7A-04D5-404E-997D-447DAD807094}" srcOrd="2" destOrd="0" presId="urn:microsoft.com/office/officeart/2005/8/layout/process4"/>
    <dgm:cxn modelId="{61B1D40E-F8CF-F747-9D29-3FEF1F7DBD2B}" type="presParOf" srcId="{ED717D7A-04D5-404E-997D-447DAD807094}" destId="{C855899C-3359-BC42-B702-7B19BFD7775F}" srcOrd="0" destOrd="0" presId="urn:microsoft.com/office/officeart/2005/8/layout/process4"/>
    <dgm:cxn modelId="{96A80757-BE63-2A43-9228-08E9D82EF3E1}" type="presParOf" srcId="{3EC2E495-1BB6-3C49-BEB5-15381AB67471}" destId="{27D8B6CE-2BE0-7C4E-BF72-3C02BC957C82}" srcOrd="3" destOrd="0" presId="urn:microsoft.com/office/officeart/2005/8/layout/process4"/>
    <dgm:cxn modelId="{2798F7B7-8267-694C-99F0-B06C666772DA}" type="presParOf" srcId="{3EC2E495-1BB6-3C49-BEB5-15381AB67471}" destId="{40E9725D-CB50-A04B-BF11-FA2848D78B88}" srcOrd="4" destOrd="0" presId="urn:microsoft.com/office/officeart/2005/8/layout/process4"/>
    <dgm:cxn modelId="{4661052B-2E16-5F45-AAD0-AEAD547A5F03}" type="presParOf" srcId="{40E9725D-CB50-A04B-BF11-FA2848D78B88}" destId="{C2FDEF33-5707-A54B-8838-F2A93974E259}" srcOrd="0" destOrd="0" presId="urn:microsoft.com/office/officeart/2005/8/layout/process4"/>
    <dgm:cxn modelId="{49CF437D-B10A-464F-AB9F-AB73153B1D4E}" type="presParOf" srcId="{3EC2E495-1BB6-3C49-BEB5-15381AB67471}" destId="{630406B5-6183-FB4B-862E-4F1B1C45FA7F}" srcOrd="5" destOrd="0" presId="urn:microsoft.com/office/officeart/2005/8/layout/process4"/>
    <dgm:cxn modelId="{B3547DE7-EEC2-E640-B1B3-CCF4F3B833D9}" type="presParOf" srcId="{3EC2E495-1BB6-3C49-BEB5-15381AB67471}" destId="{58DA30C0-16B9-4B48-8967-93FFD3787F53}" srcOrd="6" destOrd="0" presId="urn:microsoft.com/office/officeart/2005/8/layout/process4"/>
    <dgm:cxn modelId="{6F058EFE-92AD-E948-88DA-2B327BD11D37}" type="presParOf" srcId="{58DA30C0-16B9-4B48-8967-93FFD3787F53}" destId="{14F70437-8E80-CB41-85FC-BB60B7BDF93F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3B15256-B591-4F4C-A3ED-147186A1FEDE}">
      <dsp:nvSpPr>
        <dsp:cNvPr id="0" name=""/>
        <dsp:cNvSpPr/>
      </dsp:nvSpPr>
      <dsp:spPr>
        <a:xfrm>
          <a:off x="0" y="3782152"/>
          <a:ext cx="5288759" cy="82744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6350" cap="flat" cmpd="sng" algn="ctr"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Use half the adult population (the female population) and the wild and captive productivity rates, respectively, to determine this year’s hatchling populating</a:t>
          </a:r>
        </a:p>
      </dsp:txBody>
      <dsp:txXfrm>
        <a:off x="0" y="3782152"/>
        <a:ext cx="5288759" cy="827442"/>
      </dsp:txXfrm>
    </dsp:sp>
    <dsp:sp modelId="{C855899C-3359-BC42-B702-7B19BFD7775F}">
      <dsp:nvSpPr>
        <dsp:cNvPr id="0" name=""/>
        <dsp:cNvSpPr/>
      </dsp:nvSpPr>
      <dsp:spPr>
        <a:xfrm rot="10800000">
          <a:off x="0" y="2521957"/>
          <a:ext cx="5288759" cy="1272606"/>
        </a:xfrm>
        <a:prstGeom prst="upArrowCallou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6350" cap="flat" cmpd="sng" algn="ctr"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Then, subtract 80% of our 1 y/o captive condors from the captive population and add them to our wild population’s corresponding age stock.</a:t>
          </a:r>
        </a:p>
      </dsp:txBody>
      <dsp:txXfrm rot="10800000">
        <a:off x="0" y="2521957"/>
        <a:ext cx="5288759" cy="826901"/>
      </dsp:txXfrm>
    </dsp:sp>
    <dsp:sp modelId="{C2FDEF33-5707-A54B-8838-F2A93974E259}">
      <dsp:nvSpPr>
        <dsp:cNvPr id="0" name=""/>
        <dsp:cNvSpPr/>
      </dsp:nvSpPr>
      <dsp:spPr>
        <a:xfrm rot="10800000">
          <a:off x="0" y="1261762"/>
          <a:ext cx="5288759" cy="1272606"/>
        </a:xfrm>
        <a:prstGeom prst="upArrowCallou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6350" cap="flat" cmpd="sng" algn="ctr"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kern="1200"/>
            <a:t>That number becomes the population for the current year’s X+1 age group</a:t>
          </a:r>
          <a:endParaRPr lang="en-US" sz="1500" kern="1200"/>
        </a:p>
      </dsp:txBody>
      <dsp:txXfrm rot="10800000">
        <a:off x="0" y="1261762"/>
        <a:ext cx="5288759" cy="826901"/>
      </dsp:txXfrm>
    </dsp:sp>
    <dsp:sp modelId="{14F70437-8E80-CB41-85FC-BB60B7BDF93F}">
      <dsp:nvSpPr>
        <dsp:cNvPr id="0" name=""/>
        <dsp:cNvSpPr/>
      </dsp:nvSpPr>
      <dsp:spPr>
        <a:xfrm rot="10800000">
          <a:off x="0" y="1567"/>
          <a:ext cx="5288759" cy="1272606"/>
        </a:xfrm>
        <a:prstGeom prst="upArrowCallou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6350" cap="flat" cmpd="sng" algn="ctr"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kern="1200"/>
            <a:t>At each 1-year time step, use the appropriate mortality rate to determine how many X-year-old condors from the last year survived</a:t>
          </a:r>
          <a:endParaRPr lang="en-US" sz="1500" kern="1200"/>
        </a:p>
      </dsp:txBody>
      <dsp:txXfrm rot="10800000">
        <a:off x="0" y="1567"/>
        <a:ext cx="5288759" cy="82690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4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5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E80AEFAB-4B32-41FA-AB2B-3E964E039B77}" type="slidenum">
              <a:t>‹#›</a:t>
            </a:fld>
            <a:endParaRPr/>
          </a:p>
        </p:txBody>
      </p:sp>
      <p:sp>
        <p:nvSpPr>
          <p:cNvPr id="4" name="PlaceHolder 6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EAE98C01-BBBE-4493-B40C-90D53A675D9C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8E027E64-33DA-4E69-83C3-A4B2CA248E61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66B332A4-D438-4773-A77F-5ED49A448D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15420" y="0"/>
            <a:ext cx="6849784" cy="5670550"/>
          </a:xfrm>
          <a:custGeom>
            <a:avLst/>
            <a:gdLst>
              <a:gd name="connsiteX0" fmla="*/ 1818109 w 8284464"/>
              <a:gd name="connsiteY0" fmla="*/ 0 h 6858000"/>
              <a:gd name="connsiteX1" fmla="*/ 6466355 w 8284464"/>
              <a:gd name="connsiteY1" fmla="*/ 0 h 6858000"/>
              <a:gd name="connsiteX2" fmla="*/ 6620596 w 8284464"/>
              <a:gd name="connsiteY2" fmla="*/ 109683 h 6858000"/>
              <a:gd name="connsiteX3" fmla="*/ 8284464 w 8284464"/>
              <a:gd name="connsiteY3" fmla="*/ 3429000 h 6858000"/>
              <a:gd name="connsiteX4" fmla="*/ 6620596 w 8284464"/>
              <a:gd name="connsiteY4" fmla="*/ 6748318 h 6858000"/>
              <a:gd name="connsiteX5" fmla="*/ 6466355 w 8284464"/>
              <a:gd name="connsiteY5" fmla="*/ 6858000 h 6858000"/>
              <a:gd name="connsiteX6" fmla="*/ 1818109 w 8284464"/>
              <a:gd name="connsiteY6" fmla="*/ 6858000 h 6858000"/>
              <a:gd name="connsiteX7" fmla="*/ 1663869 w 8284464"/>
              <a:gd name="connsiteY7" fmla="*/ 6748318 h 6858000"/>
              <a:gd name="connsiteX8" fmla="*/ 0 w 8284464"/>
              <a:gd name="connsiteY8" fmla="*/ 3429000 h 6858000"/>
              <a:gd name="connsiteX9" fmla="*/ 1663869 w 8284464"/>
              <a:gd name="connsiteY9" fmla="*/ 10968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284464" h="6858000">
                <a:moveTo>
                  <a:pt x="1818109" y="0"/>
                </a:moveTo>
                <a:lnTo>
                  <a:pt x="6466355" y="0"/>
                </a:lnTo>
                <a:lnTo>
                  <a:pt x="6620596" y="109683"/>
                </a:lnTo>
                <a:cubicBezTo>
                  <a:pt x="7630666" y="865069"/>
                  <a:pt x="8284464" y="2070683"/>
                  <a:pt x="8284464" y="3429000"/>
                </a:cubicBezTo>
                <a:cubicBezTo>
                  <a:pt x="8284464" y="4787317"/>
                  <a:pt x="7630666" y="5992931"/>
                  <a:pt x="6620596" y="6748318"/>
                </a:cubicBezTo>
                <a:lnTo>
                  <a:pt x="6466355" y="6858000"/>
                </a:lnTo>
                <a:lnTo>
                  <a:pt x="1818109" y="6858000"/>
                </a:lnTo>
                <a:lnTo>
                  <a:pt x="1663869" y="6748318"/>
                </a:lnTo>
                <a:cubicBezTo>
                  <a:pt x="653798" y="5992931"/>
                  <a:pt x="0" y="4787317"/>
                  <a:pt x="0" y="3429000"/>
                </a:cubicBezTo>
                <a:cubicBezTo>
                  <a:pt x="0" y="2070683"/>
                  <a:pt x="653798" y="865069"/>
                  <a:pt x="1663869" y="109683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DF9AD32D-FF05-44F4-BD4D-9CEE89B71E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51508" y="0"/>
            <a:ext cx="6577608" cy="5670550"/>
          </a:xfrm>
          <a:custGeom>
            <a:avLst/>
            <a:gdLst>
              <a:gd name="connsiteX0" fmla="*/ 1962423 w 7955280"/>
              <a:gd name="connsiteY0" fmla="*/ 0 h 6858000"/>
              <a:gd name="connsiteX1" fmla="*/ 5992858 w 7955280"/>
              <a:gd name="connsiteY1" fmla="*/ 0 h 6858000"/>
              <a:gd name="connsiteX2" fmla="*/ 6040191 w 7955280"/>
              <a:gd name="connsiteY2" fmla="*/ 27216 h 6858000"/>
              <a:gd name="connsiteX3" fmla="*/ 7955280 w 7955280"/>
              <a:gd name="connsiteY3" fmla="*/ 3429000 h 6858000"/>
              <a:gd name="connsiteX4" fmla="*/ 6040191 w 7955280"/>
              <a:gd name="connsiteY4" fmla="*/ 6830784 h 6858000"/>
              <a:gd name="connsiteX5" fmla="*/ 5992858 w 7955280"/>
              <a:gd name="connsiteY5" fmla="*/ 6858000 h 6858000"/>
              <a:gd name="connsiteX6" fmla="*/ 1962423 w 7955280"/>
              <a:gd name="connsiteY6" fmla="*/ 6858000 h 6858000"/>
              <a:gd name="connsiteX7" fmla="*/ 1915089 w 7955280"/>
              <a:gd name="connsiteY7" fmla="*/ 6830784 h 6858000"/>
              <a:gd name="connsiteX8" fmla="*/ 0 w 7955280"/>
              <a:gd name="connsiteY8" fmla="*/ 3429000 h 6858000"/>
              <a:gd name="connsiteX9" fmla="*/ 1915089 w 7955280"/>
              <a:gd name="connsiteY9" fmla="*/ 2721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955280" h="6858000">
                <a:moveTo>
                  <a:pt x="1962423" y="0"/>
                </a:moveTo>
                <a:lnTo>
                  <a:pt x="5992858" y="0"/>
                </a:lnTo>
                <a:lnTo>
                  <a:pt x="6040191" y="27216"/>
                </a:lnTo>
                <a:cubicBezTo>
                  <a:pt x="7188332" y="724844"/>
                  <a:pt x="7955280" y="1987357"/>
                  <a:pt x="7955280" y="3429000"/>
                </a:cubicBezTo>
                <a:cubicBezTo>
                  <a:pt x="7955280" y="4870644"/>
                  <a:pt x="7188332" y="6133157"/>
                  <a:pt x="6040191" y="6830784"/>
                </a:cubicBezTo>
                <a:lnTo>
                  <a:pt x="5992858" y="6858000"/>
                </a:lnTo>
                <a:lnTo>
                  <a:pt x="1962423" y="6858000"/>
                </a:lnTo>
                <a:lnTo>
                  <a:pt x="1915089" y="6830784"/>
                </a:lnTo>
                <a:cubicBezTo>
                  <a:pt x="766948" y="6133157"/>
                  <a:pt x="0" y="4870644"/>
                  <a:pt x="0" y="3429000"/>
                </a:cubicBezTo>
                <a:cubicBezTo>
                  <a:pt x="0" y="1987357"/>
                  <a:pt x="766948" y="724844"/>
                  <a:pt x="1915089" y="27216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FD8159-5BC8-B0C1-D21A-26900C30C5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13054" y="1192269"/>
            <a:ext cx="5854516" cy="328601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  <a:latin typeface="Aptos" panose="020B0004020202020204" pitchFamily="34" charset="0"/>
                <a:cs typeface="AL BAYAN PLAIN" pitchFamily="2" charset="-78"/>
              </a:rPr>
              <a:t>Condor Populations</a:t>
            </a:r>
          </a:p>
        </p:txBody>
      </p:sp>
    </p:spTree>
    <p:extLst>
      <p:ext uri="{BB962C8B-B14F-4D97-AF65-F5344CB8AC3E}">
        <p14:creationId xmlns:p14="http://schemas.microsoft.com/office/powerpoint/2010/main" val="38934682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6EA86598-DA2C-41D5-BC0C-E877F8818E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" y="0"/>
            <a:ext cx="5040304" cy="567055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955441" y="527335"/>
            <a:ext cx="3564183" cy="134551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0"/>
            <a:r>
              <a:rPr lang="en-US" sz="3900" b="0" u="none" strike="noStrike" kern="1200" dirty="0">
                <a:solidFill>
                  <a:schemeClr val="bg1"/>
                </a:solidFill>
                <a:effectLst/>
                <a:uFillTx/>
                <a:latin typeface="Aptos" panose="020B0004020202020204" pitchFamily="34" charset="0"/>
              </a:rPr>
              <a:t>The California Condor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5440" y="1961421"/>
            <a:ext cx="378023" cy="378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1" name="PlaceHolder 2"/>
          <p:cNvSpPr>
            <a:spLocks noGrp="1"/>
          </p:cNvSpPr>
          <p:nvPr>
            <p:ph/>
          </p:nvPr>
        </p:nvSpPr>
        <p:spPr>
          <a:xfrm>
            <a:off x="955440" y="2134158"/>
            <a:ext cx="3542453" cy="3004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432000" indent="-228600">
              <a:spcBef>
                <a:spcPts val="1417"/>
              </a:spcBef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600" b="0" u="none" strike="noStrike">
                <a:solidFill>
                  <a:schemeClr val="bg1"/>
                </a:solidFill>
                <a:effectLst/>
                <a:uFillTx/>
                <a:latin typeface="+mn-lt"/>
                <a:ea typeface="+mn-ea"/>
                <a:cs typeface="+mn-cs"/>
              </a:rPr>
              <a:t>Largest North American Vulture</a:t>
            </a:r>
          </a:p>
          <a:p>
            <a:pPr marL="432000" indent="-228600">
              <a:spcBef>
                <a:spcPts val="1417"/>
              </a:spcBef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600" b="0" u="none" strike="noStrike">
                <a:solidFill>
                  <a:schemeClr val="bg1"/>
                </a:solidFill>
                <a:effectLst/>
                <a:uFillTx/>
                <a:latin typeface="+mn-lt"/>
                <a:ea typeface="+mn-ea"/>
                <a:cs typeface="+mn-cs"/>
              </a:rPr>
              <a:t>~9.9ft wingspan</a:t>
            </a:r>
          </a:p>
          <a:p>
            <a:pPr marL="432000" indent="-228600">
              <a:spcBef>
                <a:spcPts val="1417"/>
              </a:spcBef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600" b="0" u="none" strike="noStrike">
                <a:solidFill>
                  <a:schemeClr val="bg1"/>
                </a:solidFill>
                <a:effectLst/>
                <a:uFillTx/>
                <a:latin typeface="+mn-lt"/>
                <a:ea typeface="+mn-ea"/>
                <a:cs typeface="+mn-cs"/>
              </a:rPr>
              <a:t>Soars at ~15,000 ft</a:t>
            </a:r>
          </a:p>
          <a:p>
            <a:pPr marL="432000" indent="-228600">
              <a:spcBef>
                <a:spcPts val="1417"/>
              </a:spcBef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600" b="0" u="none" strike="noStrike">
                <a:solidFill>
                  <a:schemeClr val="bg1"/>
                </a:solidFill>
                <a:effectLst/>
                <a:uFillTx/>
                <a:latin typeface="+mn-lt"/>
                <a:ea typeface="+mn-ea"/>
                <a:cs typeface="+mn-cs"/>
              </a:rPr>
              <a:t>Native to western California</a:t>
            </a:r>
          </a:p>
          <a:p>
            <a:pPr marL="432000" indent="-228600">
              <a:spcBef>
                <a:spcPts val="1417"/>
              </a:spcBef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600" b="0" u="none" strike="noStrike">
                <a:solidFill>
                  <a:schemeClr val="bg1"/>
                </a:solidFill>
                <a:effectLst/>
                <a:uFillTx/>
                <a:latin typeface="+mn-lt"/>
                <a:ea typeface="+mn-ea"/>
                <a:cs typeface="+mn-cs"/>
              </a:rPr>
              <a:t>Wild population in 1987: 22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7F16C5A-0D41-47A9-B0A2-9C2AD7A8CF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40312" y="0"/>
            <a:ext cx="5040304" cy="56705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/>
          <p:cNvPicPr/>
          <p:nvPr/>
        </p:nvPicPr>
        <p:blipFill>
          <a:blip r:embed="rId2"/>
          <a:stretch/>
        </p:blipFill>
        <p:spPr>
          <a:xfrm>
            <a:off x="5813472" y="527334"/>
            <a:ext cx="3077951" cy="4611163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C3896A03-3945-419A-B66B-4EE266EDD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" y="0"/>
            <a:ext cx="5040304" cy="567055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34F5AD2-EDBD-4BBD-A55C-EAFFD0C7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40312" y="0"/>
            <a:ext cx="5040304" cy="56705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5568362" y="527335"/>
            <a:ext cx="3564184" cy="134551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0"/>
            <a:r>
              <a:rPr lang="en-US" sz="3100" b="0" u="none" strike="noStrike" dirty="0">
                <a:effectLst/>
                <a:uFillTx/>
                <a:latin typeface="Aptos" panose="020B0004020202020204" pitchFamily="34" charset="0"/>
              </a:rPr>
              <a:t>Condor Conservation Effort</a:t>
            </a:r>
          </a:p>
        </p:txBody>
      </p:sp>
      <p:pic>
        <p:nvPicPr>
          <p:cNvPr id="15" name="Picture 14"/>
          <p:cNvPicPr/>
          <p:nvPr/>
        </p:nvPicPr>
        <p:blipFill>
          <a:blip r:embed="rId2"/>
          <a:srcRect t="555" r="-3" b="13531"/>
          <a:stretch>
            <a:fillRect/>
          </a:stretch>
        </p:blipFill>
        <p:spPr>
          <a:xfrm>
            <a:off x="955432" y="527334"/>
            <a:ext cx="3542447" cy="4611163"/>
          </a:xfrm>
          <a:prstGeom prst="rect">
            <a:avLst/>
          </a:prstGeom>
          <a:noFill/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68362" y="1942599"/>
            <a:ext cx="378024" cy="3780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PlaceHolder 2"/>
          <p:cNvSpPr>
            <a:spLocks noGrp="1"/>
          </p:cNvSpPr>
          <p:nvPr>
            <p:ph/>
          </p:nvPr>
        </p:nvSpPr>
        <p:spPr>
          <a:xfrm>
            <a:off x="5568362" y="2113415"/>
            <a:ext cx="3564184" cy="30250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432000" indent="-228600">
              <a:spcBef>
                <a:spcPts val="1417"/>
              </a:spcBef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400" b="0" u="none" strike="noStrike">
                <a:effectLst/>
                <a:uFillTx/>
                <a:latin typeface="+mn-lt"/>
                <a:ea typeface="+mn-ea"/>
                <a:cs typeface="+mn-cs"/>
              </a:rPr>
              <a:t>Starting in 1987, all 22 wild Condors were captured</a:t>
            </a:r>
          </a:p>
          <a:p>
            <a:pPr marL="432000" indent="-228600">
              <a:spcBef>
                <a:spcPts val="1417"/>
              </a:spcBef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400" b="0" u="none" strike="noStrike">
                <a:effectLst/>
                <a:uFillTx/>
                <a:latin typeface="+mn-lt"/>
                <a:ea typeface="+mn-ea"/>
                <a:cs typeface="+mn-cs"/>
              </a:rPr>
              <a:t>Condor pairs will only naturally produce 1 chick every ~3 years</a:t>
            </a:r>
          </a:p>
          <a:p>
            <a:pPr marL="432000" indent="-228600">
              <a:spcBef>
                <a:spcPts val="1417"/>
              </a:spcBef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400" b="0" u="none" strike="noStrike">
                <a:effectLst/>
                <a:uFillTx/>
                <a:latin typeface="+mn-lt"/>
                <a:ea typeface="+mn-ea"/>
                <a:cs typeface="+mn-cs"/>
              </a:rPr>
              <a:t>In captivity, ~ 1 chick per year</a:t>
            </a:r>
          </a:p>
          <a:p>
            <a:pPr marL="432000" indent="-228600">
              <a:spcBef>
                <a:spcPts val="1417"/>
              </a:spcBef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400" b="0" u="none" strike="noStrike">
                <a:effectLst/>
                <a:uFillTx/>
                <a:latin typeface="+mn-lt"/>
                <a:ea typeface="+mn-ea"/>
                <a:cs typeface="+mn-cs"/>
              </a:rPr>
              <a:t>“Double Clutching” effectively doubles this rate</a:t>
            </a:r>
          </a:p>
          <a:p>
            <a:pPr marL="432000" indent="-228600">
              <a:spcBef>
                <a:spcPts val="1417"/>
              </a:spcBef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400" b="0" u="none" strike="noStrike">
                <a:effectLst/>
                <a:uFillTx/>
                <a:latin typeface="+mn-lt"/>
                <a:ea typeface="+mn-ea"/>
                <a:cs typeface="+mn-cs"/>
              </a:rPr>
              <a:t>Juveniles are periodically released to the wild</a:t>
            </a:r>
          </a:p>
          <a:p>
            <a:pPr marL="432000" indent="-228600">
              <a:spcBef>
                <a:spcPts val="1417"/>
              </a:spcBef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400" b="0" u="none" strike="noStrike">
                <a:effectLst/>
                <a:uFillTx/>
                <a:latin typeface="+mn-lt"/>
                <a:ea typeface="+mn-ea"/>
                <a:cs typeface="+mn-cs"/>
              </a:rPr>
              <a:t>2022 wild population:  347</a:t>
            </a:r>
            <a:r>
              <a:rPr lang="en-US" sz="1400" b="0" u="none" strike="noStrike" baseline="33000">
                <a:effectLst/>
                <a:uFillTx/>
                <a:latin typeface="+mn-lt"/>
                <a:ea typeface="+mn-ea"/>
                <a:cs typeface="+mn-cs"/>
              </a:rPr>
              <a:t>1</a:t>
            </a:r>
            <a:endParaRPr lang="en-US" sz="1400" b="0" u="none" strike="noStrike">
              <a:effectLst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B34F5AD2-EDBD-4BBD-A55C-EAFFD0C7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92634" y="0"/>
            <a:ext cx="6987982" cy="56705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3896A03-3945-419A-B66B-4EE266EDD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" y="0"/>
            <a:ext cx="3096598" cy="567055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956511" y="527334"/>
            <a:ext cx="1811389" cy="461116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0"/>
            <a:r>
              <a:rPr lang="en-US" sz="3000" b="0" u="none" strike="noStrike" kern="1200" dirty="0">
                <a:solidFill>
                  <a:schemeClr val="bg1"/>
                </a:solidFill>
                <a:effectLst/>
                <a:uFillTx/>
                <a:latin typeface="Aptos" panose="020B0004020202020204" pitchFamily="34" charset="0"/>
              </a:rPr>
              <a:t>The Project: Mortality Rates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8EAE243-3A9F-4A46-B0D9-04C723A8A1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48639" y="532050"/>
            <a:ext cx="378024" cy="3780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PlaceHolder 2"/>
          <p:cNvSpPr>
            <a:spLocks noGrp="1"/>
          </p:cNvSpPr>
          <p:nvPr>
            <p:ph/>
          </p:nvPr>
        </p:nvSpPr>
        <p:spPr>
          <a:xfrm>
            <a:off x="3848639" y="702867"/>
            <a:ext cx="5283913" cy="44045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432000" indent="-228600">
              <a:spcBef>
                <a:spcPts val="1417"/>
              </a:spcBef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2000" b="0" u="none" strike="noStrike">
                <a:effectLst/>
                <a:uFillTx/>
                <a:latin typeface="+mn-lt"/>
                <a:ea typeface="+mn-ea"/>
                <a:cs typeface="+mn-cs"/>
              </a:rPr>
              <a:t>With a captive breeding program that periodically releases juveniles to the wild, how do mortality rates affect the overall population?</a:t>
            </a:r>
          </a:p>
          <a:p>
            <a:pPr marL="432000" indent="-228600">
              <a:spcBef>
                <a:spcPts val="1417"/>
              </a:spcBef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2000" b="0" u="none" strike="noStrike">
                <a:effectLst/>
                <a:uFillTx/>
                <a:latin typeface="+mn-lt"/>
                <a:ea typeface="+mn-ea"/>
                <a:cs typeface="+mn-cs"/>
              </a:rPr>
              <a:t>Which age group’s mortality rates have the greatest overall impact?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B34F5AD2-EDBD-4BBD-A55C-EAFFD0C7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92634" y="0"/>
            <a:ext cx="6987982" cy="56705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3896A03-3945-419A-B66B-4EE266EDD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" y="0"/>
            <a:ext cx="3096598" cy="567055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33137" y="527334"/>
            <a:ext cx="2334763" cy="461116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0"/>
            <a:r>
              <a:rPr lang="en-US" sz="2800" b="0" u="none" strike="noStrike" kern="1200" dirty="0">
                <a:solidFill>
                  <a:schemeClr val="bg1"/>
                </a:solidFill>
                <a:effectLst/>
                <a:uFillTx/>
                <a:latin typeface="Aptos" panose="020B0004020202020204" pitchFamily="34" charset="0"/>
              </a:rPr>
              <a:t>Assumptions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8EAE243-3A9F-4A46-B0D9-04C723A8A1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48639" y="532050"/>
            <a:ext cx="378024" cy="3780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3848639" y="702867"/>
            <a:ext cx="5283913" cy="44045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432000" indent="-228600">
              <a:spcBef>
                <a:spcPts val="1417"/>
              </a:spcBef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2000" b="0" u="none" strike="noStrike">
                <a:effectLst/>
                <a:uFillTx/>
                <a:latin typeface="+mn-lt"/>
                <a:ea typeface="+mn-ea"/>
                <a:cs typeface="+mn-cs"/>
              </a:rPr>
              <a:t>Reproductive maturity: </a:t>
            </a:r>
            <a:r>
              <a:rPr lang="en-US" sz="2000" b="0" u="sng" strike="noStrike">
                <a:effectLst/>
                <a:uFillTx/>
                <a:latin typeface="+mn-lt"/>
                <a:ea typeface="+mn-ea"/>
                <a:cs typeface="+mn-cs"/>
              </a:rPr>
              <a:t>7</a:t>
            </a:r>
            <a:r>
              <a:rPr lang="en-US" sz="2000" b="0" u="none" strike="noStrike">
                <a:effectLst/>
                <a:uFillTx/>
                <a:latin typeface="+mn-lt"/>
                <a:ea typeface="+mn-ea"/>
                <a:cs typeface="+mn-cs"/>
              </a:rPr>
              <a:t> (captive) or </a:t>
            </a:r>
            <a:r>
              <a:rPr lang="en-US" sz="2000" b="0" u="sng" strike="noStrike">
                <a:effectLst/>
                <a:uFillTx/>
                <a:latin typeface="+mn-lt"/>
                <a:ea typeface="+mn-ea"/>
                <a:cs typeface="+mn-cs"/>
              </a:rPr>
              <a:t>8</a:t>
            </a:r>
            <a:r>
              <a:rPr lang="en-US" sz="2000" b="0" u="none" strike="noStrike">
                <a:effectLst/>
                <a:uFillTx/>
                <a:latin typeface="+mn-lt"/>
                <a:ea typeface="+mn-ea"/>
                <a:cs typeface="+mn-cs"/>
              </a:rPr>
              <a:t> (wild) years</a:t>
            </a:r>
          </a:p>
          <a:p>
            <a:pPr marL="432000" indent="-228600">
              <a:spcBef>
                <a:spcPts val="1417"/>
              </a:spcBef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2000" b="0" u="none" strike="noStrike">
                <a:effectLst/>
                <a:uFillTx/>
                <a:latin typeface="+mn-lt"/>
                <a:ea typeface="+mn-ea"/>
                <a:cs typeface="+mn-cs"/>
              </a:rPr>
              <a:t>Captive productivity rate: </a:t>
            </a:r>
            <a:r>
              <a:rPr lang="en-US" sz="2000" b="0" u="sng" strike="noStrike">
                <a:effectLst/>
                <a:uFillTx/>
                <a:latin typeface="+mn-lt"/>
                <a:ea typeface="+mn-ea"/>
                <a:cs typeface="+mn-cs"/>
              </a:rPr>
              <a:t>0.9/yr</a:t>
            </a:r>
            <a:endParaRPr lang="en-US" sz="2000" b="0" u="none" strike="noStrike">
              <a:effectLst/>
              <a:uFillTx/>
              <a:latin typeface="+mn-lt"/>
              <a:ea typeface="+mn-ea"/>
              <a:cs typeface="+mn-cs"/>
            </a:endParaRPr>
          </a:p>
          <a:p>
            <a:pPr marL="432000" indent="-228600">
              <a:spcBef>
                <a:spcPts val="1417"/>
              </a:spcBef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2000" b="0" u="none" strike="noStrike">
                <a:effectLst/>
                <a:uFillTx/>
                <a:latin typeface="+mn-lt"/>
                <a:ea typeface="+mn-ea"/>
                <a:cs typeface="+mn-cs"/>
              </a:rPr>
              <a:t>Wild productivity rate: </a:t>
            </a:r>
            <a:r>
              <a:rPr lang="en-US" sz="2000" b="0" u="sng" strike="noStrike">
                <a:effectLst/>
                <a:uFillTx/>
                <a:latin typeface="+mn-lt"/>
                <a:ea typeface="+mn-ea"/>
                <a:cs typeface="+mn-cs"/>
              </a:rPr>
              <a:t>0.3729/yr</a:t>
            </a:r>
            <a:endParaRPr lang="en-US" sz="2000" b="0" u="none" strike="noStrike">
              <a:effectLst/>
              <a:uFillTx/>
              <a:latin typeface="+mn-lt"/>
              <a:ea typeface="+mn-ea"/>
              <a:cs typeface="+mn-cs"/>
            </a:endParaRPr>
          </a:p>
          <a:p>
            <a:pPr marL="432000" indent="-228600">
              <a:spcBef>
                <a:spcPts val="1417"/>
              </a:spcBef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2000" b="0" u="sng" strike="noStrike">
                <a:effectLst/>
                <a:uFillTx/>
                <a:latin typeface="+mn-lt"/>
                <a:ea typeface="+mn-ea"/>
                <a:cs typeface="+mn-cs"/>
              </a:rPr>
              <a:t>Equal</a:t>
            </a:r>
            <a:r>
              <a:rPr lang="en-US" sz="2000" b="0" u="none" strike="noStrike">
                <a:effectLst/>
                <a:uFillTx/>
                <a:latin typeface="+mn-lt"/>
                <a:ea typeface="+mn-ea"/>
                <a:cs typeface="+mn-cs"/>
              </a:rPr>
              <a:t> male/female population</a:t>
            </a:r>
          </a:p>
          <a:p>
            <a:pPr marL="432000" indent="-228600">
              <a:spcBef>
                <a:spcPts val="1417"/>
              </a:spcBef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2000" b="0" u="none" strike="noStrike">
                <a:effectLst/>
                <a:uFillTx/>
                <a:latin typeface="+mn-lt"/>
                <a:ea typeface="+mn-ea"/>
                <a:cs typeface="+mn-cs"/>
              </a:rPr>
              <a:t>Captive population capacity: </a:t>
            </a:r>
            <a:r>
              <a:rPr lang="en-US" sz="2000" b="0" u="sng" strike="noStrike">
                <a:effectLst/>
                <a:uFillTx/>
                <a:latin typeface="+mn-lt"/>
                <a:ea typeface="+mn-ea"/>
                <a:cs typeface="+mn-cs"/>
              </a:rPr>
              <a:t>150</a:t>
            </a:r>
            <a:endParaRPr lang="en-US" sz="2000" b="0" u="none" strike="noStrike">
              <a:effectLst/>
              <a:uFillTx/>
              <a:latin typeface="+mn-lt"/>
              <a:ea typeface="+mn-ea"/>
              <a:cs typeface="+mn-cs"/>
            </a:endParaRPr>
          </a:p>
          <a:p>
            <a:pPr marL="432000" indent="-228600">
              <a:spcBef>
                <a:spcPts val="1417"/>
              </a:spcBef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2000" b="0" u="none" strike="noStrike">
                <a:effectLst/>
                <a:uFillTx/>
                <a:latin typeface="+mn-lt"/>
                <a:ea typeface="+mn-ea"/>
                <a:cs typeface="+mn-cs"/>
              </a:rPr>
              <a:t>Wild population carrying capacity: </a:t>
            </a:r>
            <a:r>
              <a:rPr lang="en-US" sz="2000" b="0" u="sng" strike="noStrike">
                <a:effectLst/>
                <a:uFillTx/>
                <a:latin typeface="+mn-lt"/>
                <a:ea typeface="+mn-ea"/>
                <a:cs typeface="+mn-cs"/>
              </a:rPr>
              <a:t>400</a:t>
            </a:r>
            <a:endParaRPr lang="en-US" sz="2000" b="0" u="none" strike="noStrike">
              <a:effectLst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B34F5AD2-EDBD-4BBD-A55C-EAFFD0C7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92634" y="0"/>
            <a:ext cx="6987982" cy="56705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3896A03-3945-419A-B66B-4EE266EDD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" y="0"/>
            <a:ext cx="3096598" cy="567055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8EAE243-3A9F-4A46-B0D9-04C723A8A1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48639" y="532050"/>
            <a:ext cx="378024" cy="3780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PlaceHolder 2"/>
          <p:cNvSpPr>
            <a:spLocks noGrp="1"/>
          </p:cNvSpPr>
          <p:nvPr>
            <p:ph/>
          </p:nvPr>
        </p:nvSpPr>
        <p:spPr>
          <a:xfrm>
            <a:off x="3848639" y="702867"/>
            <a:ext cx="5283913" cy="44045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432000" indent="-228600">
              <a:spcBef>
                <a:spcPts val="1417"/>
              </a:spcBef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2000" b="0" u="none" strike="noStrike">
                <a:effectLst/>
                <a:uFillTx/>
                <a:latin typeface="+mn-lt"/>
                <a:ea typeface="+mn-ea"/>
                <a:cs typeface="+mn-cs"/>
              </a:rPr>
              <a:t>80% of year 1 juveniles are released each year</a:t>
            </a:r>
          </a:p>
          <a:p>
            <a:pPr marL="432000" indent="-228600">
              <a:spcBef>
                <a:spcPts val="1417"/>
              </a:spcBef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2000" b="0" u="none" strike="noStrike">
                <a:effectLst/>
                <a:uFillTx/>
                <a:latin typeface="+mn-lt"/>
                <a:ea typeface="+mn-ea"/>
                <a:cs typeface="+mn-cs"/>
              </a:rPr>
              <a:t>If captive capacity exceeds 150, release all juveniles to the wild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A6F36F-53D3-88F5-E844-6B973B9216C0}"/>
              </a:ext>
            </a:extLst>
          </p:cNvPr>
          <p:cNvSpPr txBox="1"/>
          <p:nvPr/>
        </p:nvSpPr>
        <p:spPr>
          <a:xfrm>
            <a:off x="350642" y="441257"/>
            <a:ext cx="239533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0" u="none" strike="noStrike" kern="1200" dirty="0">
                <a:solidFill>
                  <a:schemeClr val="bg1"/>
                </a:solidFill>
                <a:effectLst/>
                <a:uFillTx/>
                <a:latin typeface="Aptos" panose="020B0004020202020204" pitchFamily="34" charset="0"/>
              </a:rPr>
              <a:t>Assumptions</a:t>
            </a:r>
            <a:endParaRPr lang="en-US" sz="2800" dirty="0"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B34F5AD2-EDBD-4BBD-A55C-EAFFD0C7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92634" y="0"/>
            <a:ext cx="6987982" cy="56705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3896A03-3945-419A-B66B-4EE266EDD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" y="0"/>
            <a:ext cx="3096598" cy="567055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365760" y="527334"/>
            <a:ext cx="2402140" cy="461116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0"/>
            <a:r>
              <a:rPr lang="en-US" sz="2800" b="0" u="none" strike="noStrike" kern="1200" dirty="0">
                <a:solidFill>
                  <a:schemeClr val="bg1"/>
                </a:solidFill>
                <a:effectLst/>
                <a:uFillTx/>
                <a:latin typeface="Aptos" panose="020B0004020202020204" pitchFamily="34" charset="0"/>
              </a:rPr>
              <a:t>Assumptions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8EAE243-3A9F-4A46-B0D9-04C723A8A1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48639" y="532050"/>
            <a:ext cx="378024" cy="3780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3848639" y="702867"/>
            <a:ext cx="5283913" cy="44045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432000" indent="-228600">
              <a:spcBef>
                <a:spcPts val="1417"/>
              </a:spcBef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2000" b="0" u="none" strike="noStrike">
                <a:effectLst/>
                <a:uFillTx/>
                <a:latin typeface="+mn-lt"/>
                <a:ea typeface="+mn-ea"/>
                <a:cs typeface="+mn-cs"/>
              </a:rPr>
              <a:t>Initial conditions used: 2022 captive Condor population</a:t>
            </a:r>
          </a:p>
          <a:p>
            <a:pPr marL="432000" indent="-228600">
              <a:spcBef>
                <a:spcPts val="1417"/>
              </a:spcBef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2000" b="0" u="sng" strike="noStrike">
                <a:effectLst/>
                <a:uFillTx/>
                <a:latin typeface="+mn-lt"/>
                <a:ea typeface="+mn-ea"/>
                <a:cs typeface="+mn-cs"/>
              </a:rPr>
              <a:t>44</a:t>
            </a:r>
            <a:r>
              <a:rPr lang="en-US" sz="2000" b="0" u="none" strike="noStrike">
                <a:effectLst/>
                <a:uFillTx/>
                <a:latin typeface="+mn-lt"/>
                <a:ea typeface="+mn-ea"/>
                <a:cs typeface="+mn-cs"/>
              </a:rPr>
              <a:t> hatchlings</a:t>
            </a:r>
          </a:p>
          <a:p>
            <a:pPr marL="432000" indent="-228600">
              <a:spcBef>
                <a:spcPts val="1417"/>
              </a:spcBef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2000" b="0" u="sng" strike="noStrike">
                <a:effectLst/>
                <a:uFillTx/>
                <a:latin typeface="+mn-lt"/>
                <a:ea typeface="+mn-ea"/>
                <a:cs typeface="+mn-cs"/>
              </a:rPr>
              <a:t>39</a:t>
            </a:r>
            <a:r>
              <a:rPr lang="en-US" sz="2000" b="0" u="none" strike="noStrike">
                <a:effectLst/>
                <a:uFillTx/>
                <a:latin typeface="+mn-lt"/>
                <a:ea typeface="+mn-ea"/>
                <a:cs typeface="+mn-cs"/>
              </a:rPr>
              <a:t> 1y/o</a:t>
            </a:r>
          </a:p>
          <a:p>
            <a:pPr marL="432000" indent="-228600">
              <a:spcBef>
                <a:spcPts val="1417"/>
              </a:spcBef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2000" b="0" u="sng" strike="noStrike">
                <a:effectLst/>
                <a:uFillTx/>
                <a:latin typeface="+mn-lt"/>
                <a:ea typeface="+mn-ea"/>
                <a:cs typeface="+mn-cs"/>
              </a:rPr>
              <a:t>45</a:t>
            </a:r>
            <a:r>
              <a:rPr lang="en-US" sz="2000" b="0" u="none" strike="noStrike">
                <a:effectLst/>
                <a:uFillTx/>
                <a:latin typeface="+mn-lt"/>
                <a:ea typeface="+mn-ea"/>
                <a:cs typeface="+mn-cs"/>
              </a:rPr>
              <a:t> 2-7y/o, distributed evenly</a:t>
            </a:r>
          </a:p>
          <a:p>
            <a:pPr marL="432000" indent="-228600">
              <a:spcBef>
                <a:spcPts val="1417"/>
              </a:spcBef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2000" b="0" u="sng" strike="noStrike">
                <a:effectLst/>
                <a:uFillTx/>
                <a:latin typeface="+mn-lt"/>
                <a:ea typeface="+mn-ea"/>
                <a:cs typeface="+mn-cs"/>
              </a:rPr>
              <a:t>86</a:t>
            </a:r>
            <a:r>
              <a:rPr lang="en-US" sz="2000" b="0" u="none" strike="noStrike">
                <a:effectLst/>
                <a:uFillTx/>
                <a:latin typeface="+mn-lt"/>
                <a:ea typeface="+mn-ea"/>
                <a:cs typeface="+mn-cs"/>
              </a:rPr>
              <a:t> adults</a:t>
            </a:r>
          </a:p>
          <a:p>
            <a:pPr marL="432000" indent="-228600">
              <a:spcBef>
                <a:spcPts val="1417"/>
              </a:spcBef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2000" b="0" u="sng" strike="noStrike">
                <a:effectLst/>
                <a:uFillTx/>
                <a:latin typeface="+mn-lt"/>
                <a:ea typeface="+mn-ea"/>
                <a:cs typeface="+mn-cs"/>
              </a:rPr>
              <a:t>214</a:t>
            </a:r>
            <a:r>
              <a:rPr lang="en-US" sz="2000" b="0" u="none" strike="noStrike">
                <a:effectLst/>
                <a:uFillTx/>
                <a:latin typeface="+mn-lt"/>
                <a:ea typeface="+mn-ea"/>
                <a:cs typeface="+mn-cs"/>
              </a:rPr>
              <a:t> total</a:t>
            </a:r>
          </a:p>
          <a:p>
            <a:pPr marL="432000" indent="-228600">
              <a:spcBef>
                <a:spcPts val="1417"/>
              </a:spcBef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2000" b="0" u="sng" strike="noStrike">
                <a:effectLst/>
                <a:uFillTx/>
                <a:latin typeface="+mn-lt"/>
                <a:ea typeface="+mn-ea"/>
                <a:cs typeface="+mn-cs"/>
              </a:rPr>
              <a:t>0</a:t>
            </a:r>
            <a:r>
              <a:rPr lang="en-US" sz="2000" b="0" u="none" strike="noStrike">
                <a:effectLst/>
                <a:uFillTx/>
                <a:latin typeface="+mn-lt"/>
                <a:ea typeface="+mn-ea"/>
                <a:cs typeface="+mn-cs"/>
              </a:rPr>
              <a:t> wild Condors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B34F5AD2-EDBD-4BBD-A55C-EAFFD0C7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92634" y="0"/>
            <a:ext cx="6987982" cy="56705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3896A03-3945-419A-B66B-4EE266EDD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" y="0"/>
            <a:ext cx="3096598" cy="567055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439059" y="550951"/>
            <a:ext cx="1811389" cy="461116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0"/>
            <a:r>
              <a:rPr lang="en-US" sz="3000" b="0" u="none" strike="noStrike" kern="1200" dirty="0">
                <a:solidFill>
                  <a:schemeClr val="bg1"/>
                </a:solidFill>
                <a:effectLst/>
                <a:uFillTx/>
                <a:latin typeface="Aptos" panose="020B0004020202020204" pitchFamily="34" charset="0"/>
              </a:rPr>
              <a:t>Methods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8EAE243-3A9F-4A46-B0D9-04C723A8A1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48639" y="532050"/>
            <a:ext cx="378024" cy="3780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PlaceHolder 2"/>
          <p:cNvSpPr>
            <a:spLocks noGrp="1"/>
          </p:cNvSpPr>
          <p:nvPr>
            <p:ph/>
          </p:nvPr>
        </p:nvSpPr>
        <p:spPr>
          <a:xfrm>
            <a:off x="3848639" y="702867"/>
            <a:ext cx="5283913" cy="44045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432000" indent="-228600">
              <a:spcBef>
                <a:spcPts val="1417"/>
              </a:spcBef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2000" b="0" u="none" strike="noStrike">
                <a:effectLst/>
                <a:uFillTx/>
                <a:latin typeface="+mn-lt"/>
                <a:ea typeface="+mn-ea"/>
                <a:cs typeface="+mn-cs"/>
              </a:rPr>
              <a:t>Two groups of stock variables: wild and captive</a:t>
            </a:r>
          </a:p>
          <a:p>
            <a:pPr marL="432000" indent="-228600">
              <a:spcBef>
                <a:spcPts val="1417"/>
              </a:spcBef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2000" b="0" u="none" strike="noStrike">
                <a:effectLst/>
                <a:uFillTx/>
                <a:latin typeface="+mn-lt"/>
                <a:ea typeface="+mn-ea"/>
                <a:cs typeface="+mn-cs"/>
              </a:rPr>
              <a:t>Within each group, separate stock variables for each year of pre-adult life</a:t>
            </a:r>
          </a:p>
          <a:p>
            <a:pPr marL="432000" indent="-228600">
              <a:spcBef>
                <a:spcPts val="1417"/>
              </a:spcBef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2000" b="0" u="none" strike="noStrike">
                <a:effectLst/>
                <a:uFillTx/>
                <a:latin typeface="+mn-lt"/>
                <a:ea typeface="+mn-ea"/>
                <a:cs typeface="+mn-cs"/>
              </a:rPr>
              <a:t>Within each group, a stock variable representing all adults</a:t>
            </a:r>
          </a:p>
          <a:p>
            <a:pPr marL="432000" indent="-228600">
              <a:spcBef>
                <a:spcPts val="1417"/>
              </a:spcBef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2000" b="0" u="none" strike="noStrike">
                <a:effectLst/>
                <a:uFillTx/>
                <a:latin typeface="+mn-lt"/>
                <a:ea typeface="+mn-ea"/>
                <a:cs typeface="+mn-cs"/>
              </a:rPr>
              <a:t>Time step of 1 year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E51BA4DF-2BD4-4EC2-B1DB-B27C8AC718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0078104" cy="56705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CCB9D46-F83D-771B-D5E3-E4E203AB41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259" y="786033"/>
            <a:ext cx="8683586" cy="488451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3519FCF-5917-29CA-BAB1-D9E1DCF4CA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666" y="302848"/>
            <a:ext cx="5621190" cy="78499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300" dirty="0">
                <a:latin typeface="Aptos" panose="020B0004020202020204" pitchFamily="34" charset="0"/>
              </a:rPr>
              <a:t>Model Diagram</a:t>
            </a:r>
          </a:p>
        </p:txBody>
      </p:sp>
    </p:spTree>
    <p:extLst>
      <p:ext uri="{BB962C8B-B14F-4D97-AF65-F5344CB8AC3E}">
        <p14:creationId xmlns:p14="http://schemas.microsoft.com/office/powerpoint/2010/main" val="19943959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Rectangle 52">
            <a:extLst>
              <a:ext uri="{FF2B5EF4-FFF2-40B4-BE49-F238E27FC236}">
                <a16:creationId xmlns:a16="http://schemas.microsoft.com/office/drawing/2014/main" id="{B34F5AD2-EDBD-4BBD-A55C-EAFFD0C7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92634" y="0"/>
            <a:ext cx="6987982" cy="56705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C3896A03-3945-419A-B66B-4EE266EDD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" y="0"/>
            <a:ext cx="3096598" cy="567055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956511" y="527334"/>
            <a:ext cx="1811389" cy="461116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0"/>
            <a:r>
              <a:rPr lang="en-US" sz="3000" b="0" u="none" strike="noStrike" kern="1200">
                <a:solidFill>
                  <a:schemeClr val="bg1"/>
                </a:solidFill>
                <a:effectLst/>
                <a:uFillTx/>
                <a:latin typeface="+mj-lt"/>
                <a:ea typeface="+mj-ea"/>
                <a:cs typeface="+mj-cs"/>
              </a:rPr>
              <a:t>Methods</a:t>
            </a:r>
          </a:p>
        </p:txBody>
      </p:sp>
      <p:graphicFrame>
        <p:nvGraphicFramePr>
          <p:cNvPr id="49" name="PlaceHolder 2">
            <a:extLst>
              <a:ext uri="{FF2B5EF4-FFF2-40B4-BE49-F238E27FC236}">
                <a16:creationId xmlns:a16="http://schemas.microsoft.com/office/drawing/2014/main" id="{E519D3E0-E1A6-3E1D-5076-F6E32EC5105A}"/>
              </a:ext>
            </a:extLst>
          </p:cNvPr>
          <p:cNvGraphicFramePr>
            <a:graphicFrameLocks noGrp="1"/>
          </p:cNvGraphicFramePr>
          <p:nvPr>
            <p:ph/>
            <p:extLst>
              <p:ext uri="{D42A27DB-BD31-4B8C-83A1-F6EECF244321}">
                <p14:modId xmlns:p14="http://schemas.microsoft.com/office/powerpoint/2010/main" val="3621938641"/>
              </p:ext>
            </p:extLst>
          </p:nvPr>
        </p:nvGraphicFramePr>
        <p:xfrm>
          <a:off x="3843793" y="527334"/>
          <a:ext cx="5288759" cy="46111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Simulation Results</a:t>
            </a:r>
          </a:p>
        </p:txBody>
      </p:sp>
      <p:sp>
        <p:nvSpPr>
          <p:cNvPr id="42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46780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</a:t>
            </a:r>
            <a:r>
              <a:rPr lang="en-US" sz="2000" b="0" u="none" strike="noStrike" baseline="-8000">
                <a:solidFill>
                  <a:srgbClr val="000000"/>
                </a:solidFill>
                <a:effectLst/>
                <a:uFillTx/>
                <a:latin typeface="Arial"/>
              </a:rPr>
              <a:t>y1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= 8.6%</a:t>
            </a: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</a:t>
            </a:r>
            <a:r>
              <a:rPr lang="en-US" sz="2000" b="0" u="none" strike="noStrike" baseline="-8000">
                <a:solidFill>
                  <a:srgbClr val="000000"/>
                </a:solidFill>
                <a:effectLst/>
                <a:uFillTx/>
                <a:latin typeface="Arial"/>
              </a:rPr>
              <a:t>i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= 8.6%</a:t>
            </a: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</a:t>
            </a:r>
            <a:r>
              <a:rPr lang="en-US" sz="2000" b="0" u="none" strike="noStrike" baseline="-8000">
                <a:solidFill>
                  <a:srgbClr val="000000"/>
                </a:solidFill>
                <a:effectLst/>
                <a:uFillTx/>
                <a:latin typeface="Arial"/>
              </a:rPr>
              <a:t>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= 8.6%</a:t>
            </a: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Total population more than </a:t>
            </a:r>
            <a:r>
              <a:rPr lang="en-US" sz="2000" b="0" u="sng" strike="noStrike">
                <a:solidFill>
                  <a:srgbClr val="000000"/>
                </a:solidFill>
                <a:effectLst/>
                <a:uFillTx/>
                <a:latin typeface="Arial"/>
              </a:rPr>
              <a:t>triples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by year 50</a:t>
            </a: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Note initial release of juveniles due to captive capacity cap</a:t>
            </a:r>
          </a:p>
        </p:txBody>
      </p:sp>
      <p:pic>
        <p:nvPicPr>
          <p:cNvPr id="43" name="Picture 42"/>
          <p:cNvPicPr/>
          <p:nvPr/>
        </p:nvPicPr>
        <p:blipFill>
          <a:blip r:embed="rId2"/>
          <a:stretch/>
        </p:blipFill>
        <p:spPr>
          <a:xfrm>
            <a:off x="3200400" y="1207800"/>
            <a:ext cx="6606000" cy="430200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Simulation Results</a:t>
            </a:r>
          </a:p>
        </p:txBody>
      </p:sp>
      <p:sp>
        <p:nvSpPr>
          <p:cNvPr id="4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46780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</a:t>
            </a:r>
            <a:r>
              <a:rPr lang="en-US" sz="2000" b="0" u="none" strike="noStrike" baseline="-8000">
                <a:solidFill>
                  <a:srgbClr val="000000"/>
                </a:solidFill>
                <a:effectLst/>
                <a:uFillTx/>
                <a:latin typeface="Arial"/>
              </a:rPr>
              <a:t>y1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= 13.8%</a:t>
            </a: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</a:t>
            </a:r>
            <a:r>
              <a:rPr lang="en-US" sz="2000" b="0" u="none" strike="noStrike" baseline="-8000">
                <a:solidFill>
                  <a:srgbClr val="000000"/>
                </a:solidFill>
                <a:effectLst/>
                <a:uFillTx/>
                <a:latin typeface="Arial"/>
              </a:rPr>
              <a:t>i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= 13.8%</a:t>
            </a: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</a:t>
            </a:r>
            <a:r>
              <a:rPr lang="en-US" sz="2000" b="0" u="none" strike="noStrike" baseline="-8000">
                <a:solidFill>
                  <a:srgbClr val="000000"/>
                </a:solidFill>
                <a:effectLst/>
                <a:uFillTx/>
                <a:latin typeface="Arial"/>
              </a:rPr>
              <a:t>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= 6.9%</a:t>
            </a: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Total population more than </a:t>
            </a:r>
            <a:r>
              <a:rPr lang="en-US" sz="2000" b="0" u="sng" strike="noStrike">
                <a:solidFill>
                  <a:srgbClr val="000000"/>
                </a:solidFill>
                <a:effectLst/>
                <a:uFillTx/>
                <a:latin typeface="Arial"/>
              </a:rPr>
              <a:t>triples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by year 50</a:t>
            </a: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Note initial release of juveniles due to captive capacity cap</a:t>
            </a:r>
          </a:p>
        </p:txBody>
      </p:sp>
      <p:pic>
        <p:nvPicPr>
          <p:cNvPr id="46" name="Picture 45"/>
          <p:cNvPicPr/>
          <p:nvPr/>
        </p:nvPicPr>
        <p:blipFill>
          <a:blip r:embed="rId2"/>
          <a:stretch/>
        </p:blipFill>
        <p:spPr>
          <a:xfrm>
            <a:off x="3200400" y="1191600"/>
            <a:ext cx="6623280" cy="431316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Simulation Results</a:t>
            </a:r>
          </a:p>
        </p:txBody>
      </p:sp>
      <p:sp>
        <p:nvSpPr>
          <p:cNvPr id="4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46780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lnSpcReduction="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</a:t>
            </a:r>
            <a:r>
              <a:rPr lang="en-US" sz="2000" b="0" u="none" strike="noStrike" baseline="-8000">
                <a:solidFill>
                  <a:srgbClr val="000000"/>
                </a:solidFill>
                <a:effectLst/>
                <a:uFillTx/>
                <a:latin typeface="Arial"/>
              </a:rPr>
              <a:t>y1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= 65.9%</a:t>
            </a: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</a:t>
            </a:r>
            <a:r>
              <a:rPr lang="en-US" sz="2000" b="0" u="none" strike="noStrike" baseline="-8000">
                <a:solidFill>
                  <a:srgbClr val="000000"/>
                </a:solidFill>
                <a:effectLst/>
                <a:uFillTx/>
                <a:latin typeface="Arial"/>
              </a:rPr>
              <a:t>i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= 8.6%</a:t>
            </a: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</a:t>
            </a:r>
            <a:r>
              <a:rPr lang="en-US" sz="2000" b="0" u="none" strike="noStrike" baseline="-8000">
                <a:solidFill>
                  <a:srgbClr val="000000"/>
                </a:solidFill>
                <a:effectLst/>
                <a:uFillTx/>
                <a:latin typeface="Arial"/>
              </a:rPr>
              <a:t>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= 8.6%</a:t>
            </a: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Total population has declined by year 50</a:t>
            </a: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Birth rates are unable to keep up with early mortality</a:t>
            </a:r>
          </a:p>
        </p:txBody>
      </p:sp>
      <p:pic>
        <p:nvPicPr>
          <p:cNvPr id="49" name="Picture 48"/>
          <p:cNvPicPr/>
          <p:nvPr/>
        </p:nvPicPr>
        <p:blipFill>
          <a:blip r:embed="rId2"/>
          <a:stretch/>
        </p:blipFill>
        <p:spPr>
          <a:xfrm>
            <a:off x="3049200" y="1162080"/>
            <a:ext cx="6834600" cy="445068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Simulation Results</a:t>
            </a: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46780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</a:t>
            </a:r>
            <a:r>
              <a:rPr lang="en-US" sz="2000" b="0" u="none" strike="noStrike" baseline="-8000">
                <a:solidFill>
                  <a:srgbClr val="000000"/>
                </a:solidFill>
                <a:effectLst/>
                <a:uFillTx/>
                <a:latin typeface="Arial"/>
              </a:rPr>
              <a:t>y1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= 65.9%</a:t>
            </a: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</a:t>
            </a:r>
            <a:r>
              <a:rPr lang="en-US" sz="2000" b="0" u="none" strike="noStrike" baseline="-8000">
                <a:solidFill>
                  <a:srgbClr val="000000"/>
                </a:solidFill>
                <a:effectLst/>
                <a:uFillTx/>
                <a:latin typeface="Arial"/>
              </a:rPr>
              <a:t>i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= 13.8%</a:t>
            </a: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</a:t>
            </a:r>
            <a:r>
              <a:rPr lang="en-US" sz="2000" b="0" u="none" strike="noStrike" baseline="-8000">
                <a:solidFill>
                  <a:srgbClr val="000000"/>
                </a:solidFill>
                <a:effectLst/>
                <a:uFillTx/>
                <a:latin typeface="Arial"/>
              </a:rPr>
              <a:t>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= 6.9%</a:t>
            </a: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Similar results to previous simulation</a:t>
            </a: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Decreased adult death rate makes up for increased juvenile death rate</a:t>
            </a:r>
          </a:p>
        </p:txBody>
      </p:sp>
      <p:pic>
        <p:nvPicPr>
          <p:cNvPr id="52" name="Picture 51"/>
          <p:cNvPicPr/>
          <p:nvPr/>
        </p:nvPicPr>
        <p:blipFill>
          <a:blip r:embed="rId2"/>
          <a:stretch/>
        </p:blipFill>
        <p:spPr>
          <a:xfrm>
            <a:off x="3260520" y="1162080"/>
            <a:ext cx="6623280" cy="431316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Simulation Results</a:t>
            </a:r>
          </a:p>
        </p:txBody>
      </p:sp>
      <p:sp>
        <p:nvSpPr>
          <p:cNvPr id="54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46780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</a:t>
            </a:r>
            <a:r>
              <a:rPr lang="en-US" sz="2000" b="0" u="none" strike="noStrike" baseline="-8000">
                <a:solidFill>
                  <a:srgbClr val="000000"/>
                </a:solidFill>
                <a:effectLst/>
                <a:uFillTx/>
                <a:latin typeface="Arial"/>
              </a:rPr>
              <a:t>y1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= 65.9%</a:t>
            </a: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</a:t>
            </a:r>
            <a:r>
              <a:rPr lang="en-US" sz="2000" b="0" u="none" strike="noStrike" baseline="-8000">
                <a:solidFill>
                  <a:srgbClr val="000000"/>
                </a:solidFill>
                <a:effectLst/>
                <a:uFillTx/>
                <a:latin typeface="Arial"/>
              </a:rPr>
              <a:t>i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= 9.9%</a:t>
            </a: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</a:t>
            </a:r>
            <a:r>
              <a:rPr lang="en-US" sz="2000" b="0" u="none" strike="noStrike" baseline="-8000">
                <a:solidFill>
                  <a:srgbClr val="000000"/>
                </a:solidFill>
                <a:effectLst/>
                <a:uFillTx/>
                <a:latin typeface="Arial"/>
              </a:rPr>
              <a:t>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= 9.9%</a:t>
            </a: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Total population has declined by year 32</a:t>
            </a: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Increased mortality rate nearly halves total population by year 50</a:t>
            </a:r>
          </a:p>
        </p:txBody>
      </p:sp>
      <p:pic>
        <p:nvPicPr>
          <p:cNvPr id="55" name="Picture 54"/>
          <p:cNvPicPr/>
          <p:nvPr/>
        </p:nvPicPr>
        <p:blipFill>
          <a:blip r:embed="rId2"/>
          <a:stretch/>
        </p:blipFill>
        <p:spPr>
          <a:xfrm>
            <a:off x="3162600" y="1162080"/>
            <a:ext cx="6640560" cy="4324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Simulation Results</a:t>
            </a:r>
          </a:p>
        </p:txBody>
      </p:sp>
      <p:sp>
        <p:nvSpPr>
          <p:cNvPr id="5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46780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</a:t>
            </a:r>
            <a:r>
              <a:rPr lang="en-US" sz="2000" b="0" u="none" strike="noStrike" baseline="-8000">
                <a:solidFill>
                  <a:srgbClr val="000000"/>
                </a:solidFill>
                <a:effectLst/>
                <a:uFillTx/>
                <a:latin typeface="Arial"/>
              </a:rPr>
              <a:t>y1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= 65.9%</a:t>
            </a: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</a:t>
            </a:r>
            <a:r>
              <a:rPr lang="en-US" sz="2000" b="0" u="none" strike="noStrike" baseline="-8000">
                <a:solidFill>
                  <a:srgbClr val="000000"/>
                </a:solidFill>
                <a:effectLst/>
                <a:uFillTx/>
                <a:latin typeface="Arial"/>
              </a:rPr>
              <a:t>i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= 13.8%</a:t>
            </a: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</a:t>
            </a:r>
            <a:r>
              <a:rPr lang="en-US" sz="2000" b="0" u="none" strike="noStrike" baseline="-8000">
                <a:solidFill>
                  <a:srgbClr val="000000"/>
                </a:solidFill>
                <a:effectLst/>
                <a:uFillTx/>
                <a:latin typeface="Arial"/>
              </a:rPr>
              <a:t>a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= 6.9%</a:t>
            </a: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Captive program ends after 5 years</a:t>
            </a: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Decreased adult death rate makes up for increased juvenile death rate</a:t>
            </a:r>
          </a:p>
        </p:txBody>
      </p:sp>
      <p:pic>
        <p:nvPicPr>
          <p:cNvPr id="58" name="Picture 57"/>
          <p:cNvPicPr/>
          <p:nvPr/>
        </p:nvPicPr>
        <p:blipFill>
          <a:blip r:embed="rId2"/>
          <a:stretch/>
        </p:blipFill>
        <p:spPr>
          <a:xfrm>
            <a:off x="3260520" y="1162080"/>
            <a:ext cx="6623280" cy="431316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46</TotalTime>
  <Words>532</Words>
  <Application>Microsoft Macintosh PowerPoint</Application>
  <PresentationFormat>Custom</PresentationFormat>
  <Paragraphs>82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Aptos</vt:lpstr>
      <vt:lpstr>Arial</vt:lpstr>
      <vt:lpstr>Symbol</vt:lpstr>
      <vt:lpstr>Times New Roman</vt:lpstr>
      <vt:lpstr>Wingdings</vt:lpstr>
      <vt:lpstr>Office</vt:lpstr>
      <vt:lpstr>Condor Populations</vt:lpstr>
      <vt:lpstr>The California Condor</vt:lpstr>
      <vt:lpstr>Condor Conservation Effort</vt:lpstr>
      <vt:lpstr>The Project: Mortality Rates</vt:lpstr>
      <vt:lpstr>Assumptions</vt:lpstr>
      <vt:lpstr>PowerPoint Presentation</vt:lpstr>
      <vt:lpstr>Assumptions</vt:lpstr>
      <vt:lpstr>Methods</vt:lpstr>
      <vt:lpstr>Model Diagram</vt:lpstr>
      <vt:lpstr>Methods</vt:lpstr>
      <vt:lpstr>Simulation Results</vt:lpstr>
      <vt:lpstr>Simulation Results</vt:lpstr>
      <vt:lpstr>Simulation Results</vt:lpstr>
      <vt:lpstr>Simulation Results</vt:lpstr>
      <vt:lpstr>Simulation Results</vt:lpstr>
      <vt:lpstr>Simulation Results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dc:description/>
  <cp:lastModifiedBy>Mary Pittman</cp:lastModifiedBy>
  <cp:revision>7</cp:revision>
  <dcterms:created xsi:type="dcterms:W3CDTF">2026-09-12T13:06:47Z</dcterms:created>
  <dcterms:modified xsi:type="dcterms:W3CDTF">2026-09-18T02:17:51Z</dcterms:modified>
  <dc:language>en-US</dc:language>
</cp:coreProperties>
</file>